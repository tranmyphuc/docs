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6" r:id="rId4"/>
    <p:sldMasterId id="2147483648" r:id="rId5"/>
  </p:sldMasterIdLst>
  <p:notesMasterIdLst>
    <p:notesMasterId r:id="rId20"/>
  </p:notesMasterIdLst>
  <p:sldIdLst>
    <p:sldId id="420" r:id="rId25"/>
    <p:sldId id="435" r:id="rId19"/>
    <p:sldId id="436" r:id="rId18"/>
    <p:sldId id="437" r:id="rId17"/>
    <p:sldId id="438" r:id="rId16"/>
    <p:sldId id="439" r:id="rId15"/>
    <p:sldId id="440" r:id="rId14"/>
    <p:sldId id="441" r:id="rId13"/>
    <p:sldId id="442" r:id="rId12"/>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3F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entury Gothic"/>
          <a:ea typeface="Century Gothic"/>
          <a:cs typeface="Century Gothic"/>
        </a:font>
        <a:srgbClr val="1D1E2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CBE8DD"/>
          </a:solidFill>
        </a:fill>
      </a:tcStyle>
    </a:wholeTbl>
    <a:band2H>
      <a:tcTxStyle/>
      <a:tcStyle>
        <a:tcBdr/>
        <a:fill>
          <a:solidFill>
            <a:srgbClr val="E7F4EF"/>
          </a:solidFill>
        </a:fill>
      </a:tcStyle>
    </a:band2H>
    <a:firstCol>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firstCol>
    <a:la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381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lastRow>
    <a:fir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381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firstRow>
  </a:tblStyle>
  <a:tblStyle styleId="{C7B018BB-80A7-4F77-B60F-C8B233D01FF8}" styleName="">
    <a:tblBg/>
    <a:wholeTbl>
      <a:tcTxStyle b="off" i="off">
        <a:font>
          <a:latin typeface="Century Gothic"/>
          <a:ea typeface="Century Gothic"/>
          <a:cs typeface="Century Gothic"/>
        </a:font>
        <a:srgbClr val="1D1E2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CBE8DD"/>
          </a:solidFill>
        </a:fill>
      </a:tcStyle>
    </a:wholeTbl>
    <a:band2H>
      <a:tcTxStyle/>
      <a:tcStyle>
        <a:tcBdr/>
        <a:fill>
          <a:solidFill>
            <a:srgbClr val="E7F4EF"/>
          </a:solidFill>
        </a:fill>
      </a:tcStyle>
    </a:band2H>
    <a:firstCol>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firstCol>
    <a:la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381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lastRow>
    <a:fir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381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firstRow>
  </a:tblStyle>
  <a:tblStyle styleId="{EEE7283C-3CF3-47DC-8721-378D4A62B228}" styleName="">
    <a:tblBg/>
    <a:wholeTbl>
      <a:tcTxStyle b="off" i="off">
        <a:font>
          <a:latin typeface="Century Gothic"/>
          <a:ea typeface="Century Gothic"/>
          <a:cs typeface="Century Gothic"/>
        </a:font>
        <a:srgbClr val="1D1E2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CBE8DD"/>
          </a:solidFill>
        </a:fill>
      </a:tcStyle>
    </a:wholeTbl>
    <a:band2H>
      <a:tcTxStyle/>
      <a:tcStyle>
        <a:tcBdr/>
        <a:fill>
          <a:solidFill>
            <a:srgbClr val="E7F4EF"/>
          </a:solidFill>
        </a:fill>
      </a:tcStyle>
    </a:band2H>
    <a:firstCol>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firstCol>
    <a:la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381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lastRow>
    <a:fir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381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firstRow>
  </a:tblStyle>
  <a:tblStyle styleId="{CF821DB8-F4EB-4A41-A1BA-3FCAFE7338EE}" styleName="">
    <a:tblBg/>
    <a:wholeTbl>
      <a:tcTxStyle b="off" i="off">
        <a:font>
          <a:latin typeface="Century Gothic"/>
          <a:ea typeface="Century Gothic"/>
          <a:cs typeface="Century Gothic"/>
        </a:font>
        <a:srgbClr val="1D1E2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a:tcStyle>
        <a:tcBdr/>
        <a:fill>
          <a:solidFill>
            <a:srgbClr val="F3F3F3"/>
          </a:solidFill>
        </a:fill>
      </a:tcStyle>
    </a:band2H>
    <a:firstCol>
      <a:tcTxStyle b="on" i="off">
        <a:font>
          <a:latin typeface="Century Gothic"/>
          <a:ea typeface="Century Gothic"/>
          <a:cs typeface="Century Gothic"/>
        </a:font>
        <a:srgbClr val="F3F3F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entury Gothic"/>
          <a:ea typeface="Century Gothic"/>
          <a:cs typeface="Century Gothic"/>
        </a:font>
        <a:srgbClr val="1D1E23"/>
      </a:tcTxStyle>
      <a:tcStyle>
        <a:tcBdr>
          <a:left>
            <a:ln w="12700" cap="flat">
              <a:noFill/>
              <a:miter lim="400000"/>
            </a:ln>
          </a:left>
          <a:right>
            <a:ln w="12700" cap="flat">
              <a:noFill/>
              <a:miter lim="400000"/>
            </a:ln>
          </a:right>
          <a:top>
            <a:ln w="50800" cap="flat">
              <a:solidFill>
                <a:srgbClr val="1D1E23"/>
              </a:solidFill>
              <a:prstDash val="solid"/>
              <a:round/>
            </a:ln>
          </a:top>
          <a:bottom>
            <a:ln w="25400" cap="flat">
              <a:solidFill>
                <a:srgbClr val="1D1E23"/>
              </a:solidFill>
              <a:prstDash val="solid"/>
              <a:round/>
            </a:ln>
          </a:bottom>
          <a:insideH>
            <a:ln w="12700" cap="flat">
              <a:noFill/>
              <a:miter lim="400000"/>
            </a:ln>
          </a:insideH>
          <a:insideV>
            <a:ln w="12700" cap="flat">
              <a:noFill/>
              <a:miter lim="400000"/>
            </a:ln>
          </a:insideV>
        </a:tcBdr>
        <a:fill>
          <a:solidFill>
            <a:srgbClr val="F3F3F3"/>
          </a:solidFill>
        </a:fill>
      </a:tcStyle>
    </a:lastRow>
    <a:firstRow>
      <a:tcTxStyle b="on" i="off">
        <a:font>
          <a:latin typeface="Century Gothic"/>
          <a:ea typeface="Century Gothic"/>
          <a:cs typeface="Century Gothic"/>
        </a:font>
        <a:srgbClr val="F3F3F3"/>
      </a:tcTxStyle>
      <a:tcStyle>
        <a:tcBdr>
          <a:left>
            <a:ln w="12700" cap="flat">
              <a:noFill/>
              <a:miter lim="400000"/>
            </a:ln>
          </a:left>
          <a:right>
            <a:ln w="12700" cap="flat">
              <a:noFill/>
              <a:miter lim="400000"/>
            </a:ln>
          </a:right>
          <a:top>
            <a:ln w="25400" cap="flat">
              <a:solidFill>
                <a:srgbClr val="1D1E23"/>
              </a:solidFill>
              <a:prstDash val="solid"/>
              <a:round/>
            </a:ln>
          </a:top>
          <a:bottom>
            <a:ln w="25400" cap="flat">
              <a:solidFill>
                <a:srgbClr val="1D1E23"/>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entury Gothic"/>
          <a:ea typeface="Century Gothic"/>
          <a:cs typeface="Century Gothic"/>
        </a:font>
        <a:srgbClr val="1D1E2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CBCBCB"/>
          </a:solidFill>
        </a:fill>
      </a:tcStyle>
    </a:wholeTbl>
    <a:band2H>
      <a:tcTxStyle/>
      <a:tcStyle>
        <a:tcBdr/>
        <a:fill>
          <a:solidFill>
            <a:srgbClr val="E7E7E7"/>
          </a:solidFill>
        </a:fill>
      </a:tcStyle>
    </a:band2H>
    <a:firstCol>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1D1E23"/>
          </a:solidFill>
        </a:fill>
      </a:tcStyle>
    </a:firstCol>
    <a:la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381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1D1E23"/>
          </a:solidFill>
        </a:fill>
      </a:tcStyle>
    </a:lastRow>
    <a:fir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381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1D1E23"/>
          </a:solidFill>
        </a:fill>
      </a:tcStyle>
    </a:firstRow>
  </a:tblStyle>
  <a:tblStyle styleId="{2708684C-4D16-4618-839F-0558EEFCDFE6}" styleName="">
    <a:tblBg/>
    <a:wholeTbl>
      <a:tcTxStyle b="off" i="off">
        <a:font>
          <a:latin typeface="Century Gothic"/>
          <a:ea typeface="Century Gothic"/>
          <a:cs typeface="Century Gothic"/>
        </a:font>
        <a:srgbClr val="1D1E23"/>
      </a:tcTxStyle>
      <a:tcStyle>
        <a:tcBdr>
          <a:left>
            <a:ln w="12700" cap="flat">
              <a:solidFill>
                <a:srgbClr val="1D1E23"/>
              </a:solidFill>
              <a:prstDash val="solid"/>
              <a:round/>
            </a:ln>
          </a:left>
          <a:right>
            <a:ln w="12700" cap="flat">
              <a:solidFill>
                <a:srgbClr val="1D1E23"/>
              </a:solidFill>
              <a:prstDash val="solid"/>
              <a:round/>
            </a:ln>
          </a:right>
          <a:top>
            <a:ln w="12700" cap="flat">
              <a:solidFill>
                <a:srgbClr val="1D1E23"/>
              </a:solidFill>
              <a:prstDash val="solid"/>
              <a:round/>
            </a:ln>
          </a:top>
          <a:bottom>
            <a:ln w="12700" cap="flat">
              <a:solidFill>
                <a:srgbClr val="1D1E23"/>
              </a:solidFill>
              <a:prstDash val="solid"/>
              <a:round/>
            </a:ln>
          </a:bottom>
          <a:insideH>
            <a:ln w="12700" cap="flat">
              <a:solidFill>
                <a:srgbClr val="1D1E23"/>
              </a:solidFill>
              <a:prstDash val="solid"/>
              <a:round/>
            </a:ln>
          </a:insideH>
          <a:insideV>
            <a:ln w="12700" cap="flat">
              <a:solidFill>
                <a:srgbClr val="1D1E23"/>
              </a:solidFill>
              <a:prstDash val="solid"/>
              <a:round/>
            </a:ln>
          </a:insideV>
        </a:tcBdr>
        <a:fill>
          <a:solidFill>
            <a:srgbClr val="1D1E23">
              <a:alpha val="20000"/>
            </a:srgbClr>
          </a:solidFill>
        </a:fill>
      </a:tcStyle>
    </a:wholeTbl>
    <a:band2H>
      <a:tcTxStyle/>
      <a:tcStyle>
        <a:tcBdr/>
        <a:fill>
          <a:solidFill>
            <a:srgbClr val="FFFFFF"/>
          </a:solidFill>
        </a:fill>
      </a:tcStyle>
    </a:band2H>
    <a:firstCol>
      <a:tcTxStyle b="on" i="off">
        <a:font>
          <a:latin typeface="Century Gothic"/>
          <a:ea typeface="Century Gothic"/>
          <a:cs typeface="Century Gothic"/>
        </a:font>
        <a:srgbClr val="1D1E23"/>
      </a:tcTxStyle>
      <a:tcStyle>
        <a:tcBdr>
          <a:left>
            <a:ln w="12700" cap="flat">
              <a:solidFill>
                <a:srgbClr val="1D1E23"/>
              </a:solidFill>
              <a:prstDash val="solid"/>
              <a:round/>
            </a:ln>
          </a:left>
          <a:right>
            <a:ln w="12700" cap="flat">
              <a:solidFill>
                <a:srgbClr val="1D1E23"/>
              </a:solidFill>
              <a:prstDash val="solid"/>
              <a:round/>
            </a:ln>
          </a:right>
          <a:top>
            <a:ln w="12700" cap="flat">
              <a:solidFill>
                <a:srgbClr val="1D1E23"/>
              </a:solidFill>
              <a:prstDash val="solid"/>
              <a:round/>
            </a:ln>
          </a:top>
          <a:bottom>
            <a:ln w="12700" cap="flat">
              <a:solidFill>
                <a:srgbClr val="1D1E23"/>
              </a:solidFill>
              <a:prstDash val="solid"/>
              <a:round/>
            </a:ln>
          </a:bottom>
          <a:insideH>
            <a:ln w="12700" cap="flat">
              <a:solidFill>
                <a:srgbClr val="1D1E23"/>
              </a:solidFill>
              <a:prstDash val="solid"/>
              <a:round/>
            </a:ln>
          </a:insideH>
          <a:insideV>
            <a:ln w="12700" cap="flat">
              <a:solidFill>
                <a:srgbClr val="1D1E23"/>
              </a:solidFill>
              <a:prstDash val="solid"/>
              <a:round/>
            </a:ln>
          </a:insideV>
        </a:tcBdr>
        <a:fill>
          <a:solidFill>
            <a:srgbClr val="1D1E23">
              <a:alpha val="20000"/>
            </a:srgbClr>
          </a:solidFill>
        </a:fill>
      </a:tcStyle>
    </a:firstCol>
    <a:lastRow>
      <a:tcTxStyle b="on" i="off">
        <a:font>
          <a:latin typeface="Century Gothic"/>
          <a:ea typeface="Century Gothic"/>
          <a:cs typeface="Century Gothic"/>
        </a:font>
        <a:srgbClr val="1D1E23"/>
      </a:tcTxStyle>
      <a:tcStyle>
        <a:tcBdr>
          <a:left>
            <a:ln w="12700" cap="flat">
              <a:solidFill>
                <a:srgbClr val="1D1E23"/>
              </a:solidFill>
              <a:prstDash val="solid"/>
              <a:round/>
            </a:ln>
          </a:left>
          <a:right>
            <a:ln w="12700" cap="flat">
              <a:solidFill>
                <a:srgbClr val="1D1E23"/>
              </a:solidFill>
              <a:prstDash val="solid"/>
              <a:round/>
            </a:ln>
          </a:right>
          <a:top>
            <a:ln w="50800" cap="flat">
              <a:solidFill>
                <a:srgbClr val="1D1E23"/>
              </a:solidFill>
              <a:prstDash val="solid"/>
              <a:round/>
            </a:ln>
          </a:top>
          <a:bottom>
            <a:ln w="12700" cap="flat">
              <a:solidFill>
                <a:srgbClr val="1D1E23"/>
              </a:solidFill>
              <a:prstDash val="solid"/>
              <a:round/>
            </a:ln>
          </a:bottom>
          <a:insideH>
            <a:ln w="12700" cap="flat">
              <a:solidFill>
                <a:srgbClr val="1D1E23"/>
              </a:solidFill>
              <a:prstDash val="solid"/>
              <a:round/>
            </a:ln>
          </a:insideH>
          <a:insideV>
            <a:ln w="12700" cap="flat">
              <a:solidFill>
                <a:srgbClr val="1D1E23"/>
              </a:solidFill>
              <a:prstDash val="solid"/>
              <a:round/>
            </a:ln>
          </a:insideV>
        </a:tcBdr>
        <a:fill>
          <a:noFill/>
        </a:fill>
      </a:tcStyle>
    </a:lastRow>
    <a:firstRow>
      <a:tcTxStyle b="on" i="off">
        <a:font>
          <a:latin typeface="Century Gothic"/>
          <a:ea typeface="Century Gothic"/>
          <a:cs typeface="Century Gothic"/>
        </a:font>
        <a:srgbClr val="1D1E23"/>
      </a:tcTxStyle>
      <a:tcStyle>
        <a:tcBdr>
          <a:left>
            <a:ln w="12700" cap="flat">
              <a:solidFill>
                <a:srgbClr val="1D1E23"/>
              </a:solidFill>
              <a:prstDash val="solid"/>
              <a:round/>
            </a:ln>
          </a:left>
          <a:right>
            <a:ln w="12700" cap="flat">
              <a:solidFill>
                <a:srgbClr val="1D1E23"/>
              </a:solidFill>
              <a:prstDash val="solid"/>
              <a:round/>
            </a:ln>
          </a:right>
          <a:top>
            <a:ln w="12700" cap="flat">
              <a:solidFill>
                <a:srgbClr val="1D1E23"/>
              </a:solidFill>
              <a:prstDash val="solid"/>
              <a:round/>
            </a:ln>
          </a:top>
          <a:bottom>
            <a:ln w="25400" cap="flat">
              <a:solidFill>
                <a:srgbClr val="1D1E23"/>
              </a:solidFill>
              <a:prstDash val="solid"/>
              <a:round/>
            </a:ln>
          </a:bottom>
          <a:insideH>
            <a:ln w="12700" cap="flat">
              <a:solidFill>
                <a:srgbClr val="1D1E23"/>
              </a:solidFill>
              <a:prstDash val="solid"/>
              <a:round/>
            </a:ln>
          </a:insideH>
          <a:insideV>
            <a:ln w="12700" cap="flat">
              <a:solidFill>
                <a:srgbClr val="1D1E23"/>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27" autoAdjust="0"/>
    <p:restoredTop sz="94660"/>
  </p:normalViewPr>
  <p:slideViewPr>
    <p:cSldViewPr snapToGrid="0">
      <p:cViewPr varScale="1">
        <p:scale>
          <a:sx n="185" d="100"/>
          <a:sy n="185" d="100"/>
        </p:scale>
        <p:origin x="144"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12" Type="http://schemas.openxmlformats.org/officeDocument/2006/relationships/slide" Target="slides/slide23.xml"/><Relationship Id="rId13" Type="http://schemas.openxmlformats.org/officeDocument/2006/relationships/slide" Target="slides/slide22.xml"/><Relationship Id="rId14" Type="http://schemas.openxmlformats.org/officeDocument/2006/relationships/slide" Target="slides/slide21.xml"/><Relationship Id="rId15" Type="http://schemas.openxmlformats.org/officeDocument/2006/relationships/slide" Target="slides/slide20.xml"/><Relationship Id="rId16" Type="http://schemas.openxmlformats.org/officeDocument/2006/relationships/slide" Target="slides/slide19.xml"/><Relationship Id="rId17" Type="http://schemas.openxmlformats.org/officeDocument/2006/relationships/slide" Target="slides/slide18.xml"/><Relationship Id="rId18" Type="http://schemas.openxmlformats.org/officeDocument/2006/relationships/slide" Target="slides/slide17.xml"/><Relationship Id="rId19" Type="http://schemas.openxmlformats.org/officeDocument/2006/relationships/slide" Target="slides/slide16.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7" name="Shape 147"/>
          <p:cNvSpPr>
            <a:spLocks noGrp="1" noRot="1" noChangeAspect="1"/>
          </p:cNvSpPr>
          <p:nvPr>
            <p:ph type="sldImg"/>
          </p:nvPr>
        </p:nvSpPr>
        <p:spPr>
          <a:xfrm>
            <a:off x="1143000" y="685800"/>
            <a:ext cx="4572000" cy="3429000"/>
          </a:xfrm>
          <a:prstGeom prst="rect">
            <a:avLst/>
          </a:prstGeom>
        </p:spPr>
        <p:txBody>
          <a:bodyPr/>
          <a:lstStyle/>
          <a:p>
            <a:endParaRPr/>
          </a:p>
        </p:txBody>
      </p:sp>
      <p:sp>
        <p:nvSpPr>
          <p:cNvPr id="148" name="Shape 14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Open warmly: thank Jackson for the introduction to Jane. Purpose of the hour: understand how SGS Business Assurance works with partners and test whether SGH Asia readiness work and SGS independent certification can serve the same clients. Keep it an exploration, not a sales pitch.</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Open with the answer. Demand: three new Vietnamese rules (e-invoicing, personal data, cybersecurity) are pushing firms towards ISO 27001, privacy and AI governance programmes. Fit: SGH Asia prepares and implements; SGS certifies independently, so the two roles do not overlap. Ask: agree one pilot and one named contact on each side. This follows Pavel's note from 17 Aug about overlapping support between SGS Business Assurance and SGH Asia infrastructure and security.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Three Vietnamese measures in 13 months. E-invoicing: Decree 70/2025/ND-CP and Circular 32/2025/TT-BTC, effective 01 Jun 2025; consumer-facing businesses connect point-of-sale systems to the tax authority. Personal data: Law 91/2025/QH15, effective 01 Jan 2026, with Decree 356/2025/ND-CP as implementing guidance; data subject rights, mandatory DPO, impact assessments, fines and criminal penalties. Cybersecurity: Law 116/2025/QH15, effective 01 Jul 2026; covered online-service providers store personal and user data in Vietnam. Sources: Thomson Reuters regulatory updates, KPMG Circular 32/2025 note, Vietnam Briefing, CMS, Conventus Law. Dates come from public summaries and are to be confirmed against the official texts before printing; do not quote penalties.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Facts here come from our own correspondence and service list; add client names, case studies and numbers before the meeting. SGH Asia Ltd is an SGH Group company covering Europe and Asia-Pacific, based in Ho Chi Minh City. Our email footer declares ISO 27001:2022 and GDPR compliance; this is a self-declaration, not an independent certificate, so say it that way. Pavel is General Manager and Co-Chair of the EuroCham Vietnam Digital Sector Committee. Our DPO, Tran My Phuc, is VnDPO certified. We practise what we advise.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Only what Jackson told us, in his email of 18 Aug: Jane is his Director for the Business Assurance division, covering ISO 9001, cybersecurity certification, ESG and carbon accounting. Pavel also noted the scale of SGS local testing, inspection and certification operations. We have not verified which services SGS Vietnam delivers locally, so ask Jane. Do not quote headcount: public sources conflict.</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Client journey in four steps. Readiness and implementation are consulting work; certification must be independent. Do not assert a rule here. Certification bodies work under impartiality requirements (ISO/IEC 17021-1) and search snippets suggest a waiting period of about 2 years after consulting, but the original text was not read, so treat it as to be confirmed. Ask Jane how SGS handles it today, what separation she needs between advisory and audit, and whether SGS already works with advisory partners.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Ideas to test, not commitments. 1) ISO 27001 plus PDPL: one readiness effort feeds the certification audit and the Law 91/2025 programme. 2) ISO/IEC 42001: AI governance readiness for firms adopting AI. 3) Joint briefings through the EuroCham Digital Sector Committee, where Pavel is Co-Chair. 4) ESG and carbon data: systems that capture and report data, with SGS verifying; this one is a hypothesis: SGH Asia capability in ESG and carbon data is an assumption to confirm internally, and SGS Vietnam scope in 27701 and 42001 is to be confirmed with Jane.</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Propose a light start. Dates are proposals. Listen more than pitch in the questions block: how SGS works with advisory partners today, which client requests it sees most, and what the Vietnam team delivers locally.</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Close. Restate the ask: pick one pilot and one named contact on each side within 30 days.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8.png"/><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8.png"/><Relationship Id="rId4"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1_Abschnittsüberschrift">
    <p:spTree>
      <p:nvGrpSpPr>
        <p:cNvPr id="1" name=""/>
        <p:cNvGrpSpPr/>
        <p:nvPr/>
      </p:nvGrpSpPr>
      <p:grpSpPr>
        <a:xfrm>
          <a:off x="0" y="0"/>
          <a:ext cx="0" cy="0"/>
          <a:chOff x="0" y="0"/>
          <a:chExt cx="0" cy="0"/>
        </a:xfrm>
      </p:grpSpPr>
      <p:sp>
        <p:nvSpPr>
          <p:cNvPr id="16" name="Title Text"/>
          <p:cNvSpPr txBox="1">
            <a:spLocks noGrp="1"/>
          </p:cNvSpPr>
          <p:nvPr>
            <p:ph type="title"/>
          </p:nvPr>
        </p:nvSpPr>
        <p:spPr>
          <a:prstGeom prst="rect">
            <a:avLst/>
          </a:prstGeom>
        </p:spPr>
        <p:txBody>
          <a:bodyPr/>
          <a:lstStyle/>
          <a:p>
            <a:r>
              <a:t>Title Text</a:t>
            </a:r>
          </a:p>
        </p:txBody>
      </p:sp>
      <p:sp>
        <p:nvSpPr>
          <p:cNvPr id="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85435174"/>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2_Abschnittsüberschrift">
    <p:spTree>
      <p:nvGrpSpPr>
        <p:cNvPr id="1" name=""/>
        <p:cNvGrpSpPr/>
        <p:nvPr/>
      </p:nvGrpSpPr>
      <p:grpSpPr>
        <a:xfrm>
          <a:off x="0" y="0"/>
          <a:ext cx="0" cy="0"/>
          <a:chOff x="0" y="0"/>
          <a:chExt cx="0" cy="0"/>
        </a:xfrm>
      </p:grpSpPr>
      <p:sp>
        <p:nvSpPr>
          <p:cNvPr id="16" name="Title Text"/>
          <p:cNvSpPr txBox="1">
            <a:spLocks noGrp="1"/>
          </p:cNvSpPr>
          <p:nvPr>
            <p:ph type="title"/>
          </p:nvPr>
        </p:nvSpPr>
        <p:spPr>
          <a:prstGeom prst="rect">
            <a:avLst/>
          </a:prstGeom>
        </p:spPr>
        <p:txBody>
          <a:bodyPr/>
          <a:lstStyle/>
          <a:p>
            <a:r>
              <a:t>Title Text</a:t>
            </a:r>
          </a:p>
        </p:txBody>
      </p:sp>
      <p:sp>
        <p:nvSpPr>
          <p:cNvPr id="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62583121"/>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2638F-2473-B18E-B91A-269BE44C9AE1}"/>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59EFDF05-CC5F-F294-36DA-C8082AA2A116}"/>
              </a:ext>
            </a:extLst>
          </p:cNvPr>
          <p:cNvSpPr>
            <a:spLocks noGrp="1"/>
          </p:cNvSpPr>
          <p:nvPr>
            <p:ph type="sldNum" sz="quarter" idx="10"/>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95857276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itelfolie">
    <p:spTree>
      <p:nvGrpSpPr>
        <p:cNvPr id="1" name=""/>
        <p:cNvGrpSpPr/>
        <p:nvPr/>
      </p:nvGrpSpPr>
      <p:grpSpPr>
        <a:xfrm>
          <a:off x="0" y="0"/>
          <a:ext cx="0" cy="0"/>
          <a:chOff x="0" y="0"/>
          <a:chExt cx="0" cy="0"/>
        </a:xfrm>
      </p:grpSpPr>
      <p:sp>
        <p:nvSpPr>
          <p:cNvPr id="24"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sp>
        <p:nvSpPr>
          <p:cNvPr id="25" name="Slide Number"/>
          <p:cNvSpPr txBox="1">
            <a:spLocks noGrp="1"/>
          </p:cNvSpPr>
          <p:nvPr>
            <p:ph type="sldNum" sz="quarter" idx="2"/>
          </p:nvPr>
        </p:nvSpPr>
        <p:spPr>
          <a:xfrm>
            <a:off x="4419600" y="4627562"/>
            <a:ext cx="2133600" cy="27940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Custom Layout">
    <p:spTree>
      <p:nvGrpSpPr>
        <p:cNvPr id="1" name=""/>
        <p:cNvGrpSpPr/>
        <p:nvPr/>
      </p:nvGrpSpPr>
      <p:grpSpPr>
        <a:xfrm>
          <a:off x="0" y="0"/>
          <a:ext cx="0" cy="0"/>
          <a:chOff x="0" y="0"/>
          <a:chExt cx="0" cy="0"/>
        </a:xfrm>
      </p:grpSpPr>
      <p:sp>
        <p:nvSpPr>
          <p:cNvPr id="32"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pic>
        <p:nvPicPr>
          <p:cNvPr id="33" name="Picture 6" descr="Picture 6"/>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34" name="Slide Number"/>
          <p:cNvSpPr txBox="1">
            <a:spLocks noGrp="1"/>
          </p:cNvSpPr>
          <p:nvPr>
            <p:ph type="sldNum" sz="quarter" idx="2"/>
          </p:nvPr>
        </p:nvSpPr>
        <p:spPr>
          <a:xfrm>
            <a:off x="4419600" y="4627562"/>
            <a:ext cx="2133600" cy="27940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1_Titelfolie">
    <p:spTree>
      <p:nvGrpSpPr>
        <p:cNvPr id="1" name=""/>
        <p:cNvGrpSpPr/>
        <p:nvPr/>
      </p:nvGrpSpPr>
      <p:grpSpPr>
        <a:xfrm>
          <a:off x="0" y="0"/>
          <a:ext cx="0" cy="0"/>
          <a:chOff x="0" y="0"/>
          <a:chExt cx="0" cy="0"/>
        </a:xfrm>
      </p:grpSpPr>
      <p:sp>
        <p:nvSpPr>
          <p:cNvPr id="41"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pic>
        <p:nvPicPr>
          <p:cNvPr id="42" name="Picture 7" descr="Picture 7"/>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43" name="Slide Number"/>
          <p:cNvSpPr txBox="1">
            <a:spLocks noGrp="1"/>
          </p:cNvSpPr>
          <p:nvPr>
            <p:ph type="sldNum" sz="quarter" idx="2"/>
          </p:nvPr>
        </p:nvSpPr>
        <p:spPr>
          <a:xfrm>
            <a:off x="4419600" y="4627562"/>
            <a:ext cx="2133600" cy="27940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2_Titelfolie">
    <p:spTree>
      <p:nvGrpSpPr>
        <p:cNvPr id="1" name=""/>
        <p:cNvGrpSpPr/>
        <p:nvPr/>
      </p:nvGrpSpPr>
      <p:grpSpPr>
        <a:xfrm>
          <a:off x="0" y="0"/>
          <a:ext cx="0" cy="0"/>
          <a:chOff x="0" y="0"/>
          <a:chExt cx="0" cy="0"/>
        </a:xfrm>
      </p:grpSpPr>
      <p:sp>
        <p:nvSpPr>
          <p:cNvPr id="50"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pic>
        <p:nvPicPr>
          <p:cNvPr id="51" name="Picture 7" descr="Picture 7"/>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52" name="Slide Number"/>
          <p:cNvSpPr txBox="1">
            <a:spLocks noGrp="1"/>
          </p:cNvSpPr>
          <p:nvPr>
            <p:ph type="sldNum" sz="quarter" idx="2"/>
          </p:nvPr>
        </p:nvSpPr>
        <p:spPr>
          <a:xfrm>
            <a:off x="4419600" y="4627562"/>
            <a:ext cx="2133600" cy="27940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3_Titelfolie">
    <p:spTree>
      <p:nvGrpSpPr>
        <p:cNvPr id="1" name=""/>
        <p:cNvGrpSpPr/>
        <p:nvPr/>
      </p:nvGrpSpPr>
      <p:grpSpPr>
        <a:xfrm>
          <a:off x="0" y="0"/>
          <a:ext cx="0" cy="0"/>
          <a:chOff x="0" y="0"/>
          <a:chExt cx="0" cy="0"/>
        </a:xfrm>
      </p:grpSpPr>
      <p:sp>
        <p:nvSpPr>
          <p:cNvPr id="59"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pic>
        <p:nvPicPr>
          <p:cNvPr id="60" name="Picture 7" descr="Picture 7"/>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61" name="Slide Number"/>
          <p:cNvSpPr txBox="1">
            <a:spLocks noGrp="1"/>
          </p:cNvSpPr>
          <p:nvPr>
            <p:ph type="sldNum" sz="quarter" idx="2"/>
          </p:nvPr>
        </p:nvSpPr>
        <p:spPr>
          <a:xfrm>
            <a:off x="4419600" y="4627562"/>
            <a:ext cx="2133600" cy="27940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Inhalt mit Beschriftung">
    <p:spTree>
      <p:nvGrpSpPr>
        <p:cNvPr id="1" name=""/>
        <p:cNvGrpSpPr/>
        <p:nvPr/>
      </p:nvGrpSpPr>
      <p:grpSpPr>
        <a:xfrm>
          <a:off x="0" y="0"/>
          <a:ext cx="0" cy="0"/>
          <a:chOff x="0" y="0"/>
          <a:chExt cx="0" cy="0"/>
        </a:xfrm>
      </p:grpSpPr>
      <p:sp>
        <p:nvSpPr>
          <p:cNvPr id="137"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sp>
        <p:nvSpPr>
          <p:cNvPr id="138" name="Title Text"/>
          <p:cNvSpPr txBox="1">
            <a:spLocks noGrp="1"/>
          </p:cNvSpPr>
          <p:nvPr>
            <p:ph type="title"/>
          </p:nvPr>
        </p:nvSpPr>
        <p:spPr>
          <a:xfrm>
            <a:off x="457201" y="204786"/>
            <a:ext cx="3008314" cy="871539"/>
          </a:xfrm>
          <a:prstGeom prst="rect">
            <a:avLst/>
          </a:prstGeom>
        </p:spPr>
        <p:txBody>
          <a:bodyPr anchor="b"/>
          <a:lstStyle>
            <a:lvl1pPr>
              <a:defRPr sz="2000" spc="79">
                <a:solidFill>
                  <a:srgbClr val="1D1E23"/>
                </a:solidFill>
              </a:defRPr>
            </a:lvl1pPr>
          </a:lstStyle>
          <a:p>
            <a:r>
              <a:t>Title Text</a:t>
            </a:r>
          </a:p>
        </p:txBody>
      </p:sp>
      <p:sp>
        <p:nvSpPr>
          <p:cNvPr id="139" name="Body Level One…"/>
          <p:cNvSpPr txBox="1">
            <a:spLocks noGrp="1"/>
          </p:cNvSpPr>
          <p:nvPr>
            <p:ph type="body" idx="1"/>
          </p:nvPr>
        </p:nvSpPr>
        <p:spPr>
          <a:xfrm>
            <a:off x="3575050" y="204788"/>
            <a:ext cx="5111750" cy="4389836"/>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40" name="Textplatzhalter 3"/>
          <p:cNvSpPr>
            <a:spLocks noGrp="1"/>
          </p:cNvSpPr>
          <p:nvPr>
            <p:ph type="body" sz="half" idx="21"/>
          </p:nvPr>
        </p:nvSpPr>
        <p:spPr>
          <a:xfrm>
            <a:off x="457200" y="1076326"/>
            <a:ext cx="3008315" cy="3518297"/>
          </a:xfrm>
          <a:prstGeom prst="rect">
            <a:avLst/>
          </a:prstGeom>
        </p:spPr>
        <p:txBody>
          <a:bodyPr/>
          <a:lstStyle/>
          <a:p>
            <a:pPr marL="0" indent="0">
              <a:spcBef>
                <a:spcPts val="300"/>
              </a:spcBef>
              <a:buClrTx/>
              <a:buSzTx/>
              <a:buNone/>
              <a:defRPr sz="1400" spc="0"/>
            </a:pPr>
            <a:endParaRPr/>
          </a:p>
        </p:txBody>
      </p:sp>
      <p:sp>
        <p:nvSpPr>
          <p:cNvPr id="141" name="Slide Number"/>
          <p:cNvSpPr txBox="1">
            <a:spLocks noGrp="1"/>
          </p:cNvSpPr>
          <p:nvPr>
            <p:ph type="sldNum" sz="quarter" idx="2"/>
          </p:nvPr>
        </p:nvSpPr>
        <p:spPr>
          <a:xfrm>
            <a:off x="8413144" y="4769564"/>
            <a:ext cx="273657" cy="26924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4_Titelfolie">
    <p:spTree>
      <p:nvGrpSpPr>
        <p:cNvPr id="1" name=""/>
        <p:cNvGrpSpPr/>
        <p:nvPr/>
      </p:nvGrpSpPr>
      <p:grpSpPr>
        <a:xfrm>
          <a:off x="0" y="0"/>
          <a:ext cx="0" cy="0"/>
          <a:chOff x="0" y="0"/>
          <a:chExt cx="0" cy="0"/>
        </a:xfrm>
      </p:grpSpPr>
      <p:sp>
        <p:nvSpPr>
          <p:cNvPr id="68"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pic>
        <p:nvPicPr>
          <p:cNvPr id="69" name="Picture 2" descr="Picture 2"/>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70" name="Slide Number"/>
          <p:cNvSpPr txBox="1">
            <a:spLocks noGrp="1"/>
          </p:cNvSpPr>
          <p:nvPr>
            <p:ph type="sldNum" sz="quarter" idx="2"/>
          </p:nvPr>
        </p:nvSpPr>
        <p:spPr>
          <a:xfrm>
            <a:off x="4419600" y="4627562"/>
            <a:ext cx="2133600" cy="27940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1_Custom Layout">
    <p:spTree>
      <p:nvGrpSpPr>
        <p:cNvPr id="1" name=""/>
        <p:cNvGrpSpPr/>
        <p:nvPr/>
      </p:nvGrpSpPr>
      <p:grpSpPr>
        <a:xfrm>
          <a:off x="0" y="0"/>
          <a:ext cx="0" cy="0"/>
          <a:chOff x="0" y="0"/>
          <a:chExt cx="0" cy="0"/>
        </a:xfrm>
      </p:grpSpPr>
      <p:pic>
        <p:nvPicPr>
          <p:cNvPr id="77" name="Picture 6" descr="Picture 6"/>
          <p:cNvPicPr>
            <a:picLocks noChangeAspect="1"/>
          </p:cNvPicPr>
          <p:nvPr/>
        </p:nvPicPr>
        <p:blipFill>
          <a:blip r:embed="rId2"/>
          <a:stretch>
            <a:fillRect/>
          </a:stretch>
        </p:blipFill>
        <p:spPr>
          <a:xfrm>
            <a:off x="0" y="0"/>
            <a:ext cx="9144000" cy="5143500"/>
          </a:xfrm>
          <a:prstGeom prst="rect">
            <a:avLst/>
          </a:prstGeom>
          <a:ln w="12700">
            <a:miter lim="400000"/>
          </a:ln>
        </p:spPr>
      </p:pic>
      <p:grpSp>
        <p:nvGrpSpPr>
          <p:cNvPr id="80" name="Group"/>
          <p:cNvGrpSpPr/>
          <p:nvPr/>
        </p:nvGrpSpPr>
        <p:grpSpPr>
          <a:xfrm>
            <a:off x="8497951" y="1"/>
            <a:ext cx="663915" cy="5143501"/>
            <a:chOff x="0" y="0"/>
            <a:chExt cx="663914" cy="5143500"/>
          </a:xfrm>
        </p:grpSpPr>
        <p:sp>
          <p:nvSpPr>
            <p:cNvPr id="78" name="Rectangle 4"/>
            <p:cNvSpPr/>
            <p:nvPr/>
          </p:nvSpPr>
          <p:spPr>
            <a:xfrm>
              <a:off x="0" y="0"/>
              <a:ext cx="663915" cy="5143500"/>
            </a:xfrm>
            <a:prstGeom prst="rect">
              <a:avLst/>
            </a:prstGeom>
            <a:solidFill>
              <a:srgbClr val="3D3F6E"/>
            </a:solidFill>
            <a:ln w="12700" cap="flat">
              <a:noFill/>
              <a:miter lim="400000"/>
            </a:ln>
            <a:effectLst/>
          </p:spPr>
          <p:txBody>
            <a:bodyPr wrap="square" lIns="45719" tIns="45719" rIns="45719" bIns="45719" numCol="1" anchor="ctr">
              <a:noAutofit/>
            </a:bodyPr>
            <a:lstStyle/>
            <a:p>
              <a:pPr algn="ctr">
                <a:defRPr>
                  <a:solidFill>
                    <a:srgbClr val="F3F3F3"/>
                  </a:solidFill>
                </a:defRPr>
              </a:pPr>
              <a:endParaRPr/>
            </a:p>
          </p:txBody>
        </p:sp>
        <p:pic>
          <p:nvPicPr>
            <p:cNvPr id="79" name="Image" descr="Image"/>
            <p:cNvPicPr>
              <a:picLocks noChangeAspect="1"/>
            </p:cNvPicPr>
            <p:nvPr/>
          </p:nvPicPr>
          <p:blipFill>
            <a:blip r:embed="rId3"/>
            <a:stretch>
              <a:fillRect/>
            </a:stretch>
          </p:blipFill>
          <p:spPr>
            <a:xfrm>
              <a:off x="80726" y="196294"/>
              <a:ext cx="502463" cy="309476"/>
            </a:xfrm>
            <a:prstGeom prst="rect">
              <a:avLst/>
            </a:prstGeom>
            <a:ln w="12700" cap="flat">
              <a:noFill/>
              <a:miter lim="400000"/>
            </a:ln>
            <a:effectLst/>
          </p:spPr>
        </p:pic>
      </p:grpSp>
      <p:pic>
        <p:nvPicPr>
          <p:cNvPr id="81" name="Picture 2" descr="Picture 2"/>
          <p:cNvPicPr>
            <a:picLocks noChangeAspect="1"/>
          </p:cNvPicPr>
          <p:nvPr/>
        </p:nvPicPr>
        <p:blipFill>
          <a:blip r:embed="rId4"/>
          <a:stretch>
            <a:fillRect/>
          </a:stretch>
        </p:blipFill>
        <p:spPr>
          <a:xfrm>
            <a:off x="728420" y="1491470"/>
            <a:ext cx="2162015" cy="2160560"/>
          </a:xfrm>
          <a:prstGeom prst="rect">
            <a:avLst/>
          </a:prstGeom>
          <a:ln w="12700">
            <a:miter lim="400000"/>
          </a:ln>
        </p:spPr>
      </p:pic>
      <p:sp>
        <p:nvSpPr>
          <p:cNvPr id="82" name="Slide Number"/>
          <p:cNvSpPr txBox="1">
            <a:spLocks noGrp="1"/>
          </p:cNvSpPr>
          <p:nvPr>
            <p:ph type="sldNum" sz="quarter" idx="2"/>
          </p:nvPr>
        </p:nvSpPr>
        <p:spPr>
          <a:xfrm>
            <a:off x="8702186" y="4820860"/>
            <a:ext cx="256414" cy="252616"/>
          </a:xfrm>
          <a:prstGeom prst="rect">
            <a:avLst/>
          </a:prstGeom>
        </p:spPr>
        <p:txBody>
          <a:bodyPr/>
          <a:lstStyle>
            <a:lvl1pPr>
              <a:defRPr sz="1100">
                <a:latin typeface="PT Sans"/>
                <a:ea typeface="PT Sans"/>
                <a:cs typeface="PT Sans"/>
                <a:sym typeface="PT Sans"/>
              </a:defRPr>
            </a:lvl1p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2_Custom Layout">
    <p:spTree>
      <p:nvGrpSpPr>
        <p:cNvPr id="1" name=""/>
        <p:cNvGrpSpPr/>
        <p:nvPr/>
      </p:nvGrpSpPr>
      <p:grpSpPr>
        <a:xfrm>
          <a:off x="0" y="0"/>
          <a:ext cx="0" cy="0"/>
          <a:chOff x="0" y="0"/>
          <a:chExt cx="0" cy="0"/>
        </a:xfrm>
      </p:grpSpPr>
      <p:pic>
        <p:nvPicPr>
          <p:cNvPr id="89" name="Picture 6" descr="Picture 6"/>
          <p:cNvPicPr>
            <a:picLocks noChangeAspect="1"/>
          </p:cNvPicPr>
          <p:nvPr/>
        </p:nvPicPr>
        <p:blipFill>
          <a:blip r:embed="rId2"/>
          <a:stretch>
            <a:fillRect/>
          </a:stretch>
        </p:blipFill>
        <p:spPr>
          <a:xfrm>
            <a:off x="0" y="0"/>
            <a:ext cx="9161861" cy="5143500"/>
          </a:xfrm>
          <a:prstGeom prst="rect">
            <a:avLst/>
          </a:prstGeom>
          <a:ln w="12700">
            <a:miter lim="400000"/>
          </a:ln>
        </p:spPr>
      </p:pic>
      <p:grpSp>
        <p:nvGrpSpPr>
          <p:cNvPr id="92" name="Group"/>
          <p:cNvGrpSpPr/>
          <p:nvPr/>
        </p:nvGrpSpPr>
        <p:grpSpPr>
          <a:xfrm>
            <a:off x="8497951" y="1"/>
            <a:ext cx="663915" cy="5143501"/>
            <a:chOff x="0" y="0"/>
            <a:chExt cx="663914" cy="5143500"/>
          </a:xfrm>
        </p:grpSpPr>
        <p:sp>
          <p:nvSpPr>
            <p:cNvPr id="90" name="Rectangle 4"/>
            <p:cNvSpPr/>
            <p:nvPr/>
          </p:nvSpPr>
          <p:spPr>
            <a:xfrm>
              <a:off x="0" y="0"/>
              <a:ext cx="663915" cy="5143500"/>
            </a:xfrm>
            <a:prstGeom prst="rect">
              <a:avLst/>
            </a:prstGeom>
            <a:solidFill>
              <a:srgbClr val="3D3F6E"/>
            </a:solidFill>
            <a:ln w="12700" cap="flat">
              <a:noFill/>
              <a:miter lim="400000"/>
            </a:ln>
            <a:effectLst/>
          </p:spPr>
          <p:txBody>
            <a:bodyPr wrap="square" lIns="45719" tIns="45719" rIns="45719" bIns="45719" numCol="1" anchor="ctr">
              <a:noAutofit/>
            </a:bodyPr>
            <a:lstStyle/>
            <a:p>
              <a:pPr algn="ctr">
                <a:defRPr>
                  <a:solidFill>
                    <a:srgbClr val="F3F3F3"/>
                  </a:solidFill>
                </a:defRPr>
              </a:pPr>
              <a:endParaRPr/>
            </a:p>
          </p:txBody>
        </p:sp>
        <p:pic>
          <p:nvPicPr>
            <p:cNvPr id="91" name="Image" descr="Image"/>
            <p:cNvPicPr>
              <a:picLocks noChangeAspect="1"/>
            </p:cNvPicPr>
            <p:nvPr/>
          </p:nvPicPr>
          <p:blipFill>
            <a:blip r:embed="rId3"/>
            <a:stretch>
              <a:fillRect/>
            </a:stretch>
          </p:blipFill>
          <p:spPr>
            <a:xfrm>
              <a:off x="80726" y="196294"/>
              <a:ext cx="502463" cy="309476"/>
            </a:xfrm>
            <a:prstGeom prst="rect">
              <a:avLst/>
            </a:prstGeom>
            <a:ln w="12700" cap="flat">
              <a:noFill/>
              <a:miter lim="400000"/>
            </a:ln>
            <a:effectLst/>
          </p:spPr>
        </p:pic>
      </p:grpSp>
      <p:pic>
        <p:nvPicPr>
          <p:cNvPr id="93" name="Picture 2" descr="Picture 2"/>
          <p:cNvPicPr>
            <a:picLocks noChangeAspect="1"/>
          </p:cNvPicPr>
          <p:nvPr/>
        </p:nvPicPr>
        <p:blipFill>
          <a:blip r:embed="rId4"/>
          <a:stretch>
            <a:fillRect/>
          </a:stretch>
        </p:blipFill>
        <p:spPr>
          <a:xfrm>
            <a:off x="716796" y="1491470"/>
            <a:ext cx="2158140" cy="2160560"/>
          </a:xfrm>
          <a:prstGeom prst="rect">
            <a:avLst/>
          </a:prstGeom>
          <a:ln w="12700">
            <a:miter lim="400000"/>
          </a:ln>
        </p:spPr>
      </p:pic>
      <p:sp>
        <p:nvSpPr>
          <p:cNvPr id="94" name="Slide Number"/>
          <p:cNvSpPr txBox="1">
            <a:spLocks noGrp="1"/>
          </p:cNvSpPr>
          <p:nvPr>
            <p:ph type="sldNum" sz="quarter" idx="2"/>
          </p:nvPr>
        </p:nvSpPr>
        <p:spPr>
          <a:xfrm>
            <a:off x="8702186" y="4820860"/>
            <a:ext cx="256414" cy="252616"/>
          </a:xfrm>
          <a:prstGeom prst="rect">
            <a:avLst/>
          </a:prstGeom>
        </p:spPr>
        <p:txBody>
          <a:bodyPr/>
          <a:lstStyle>
            <a:lvl1pPr>
              <a:defRPr sz="1100">
                <a:latin typeface="PT Sans"/>
                <a:ea typeface="PT Sans"/>
                <a:cs typeface="PT Sans"/>
                <a:sym typeface="PT Sans"/>
              </a:defRPr>
            </a:lvl1p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6_Titelfolie">
    <p:spTree>
      <p:nvGrpSpPr>
        <p:cNvPr id="1" name=""/>
        <p:cNvGrpSpPr/>
        <p:nvPr/>
      </p:nvGrpSpPr>
      <p:grpSpPr>
        <a:xfrm>
          <a:off x="0" y="0"/>
          <a:ext cx="0" cy="0"/>
          <a:chOff x="0" y="0"/>
          <a:chExt cx="0" cy="0"/>
        </a:xfrm>
      </p:grpSpPr>
      <p:pic>
        <p:nvPicPr>
          <p:cNvPr id="101" name="Picture 7" descr="Picture 7"/>
          <p:cNvPicPr>
            <a:picLocks noChangeAspect="1"/>
          </p:cNvPicPr>
          <p:nvPr/>
        </p:nvPicPr>
        <p:blipFill>
          <a:blip r:embed="rId2"/>
          <a:stretch>
            <a:fillRect/>
          </a:stretch>
        </p:blipFill>
        <p:spPr>
          <a:xfrm>
            <a:off x="0" y="0"/>
            <a:ext cx="9161861" cy="5143500"/>
          </a:xfrm>
          <a:prstGeom prst="rect">
            <a:avLst/>
          </a:prstGeom>
          <a:ln w="12700">
            <a:miter lim="400000"/>
          </a:ln>
        </p:spPr>
      </p:pic>
      <p:grpSp>
        <p:nvGrpSpPr>
          <p:cNvPr id="104" name="Group"/>
          <p:cNvGrpSpPr/>
          <p:nvPr/>
        </p:nvGrpSpPr>
        <p:grpSpPr>
          <a:xfrm>
            <a:off x="8497951" y="1"/>
            <a:ext cx="663915" cy="5143501"/>
            <a:chOff x="0" y="0"/>
            <a:chExt cx="663914" cy="5143500"/>
          </a:xfrm>
        </p:grpSpPr>
        <p:sp>
          <p:nvSpPr>
            <p:cNvPr id="102" name="Rectangle 4"/>
            <p:cNvSpPr/>
            <p:nvPr/>
          </p:nvSpPr>
          <p:spPr>
            <a:xfrm>
              <a:off x="0" y="0"/>
              <a:ext cx="663915" cy="5143500"/>
            </a:xfrm>
            <a:prstGeom prst="rect">
              <a:avLst/>
            </a:prstGeom>
            <a:solidFill>
              <a:srgbClr val="3D3F6E"/>
            </a:solidFill>
            <a:ln w="12700" cap="flat">
              <a:noFill/>
              <a:miter lim="400000"/>
            </a:ln>
            <a:effectLst/>
          </p:spPr>
          <p:txBody>
            <a:bodyPr wrap="square" lIns="45719" tIns="45719" rIns="45719" bIns="45719" numCol="1" anchor="ctr">
              <a:noAutofit/>
            </a:bodyPr>
            <a:lstStyle/>
            <a:p>
              <a:pPr algn="ctr">
                <a:defRPr>
                  <a:solidFill>
                    <a:srgbClr val="F3F3F3"/>
                  </a:solidFill>
                </a:defRPr>
              </a:pPr>
              <a:endParaRPr/>
            </a:p>
          </p:txBody>
        </p:sp>
        <p:pic>
          <p:nvPicPr>
            <p:cNvPr id="103" name="Image" descr="Image"/>
            <p:cNvPicPr>
              <a:picLocks noChangeAspect="1"/>
            </p:cNvPicPr>
            <p:nvPr/>
          </p:nvPicPr>
          <p:blipFill>
            <a:blip r:embed="rId3"/>
            <a:stretch>
              <a:fillRect/>
            </a:stretch>
          </p:blipFill>
          <p:spPr>
            <a:xfrm>
              <a:off x="80726" y="196294"/>
              <a:ext cx="502463" cy="309476"/>
            </a:xfrm>
            <a:prstGeom prst="rect">
              <a:avLst/>
            </a:prstGeom>
            <a:ln w="12700" cap="flat">
              <a:noFill/>
              <a:miter lim="400000"/>
            </a:ln>
            <a:effectLst/>
          </p:spPr>
        </p:pic>
      </p:grpSp>
      <p:pic>
        <p:nvPicPr>
          <p:cNvPr id="105" name="Picture 3" descr="Picture 3"/>
          <p:cNvPicPr>
            <a:picLocks noChangeAspect="1"/>
          </p:cNvPicPr>
          <p:nvPr/>
        </p:nvPicPr>
        <p:blipFill>
          <a:blip r:embed="rId4"/>
          <a:stretch>
            <a:fillRect/>
          </a:stretch>
        </p:blipFill>
        <p:spPr>
          <a:xfrm>
            <a:off x="724547" y="1491470"/>
            <a:ext cx="2165888" cy="2160560"/>
          </a:xfrm>
          <a:prstGeom prst="rect">
            <a:avLst/>
          </a:prstGeom>
          <a:ln w="12700">
            <a:miter lim="400000"/>
          </a:ln>
        </p:spPr>
      </p:pic>
      <p:sp>
        <p:nvSpPr>
          <p:cNvPr id="106" name="Slide Number"/>
          <p:cNvSpPr txBox="1">
            <a:spLocks noGrp="1"/>
          </p:cNvSpPr>
          <p:nvPr>
            <p:ph type="sldNum" sz="quarter" idx="2"/>
          </p:nvPr>
        </p:nvSpPr>
        <p:spPr>
          <a:xfrm>
            <a:off x="8702186" y="4820860"/>
            <a:ext cx="256414" cy="252616"/>
          </a:xfrm>
          <a:prstGeom prst="rect">
            <a:avLst/>
          </a:prstGeom>
        </p:spPr>
        <p:txBody>
          <a:bodyPr/>
          <a:lstStyle>
            <a:lvl1pPr>
              <a:defRPr sz="1100">
                <a:latin typeface="PT Sans"/>
                <a:ea typeface="PT Sans"/>
                <a:cs typeface="PT Sans"/>
                <a:sym typeface="PT Sans"/>
              </a:defRPr>
            </a:lvl1p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7_Titelfolie">
    <p:spTree>
      <p:nvGrpSpPr>
        <p:cNvPr id="1" name=""/>
        <p:cNvGrpSpPr/>
        <p:nvPr/>
      </p:nvGrpSpPr>
      <p:grpSpPr>
        <a:xfrm>
          <a:off x="0" y="0"/>
          <a:ext cx="0" cy="0"/>
          <a:chOff x="0" y="0"/>
          <a:chExt cx="0" cy="0"/>
        </a:xfrm>
      </p:grpSpPr>
      <p:pic>
        <p:nvPicPr>
          <p:cNvPr id="113" name="Picture 7" descr="Picture 7"/>
          <p:cNvPicPr>
            <a:picLocks noChangeAspect="1"/>
          </p:cNvPicPr>
          <p:nvPr/>
        </p:nvPicPr>
        <p:blipFill>
          <a:blip r:embed="rId2"/>
          <a:stretch>
            <a:fillRect/>
          </a:stretch>
        </p:blipFill>
        <p:spPr>
          <a:xfrm>
            <a:off x="0" y="0"/>
            <a:ext cx="9144000" cy="5143500"/>
          </a:xfrm>
          <a:prstGeom prst="rect">
            <a:avLst/>
          </a:prstGeom>
          <a:ln w="12700">
            <a:miter lim="400000"/>
          </a:ln>
        </p:spPr>
      </p:pic>
      <p:grpSp>
        <p:nvGrpSpPr>
          <p:cNvPr id="116" name="Group"/>
          <p:cNvGrpSpPr/>
          <p:nvPr/>
        </p:nvGrpSpPr>
        <p:grpSpPr>
          <a:xfrm>
            <a:off x="8497951" y="1"/>
            <a:ext cx="663915" cy="5143501"/>
            <a:chOff x="0" y="0"/>
            <a:chExt cx="663914" cy="5143500"/>
          </a:xfrm>
        </p:grpSpPr>
        <p:sp>
          <p:nvSpPr>
            <p:cNvPr id="114" name="Rectangle 4"/>
            <p:cNvSpPr/>
            <p:nvPr/>
          </p:nvSpPr>
          <p:spPr>
            <a:xfrm>
              <a:off x="0" y="0"/>
              <a:ext cx="663915" cy="5143500"/>
            </a:xfrm>
            <a:prstGeom prst="rect">
              <a:avLst/>
            </a:prstGeom>
            <a:solidFill>
              <a:srgbClr val="3D3F6E"/>
            </a:solidFill>
            <a:ln w="12700" cap="flat">
              <a:noFill/>
              <a:miter lim="400000"/>
            </a:ln>
            <a:effectLst/>
          </p:spPr>
          <p:txBody>
            <a:bodyPr wrap="square" lIns="45719" tIns="45719" rIns="45719" bIns="45719" numCol="1" anchor="ctr">
              <a:noAutofit/>
            </a:bodyPr>
            <a:lstStyle/>
            <a:p>
              <a:pPr algn="ctr">
                <a:defRPr>
                  <a:solidFill>
                    <a:srgbClr val="F3F3F3"/>
                  </a:solidFill>
                </a:defRPr>
              </a:pPr>
              <a:endParaRPr/>
            </a:p>
          </p:txBody>
        </p:sp>
        <p:pic>
          <p:nvPicPr>
            <p:cNvPr id="115" name="Image" descr="Image"/>
            <p:cNvPicPr>
              <a:picLocks noChangeAspect="1"/>
            </p:cNvPicPr>
            <p:nvPr/>
          </p:nvPicPr>
          <p:blipFill>
            <a:blip r:embed="rId3"/>
            <a:stretch>
              <a:fillRect/>
            </a:stretch>
          </p:blipFill>
          <p:spPr>
            <a:xfrm>
              <a:off x="80726" y="196294"/>
              <a:ext cx="502463" cy="309476"/>
            </a:xfrm>
            <a:prstGeom prst="rect">
              <a:avLst/>
            </a:prstGeom>
            <a:ln w="12700" cap="flat">
              <a:noFill/>
              <a:miter lim="400000"/>
            </a:ln>
            <a:effectLst/>
          </p:spPr>
        </p:pic>
      </p:grpSp>
      <p:pic>
        <p:nvPicPr>
          <p:cNvPr id="117" name="Picture 3" descr="Picture 3"/>
          <p:cNvPicPr>
            <a:picLocks noChangeAspect="1"/>
          </p:cNvPicPr>
          <p:nvPr/>
        </p:nvPicPr>
        <p:blipFill>
          <a:blip r:embed="rId4"/>
          <a:stretch>
            <a:fillRect/>
          </a:stretch>
        </p:blipFill>
        <p:spPr>
          <a:xfrm>
            <a:off x="720673" y="1491470"/>
            <a:ext cx="2162014" cy="2160560"/>
          </a:xfrm>
          <a:prstGeom prst="rect">
            <a:avLst/>
          </a:prstGeom>
          <a:ln w="12700">
            <a:miter lim="400000"/>
          </a:ln>
        </p:spPr>
      </p:pic>
      <p:sp>
        <p:nvSpPr>
          <p:cNvPr id="118" name="Slide Number"/>
          <p:cNvSpPr txBox="1">
            <a:spLocks noGrp="1"/>
          </p:cNvSpPr>
          <p:nvPr>
            <p:ph type="sldNum" sz="quarter" idx="2"/>
          </p:nvPr>
        </p:nvSpPr>
        <p:spPr>
          <a:xfrm>
            <a:off x="8702186" y="4820860"/>
            <a:ext cx="256414" cy="252616"/>
          </a:xfrm>
          <a:prstGeom prst="rect">
            <a:avLst/>
          </a:prstGeom>
        </p:spPr>
        <p:txBody>
          <a:bodyPr/>
          <a:lstStyle>
            <a:lvl1pPr>
              <a:defRPr sz="1100">
                <a:latin typeface="PT Sans"/>
                <a:ea typeface="PT Sans"/>
                <a:cs typeface="PT Sans"/>
                <a:sym typeface="PT Sans"/>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theme" Target="../theme/theme2.xml"/><Relationship Id="rId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
        <p:cNvGrpSpPr/>
        <p:nvPr/>
      </p:nvGrpSpPr>
      <p:grpSpPr>
        <a:xfrm>
          <a:off x="0" y="0"/>
          <a:ext cx="0" cy="0"/>
          <a:chOff x="0" y="0"/>
          <a:chExt cx="0" cy="0"/>
        </a:xfrm>
      </p:grpSpPr>
      <p:sp>
        <p:nvSpPr>
          <p:cNvPr id="2"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sp>
        <p:nvSpPr>
          <p:cNvPr id="3" name="Title Text"/>
          <p:cNvSpPr txBox="1">
            <a:spLocks noGrp="1"/>
          </p:cNvSpPr>
          <p:nvPr>
            <p:ph type="title"/>
          </p:nvPr>
        </p:nvSpPr>
        <p:spPr>
          <a:xfrm>
            <a:off x="535570" y="199209"/>
            <a:ext cx="7357752" cy="6639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4" name="Rectangle 11"/>
          <p:cNvSpPr/>
          <p:nvPr/>
        </p:nvSpPr>
        <p:spPr>
          <a:xfrm>
            <a:off x="8497951" y="1"/>
            <a:ext cx="663915" cy="5143501"/>
          </a:xfrm>
          <a:prstGeom prst="rect">
            <a:avLst/>
          </a:prstGeom>
          <a:solidFill>
            <a:srgbClr val="3B3678"/>
          </a:solidFill>
          <a:ln w="12700">
            <a:miter lim="400000"/>
          </a:ln>
        </p:spPr>
        <p:txBody>
          <a:bodyPr lIns="45719" rIns="45719" anchor="ctr"/>
          <a:lstStyle/>
          <a:p>
            <a:pPr algn="ctr">
              <a:defRPr>
                <a:solidFill>
                  <a:srgbClr val="F3F3F3"/>
                </a:solidFill>
              </a:defRPr>
            </a:pPr>
            <a:endParaRPr/>
          </a:p>
        </p:txBody>
      </p:sp>
      <p:sp>
        <p:nvSpPr>
          <p:cNvPr id="5" name="Slide Number Placeholder 5"/>
          <p:cNvSpPr txBox="1"/>
          <p:nvPr/>
        </p:nvSpPr>
        <p:spPr>
          <a:xfrm>
            <a:off x="8600075" y="4820860"/>
            <a:ext cx="460637" cy="252616"/>
          </a:xfrm>
          <a:prstGeom prst="rect">
            <a:avLst/>
          </a:prstGeom>
          <a:ln w="12700">
            <a:miter lim="400000"/>
          </a:ln>
        </p:spPr>
        <p:txBody>
          <a:bodyPr lIns="45719" rIns="45719" anchor="ctr">
            <a:spAutoFit/>
          </a:bodyPr>
          <a:lstStyle/>
          <a:p>
            <a:pPr algn="ctr">
              <a:defRPr sz="1100">
                <a:solidFill>
                  <a:srgbClr val="F3F3F3"/>
                </a:solidFill>
                <a:latin typeface="PT Sans"/>
                <a:ea typeface="PT Sans"/>
                <a:cs typeface="PT Sans"/>
                <a:sym typeface="PT Sans"/>
              </a:defRPr>
            </a:pPr>
            <a:endParaRPr/>
          </a:p>
        </p:txBody>
      </p:sp>
      <p:sp>
        <p:nvSpPr>
          <p:cNvPr id="6" name="Straight Connector 15"/>
          <p:cNvSpPr/>
          <p:nvPr/>
        </p:nvSpPr>
        <p:spPr>
          <a:xfrm>
            <a:off x="153823" y="811850"/>
            <a:ext cx="1051135" cy="1"/>
          </a:xfrm>
          <a:prstGeom prst="line">
            <a:avLst/>
          </a:prstGeom>
          <a:ln w="12700">
            <a:solidFill>
              <a:schemeClr val="accent1"/>
            </a:solidFill>
          </a:ln>
        </p:spPr>
        <p:txBody>
          <a:bodyPr lIns="45719" rIns="45719"/>
          <a:lstStyle/>
          <a:p>
            <a:endParaRPr/>
          </a:p>
        </p:txBody>
      </p:sp>
      <p:sp>
        <p:nvSpPr>
          <p:cNvPr id="8" name="Body Level One…"/>
          <p:cNvSpPr txBox="1">
            <a:spLocks noGrp="1"/>
          </p:cNvSpPr>
          <p:nvPr>
            <p:ph type="body" idx="1"/>
          </p:nvPr>
        </p:nvSpPr>
        <p:spPr>
          <a:xfrm>
            <a:off x="457200" y="1200150"/>
            <a:ext cx="8229600" cy="39433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9" name="Slide Number"/>
          <p:cNvSpPr txBox="1">
            <a:spLocks noGrp="1"/>
          </p:cNvSpPr>
          <p:nvPr>
            <p:ph type="sldNum" sz="quarter" idx="2"/>
          </p:nvPr>
        </p:nvSpPr>
        <p:spPr>
          <a:xfrm>
            <a:off x="10994391" y="6037580"/>
            <a:ext cx="260030" cy="281941"/>
          </a:xfrm>
          <a:prstGeom prst="rect">
            <a:avLst/>
          </a:prstGeom>
          <a:ln w="12700">
            <a:miter lim="400000"/>
          </a:ln>
        </p:spPr>
        <p:txBody>
          <a:bodyPr wrap="none" lIns="45719" rIns="45719" anchor="ctr">
            <a:spAutoFit/>
          </a:bodyPr>
          <a:lstStyle>
            <a:lvl1pPr algn="ctr">
              <a:defRPr sz="1200">
                <a:solidFill>
                  <a:srgbClr val="F3F3F3"/>
                </a:solidFill>
                <a:latin typeface="Montserrat Thin Regular"/>
                <a:ea typeface="Montserrat Thin Regular"/>
                <a:cs typeface="Montserrat Thin Regular"/>
                <a:sym typeface="Montserrat Thin Regular"/>
              </a:defRPr>
            </a:lvl1pPr>
          </a:lstStyle>
          <a:p>
            <a:fld id="{86CB4B4D-7CA3-9044-876B-883B54F8677D}" type="slidenum">
              <a:t>‹#›</a:t>
            </a:fld>
            <a:endParaRPr/>
          </a:p>
        </p:txBody>
      </p:sp>
      <p:pic>
        <p:nvPicPr>
          <p:cNvPr id="15" name="Picture 14">
            <a:extLst>
              <a:ext uri="{FF2B5EF4-FFF2-40B4-BE49-F238E27FC236}">
                <a16:creationId xmlns:a16="http://schemas.microsoft.com/office/drawing/2014/main" id="{91F89D20-AD04-C5B6-2ADA-4A310EB9D6FE}"/>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564107" y="170244"/>
            <a:ext cx="535362" cy="535362"/>
          </a:xfrm>
          <a:prstGeom prst="rect">
            <a:avLst/>
          </a:prstGeom>
        </p:spPr>
      </p:pic>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Lst>
  <p:transition spd="med"/>
  <p:txStyles>
    <p:titleStyle>
      <a:lvl1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1pPr>
      <a:lvl2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2pPr>
      <a:lvl3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3pPr>
      <a:lvl4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4pPr>
      <a:lvl5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5pPr>
      <a:lvl6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6pPr>
      <a:lvl7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7pPr>
      <a:lvl8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8pPr>
      <a:lvl9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9pPr>
    </p:titleStyle>
    <p:bodyStyle>
      <a:lvl1pPr marL="342900" marR="0" indent="-34290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1pPr>
      <a:lvl2pPr marL="783771" marR="0" indent="-326571"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2pPr>
      <a:lvl3pPr marL="1219200" marR="0" indent="-30480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3pPr>
      <a:lvl4pPr marL="17373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4pPr>
      <a:lvl5pPr marL="21945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5pPr>
      <a:lvl6pPr marL="26517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6pPr>
      <a:lvl7pPr marL="31089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7pPr>
      <a:lvl8pPr marL="3566159" marR="0" indent="-365759"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8pPr>
      <a:lvl9pPr marL="4023359" marR="0" indent="-365759"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9pPr>
    </p:bodyStyle>
    <p:otherStyle>
      <a:lvl1pPr marL="0" marR="0" indent="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1pPr>
      <a:lvl2pPr marL="0" marR="0" indent="4572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2pPr>
      <a:lvl3pPr marL="0" marR="0" indent="9144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3pPr>
      <a:lvl4pPr marL="0" marR="0" indent="13716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4pPr>
      <a:lvl5pPr marL="0" marR="0" indent="18288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5pPr>
      <a:lvl6pPr marL="0" marR="0" indent="22860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6pPr>
      <a:lvl7pPr marL="0" marR="0" indent="27432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7pPr>
      <a:lvl8pPr marL="0" marR="0" indent="32004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8pPr>
      <a:lvl9pPr marL="0" marR="0" indent="36576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
        <p:cNvGrpSpPr/>
        <p:nvPr/>
      </p:nvGrpSpPr>
      <p:grpSpPr>
        <a:xfrm>
          <a:off x="0" y="0"/>
          <a:ext cx="0" cy="0"/>
          <a:chOff x="0" y="0"/>
          <a:chExt cx="0" cy="0"/>
        </a:xfrm>
      </p:grpSpPr>
      <p:sp>
        <p:nvSpPr>
          <p:cNvPr id="2"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sp>
        <p:nvSpPr>
          <p:cNvPr id="3" name="Title Text"/>
          <p:cNvSpPr txBox="1">
            <a:spLocks noGrp="1"/>
          </p:cNvSpPr>
          <p:nvPr>
            <p:ph type="title"/>
          </p:nvPr>
        </p:nvSpPr>
        <p:spPr>
          <a:xfrm>
            <a:off x="535570" y="199209"/>
            <a:ext cx="7357752" cy="6639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4" name="Rectangle 11"/>
          <p:cNvSpPr/>
          <p:nvPr/>
        </p:nvSpPr>
        <p:spPr>
          <a:xfrm>
            <a:off x="8497951" y="1"/>
            <a:ext cx="663915" cy="5143501"/>
          </a:xfrm>
          <a:prstGeom prst="rect">
            <a:avLst/>
          </a:prstGeom>
          <a:solidFill>
            <a:srgbClr val="3B3678"/>
          </a:solidFill>
          <a:ln w="12700">
            <a:miter lim="400000"/>
          </a:ln>
        </p:spPr>
        <p:txBody>
          <a:bodyPr lIns="45719" rIns="45719" anchor="ctr"/>
          <a:lstStyle/>
          <a:p>
            <a:pPr algn="ctr">
              <a:defRPr>
                <a:solidFill>
                  <a:srgbClr val="F3F3F3"/>
                </a:solidFill>
              </a:defRPr>
            </a:pPr>
            <a:endParaRPr/>
          </a:p>
        </p:txBody>
      </p:sp>
      <p:sp>
        <p:nvSpPr>
          <p:cNvPr id="5" name="Slide Number Placeholder 5"/>
          <p:cNvSpPr txBox="1"/>
          <p:nvPr/>
        </p:nvSpPr>
        <p:spPr>
          <a:xfrm>
            <a:off x="8600075" y="4820860"/>
            <a:ext cx="460637" cy="252616"/>
          </a:xfrm>
          <a:prstGeom prst="rect">
            <a:avLst/>
          </a:prstGeom>
          <a:ln w="12700">
            <a:miter lim="400000"/>
          </a:ln>
        </p:spPr>
        <p:txBody>
          <a:bodyPr lIns="45719" rIns="45719" anchor="ctr">
            <a:spAutoFit/>
          </a:bodyPr>
          <a:lstStyle/>
          <a:p>
            <a:pPr algn="ctr">
              <a:defRPr sz="1100">
                <a:solidFill>
                  <a:srgbClr val="F3F3F3"/>
                </a:solidFill>
                <a:latin typeface="PT Sans"/>
                <a:ea typeface="PT Sans"/>
                <a:cs typeface="PT Sans"/>
                <a:sym typeface="PT Sans"/>
              </a:defRPr>
            </a:pPr>
            <a:endParaRPr/>
          </a:p>
        </p:txBody>
      </p:sp>
      <p:sp>
        <p:nvSpPr>
          <p:cNvPr id="6" name="Straight Connector 15"/>
          <p:cNvSpPr/>
          <p:nvPr/>
        </p:nvSpPr>
        <p:spPr>
          <a:xfrm>
            <a:off x="153823" y="811850"/>
            <a:ext cx="1051135" cy="1"/>
          </a:xfrm>
          <a:prstGeom prst="line">
            <a:avLst/>
          </a:prstGeom>
          <a:ln w="12700">
            <a:solidFill>
              <a:schemeClr val="accent1"/>
            </a:solidFill>
          </a:ln>
        </p:spPr>
        <p:txBody>
          <a:bodyPr lIns="45719" rIns="45719"/>
          <a:lstStyle/>
          <a:p>
            <a:endParaRPr/>
          </a:p>
        </p:txBody>
      </p:sp>
      <p:sp>
        <p:nvSpPr>
          <p:cNvPr id="8" name="Body Level One…"/>
          <p:cNvSpPr txBox="1">
            <a:spLocks noGrp="1"/>
          </p:cNvSpPr>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9" name="Slide Number"/>
          <p:cNvSpPr txBox="1">
            <a:spLocks noGrp="1"/>
          </p:cNvSpPr>
          <p:nvPr>
            <p:ph type="sldNum" sz="quarter" idx="2"/>
          </p:nvPr>
        </p:nvSpPr>
        <p:spPr>
          <a:xfrm>
            <a:off x="10994391" y="6037580"/>
            <a:ext cx="260030" cy="281941"/>
          </a:xfrm>
          <a:prstGeom prst="rect">
            <a:avLst/>
          </a:prstGeom>
          <a:ln w="12700">
            <a:miter lim="400000"/>
          </a:ln>
        </p:spPr>
        <p:txBody>
          <a:bodyPr wrap="none" lIns="45719" rIns="45719" anchor="ctr">
            <a:spAutoFit/>
          </a:bodyPr>
          <a:lstStyle>
            <a:lvl1pPr algn="ctr">
              <a:defRPr sz="1200">
                <a:solidFill>
                  <a:srgbClr val="F3F3F3"/>
                </a:solidFill>
                <a:latin typeface="Montserrat Thin Regular"/>
                <a:ea typeface="Montserrat Thin Regular"/>
                <a:cs typeface="Montserrat Thin Regular"/>
                <a:sym typeface="Montserrat Thin Regular"/>
              </a:defRPr>
            </a:lvl1pPr>
          </a:lstStyle>
          <a:p>
            <a:fld id="{86CB4B4D-7CA3-9044-876B-883B54F8677D}" type="slidenum">
              <a:t>‹#›</a:t>
            </a:fld>
            <a:endParaRPr/>
          </a:p>
        </p:txBody>
      </p:sp>
      <p:pic>
        <p:nvPicPr>
          <p:cNvPr id="15" name="Picture 14">
            <a:extLst>
              <a:ext uri="{FF2B5EF4-FFF2-40B4-BE49-F238E27FC236}">
                <a16:creationId xmlns:a16="http://schemas.microsoft.com/office/drawing/2014/main" id="{91F89D20-AD04-C5B6-2ADA-4A310EB9D6FE}"/>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564107" y="170244"/>
            <a:ext cx="535362" cy="535362"/>
          </a:xfrm>
          <a:prstGeom prst="rect">
            <a:avLst/>
          </a:prstGeom>
        </p:spPr>
      </p:pic>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Lst>
  <p:transition spd="med"/>
  <p:txStyles>
    <p:titleStyle>
      <a:lvl1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1pPr>
      <a:lvl2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2pPr>
      <a:lvl3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3pPr>
      <a:lvl4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4pPr>
      <a:lvl5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5pPr>
      <a:lvl6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6pPr>
      <a:lvl7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7pPr>
      <a:lvl8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8pPr>
      <a:lvl9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9pPr>
    </p:titleStyle>
    <p:bodyStyle>
      <a:lvl1pPr marL="342900" marR="0" indent="-34290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1pPr>
      <a:lvl2pPr marL="783771" marR="0" indent="-326571"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2pPr>
      <a:lvl3pPr marL="1219200" marR="0" indent="-30480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3pPr>
      <a:lvl4pPr marL="17373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4pPr>
      <a:lvl5pPr marL="21945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5pPr>
      <a:lvl6pPr marL="26517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6pPr>
      <a:lvl7pPr marL="31089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7pPr>
      <a:lvl8pPr marL="3566159" marR="0" indent="-365759"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8pPr>
      <a:lvl9pPr marL="4023359" marR="0" indent="-365759"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9pPr>
    </p:bodyStyle>
    <p:otherStyle>
      <a:lvl1pPr marL="0" marR="0" indent="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1pPr>
      <a:lvl2pPr marL="0" marR="0" indent="4572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2pPr>
      <a:lvl3pPr marL="0" marR="0" indent="9144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3pPr>
      <a:lvl4pPr marL="0" marR="0" indent="13716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4pPr>
      <a:lvl5pPr marL="0" marR="0" indent="18288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5pPr>
      <a:lvl6pPr marL="0" marR="0" indent="22860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6pPr>
      <a:lvl7pPr marL="0" marR="0" indent="27432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7pPr>
      <a:lvl8pPr marL="0" marR="0" indent="32004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8pPr>
      <a:lvl9pPr marL="0" marR="0" indent="36576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image" Target="../media/image16.png"/><Relationship Id="rId4"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image" Target="../media/image16.png"/><Relationship Id="rId4"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3"/>
          <a:stretch>
            <a:fillRect/>
          </a:stretch>
        </p:blipFill>
        <p:spPr>
          <a:xfrm>
            <a:off x="-2" y="0"/>
            <a:ext cx="9172991" cy="5145543"/>
          </a:xfrm>
          <a:prstGeom prst="rect">
            <a:avLst/>
          </a:prstGeom>
        </p:spPr>
      </p:pic>
      <p:sp>
        <p:nvSpPr>
          <p:cNvPr id="3" name="Rectangle 2"/>
          <p:cNvSpPr/>
          <p:nvPr/>
        </p:nvSpPr>
        <p:spPr>
          <a:xfrm>
            <a:off x="-2" y="0"/>
            <a:ext cx="9201152" cy="5145543"/>
          </a:xfrm>
          <a:prstGeom prst="rect">
            <a:avLst/>
          </a:prstGeom>
          <a:solidFill>
            <a:srgbClr val="3B3678">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331019" y="469845"/>
            <a:ext cx="1970166" cy="724006"/>
          </a:xfrm>
          <a:prstGeom prst="rect">
            <a:avLst/>
          </a:prstGeom>
        </p:spPr>
      </p:pic>
      <p:sp>
        <p:nvSpPr>
          <p:cNvPr id="5" name="TextBox 4"/>
          <p:cNvSpPr txBox="1"/>
          <p:nvPr/>
        </p:nvSpPr>
        <p:spPr>
          <a:xfrm>
            <a:off x="1640260" y="466210"/>
            <a:ext cx="6046969" cy="259716"/>
          </a:xfrm>
          <a:prstGeom prst="rect">
            <a:avLst/>
          </a:prstGeom>
          <a:noFill/>
        </p:spPr>
        <p:txBody>
          <a:bodyPr wrap="none">
            <a:spAutoFit/>
          </a:bodyPr>
          <a:lstStyle/>
          <a:p>
            <a:pPr algn="ctr"/>
            <a:r>
              <a:rPr sz="1100" b="1">
                <a:solidFill>
                  <a:srgbClr val="F3F3F3"/>
                </a:solidFill>
                <a:latin typeface="Open Sans"/>
              </a:rPr>
              <a:t>INTRODUCTION MEETING</a:t>
            </a:r>
          </a:p>
        </p:txBody>
      </p:sp>
      <p:sp>
        <p:nvSpPr>
          <p:cNvPr id="6" name="TextBox 5"/>
          <p:cNvSpPr txBox="1"/>
          <p:nvPr/>
        </p:nvSpPr>
        <p:spPr>
          <a:xfrm>
            <a:off x="113306" y="1270000"/>
            <a:ext cx="8917388" cy="1143000"/>
          </a:xfrm>
          <a:prstGeom prst="rect">
            <a:avLst/>
          </a:prstGeom>
          <a:noFill/>
        </p:spPr>
        <p:txBody>
          <a:bodyPr wrap="square" anchor="ctr">
            <a:spAutoFit/>
          </a:bodyPr>
          <a:lstStyle/>
          <a:p>
            <a:pPr algn="ctr"/>
            <a:r>
              <a:rPr sz="3400" b="1" dirty="0">
                <a:solidFill>
                  <a:srgbClr val="F3F3F3"/>
                </a:solidFill>
                <a:latin typeface="Open Sans"/>
              </a:rPr>
              <a:t>SGH Asia and SGS Vietnam: Building Compliance Together</a:t>
            </a:r>
          </a:p>
        </p:txBody>
      </p:sp>
      <p:sp>
        <p:nvSpPr>
          <p:cNvPr id="7" name="TextBox 6"/>
          <p:cNvSpPr txBox="1"/>
          <p:nvPr/>
        </p:nvSpPr>
        <p:spPr>
          <a:xfrm>
            <a:off x="1598058" y="2603500"/>
            <a:ext cx="5947884" cy="381000"/>
          </a:xfrm>
          <a:prstGeom prst="rect">
            <a:avLst/>
          </a:prstGeom>
          <a:noFill/>
        </p:spPr>
        <p:txBody>
          <a:bodyPr wrap="none" anchor="ctr">
            <a:spAutoFit/>
          </a:bodyPr>
          <a:lstStyle/>
          <a:p>
            <a:pPr algn="ctr"/>
            <a:r>
              <a:rPr sz="1500">
                <a:solidFill>
                  <a:srgbClr val="A6A2D5"/>
                </a:solidFill>
                <a:latin typeface="Open Sans"/>
              </a:rPr>
              <a:t>Readiness from us, independent certification from you.</a:t>
            </a:r>
          </a:p>
        </p:txBody>
      </p:sp>
      <p:cxnSp>
        <p:nvCxnSpPr>
          <p:cNvPr id="8" name="Connector 7"/>
          <p:cNvCxnSpPr/>
          <p:nvPr/>
        </p:nvCxnSpPr>
        <p:spPr>
          <a:xfrm>
            <a:off x="4093143" y="3175000"/>
            <a:ext cx="1071128" cy="0"/>
          </a:xfrm>
          <a:prstGeom prst="line">
            <a:avLst/>
          </a:prstGeom>
          <a:ln w="9525">
            <a:solidFill>
              <a:srgbClr val="F3F3F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8000" y="4318000"/>
            <a:ext cx="4318000" cy="254000"/>
          </a:xfrm>
          <a:prstGeom prst="rect">
            <a:avLst/>
          </a:prstGeom>
          <a:noFill/>
        </p:spPr>
        <p:txBody>
          <a:bodyPr wrap="square">
            <a:spAutoFit/>
          </a:bodyPr>
          <a:lstStyle/>
          <a:p>
            <a:pPr algn="l"/>
            <a:r>
              <a:rPr sz="1200">
                <a:solidFill>
                  <a:srgbClr val="F3F3F3"/>
                </a:solidFill>
                <a:latin typeface="Open Sans"/>
              </a:rPr>
              <a:t>Pavel Poskakukhin and Tran My Phuc, SGH Asia</a:t>
            </a:r>
          </a:p>
        </p:txBody>
      </p:sp>
      <p:sp>
        <p:nvSpPr>
          <p:cNvPr id="10" name="TextBox 9"/>
          <p:cNvSpPr txBox="1"/>
          <p:nvPr/>
        </p:nvSpPr>
        <p:spPr>
          <a:xfrm>
            <a:off x="5334000" y="4318000"/>
            <a:ext cx="3302000" cy="254000"/>
          </a:xfrm>
          <a:prstGeom prst="rect">
            <a:avLst/>
          </a:prstGeom>
          <a:noFill/>
        </p:spPr>
        <p:txBody>
          <a:bodyPr wrap="square">
            <a:spAutoFit/>
          </a:bodyPr>
          <a:lstStyle/>
          <a:p>
            <a:pPr algn="r"/>
            <a:r>
              <a:rPr sz="1200">
                <a:solidFill>
                  <a:srgbClr val="F3F3F3"/>
                </a:solidFill>
                <a:latin typeface="Open Sans"/>
              </a:rPr>
              <a:t>7 October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We Are Meeting</a:t>
            </a:r>
          </a:p>
        </p:txBody>
      </p:sp>
      <p:sp>
        <p:nvSpPr>
          <p:cNvPr id="3" name="Subtitle"/>
          <p:cNvSpPr txBox="1"/>
          <p:nvPr/>
        </p:nvSpPr>
        <p:spPr>
          <a:xfrm>
            <a:off x="621792" y="914400"/>
            <a:ext cx="7863840" cy="274320"/>
          </a:xfrm>
          <a:prstGeom prst="rect">
            <a:avLst/>
          </a:prstGeom>
          <a:noFill/>
        </p:spPr>
        <p:txBody>
          <a:bodyPr wrap="square" lIns="0" rIns="0" tIns="0" bIns="0" anchor="t">
            <a:spAutoFit/>
          </a:bodyPr>
          <a:lstStyle/>
          <a:p>
            <a:pPr algn="l"/>
            <a:r>
              <a:rPr sz="1300" b="0" i="1">
                <a:solidFill>
                  <a:srgbClr val="3B3678"/>
                </a:solidFill>
                <a:latin typeface="Open Sans"/>
              </a:rPr>
              <a:t>Firms need readiness first and certification second. We do the first, you do the second.</a:t>
            </a:r>
          </a:p>
        </p:txBody>
      </p:sp>
      <p:sp>
        <p:nvSpPr>
          <p:cNvPr id="4" name="Number"/>
          <p:cNvSpPr/>
          <p:nvPr/>
        </p:nvSpPr>
        <p:spPr>
          <a:xfrm>
            <a:off x="621792" y="1371600"/>
            <a:ext cx="384048" cy="384048"/>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Open Sans"/>
              </a:rPr>
              <a:t>1</a:t>
            </a:r>
          </a:p>
        </p:txBody>
      </p:sp>
      <p:sp>
        <p:nvSpPr>
          <p:cNvPr id="5" name="Column header"/>
          <p:cNvSpPr txBox="1"/>
          <p:nvPr/>
        </p:nvSpPr>
        <p:spPr>
          <a:xfrm>
            <a:off x="1124712" y="1371600"/>
            <a:ext cx="1828800" cy="384048"/>
          </a:xfrm>
          <a:prstGeom prst="rect">
            <a:avLst/>
          </a:prstGeom>
          <a:noFill/>
        </p:spPr>
        <p:txBody>
          <a:bodyPr wrap="square" lIns="0" rIns="0" tIns="0" bIns="0" anchor="ctr">
            <a:spAutoFit/>
          </a:bodyPr>
          <a:lstStyle/>
          <a:p>
            <a:pPr algn="l"/>
            <a:r>
              <a:rPr sz="1800" b="1" i="0">
                <a:solidFill>
                  <a:srgbClr val="3B3678"/>
                </a:solidFill>
                <a:latin typeface="Open Sans"/>
              </a:rPr>
              <a:t>Demand</a:t>
            </a:r>
          </a:p>
        </p:txBody>
      </p:sp>
      <p:sp>
        <p:nvSpPr>
          <p:cNvPr id="6" name="Column body"/>
          <p:cNvSpPr txBox="1"/>
          <p:nvPr/>
        </p:nvSpPr>
        <p:spPr>
          <a:xfrm>
            <a:off x="621792" y="2011680"/>
            <a:ext cx="2377440" cy="2377440"/>
          </a:xfrm>
          <a:prstGeom prst="rect">
            <a:avLst/>
          </a:prstGeom>
          <a:noFill/>
        </p:spPr>
        <p:txBody>
          <a:bodyPr wrap="square" lIns="0" rIns="0" tIns="0" bIns="0" anchor="t">
            <a:spAutoFit/>
          </a:bodyPr>
          <a:lstStyle/>
          <a:p>
            <a:pPr algn="l" marL="228600" indent="-228600">
              <a:spcAft>
                <a:spcPts val="1000"/>
              </a:spcAft>
              <a:buFont typeface="Arial"/>
              <a:buChar char="•"/>
            </a:pPr>
            <a:r>
              <a:rPr sz="1400" b="0" i="0">
                <a:solidFill>
                  <a:srgbClr val="3B3678"/>
                </a:solidFill>
                <a:latin typeface="Open Sans"/>
              </a:rPr>
              <a:t>New rules are pushing firms to ISO 27001, privacy and AI controls</a:t>
            </a:r>
          </a:p>
          <a:p>
            <a:pPr algn="l" marL="228600" indent="-228600">
              <a:spcAft>
                <a:spcPts val="1000"/>
              </a:spcAft>
              <a:buFont typeface="Arial"/>
              <a:buChar char="•"/>
            </a:pPr>
            <a:r>
              <a:rPr sz="1400" b="0" i="0">
                <a:solidFill>
                  <a:srgbClr val="3B3678"/>
                </a:solidFill>
                <a:latin typeface="Open Sans"/>
              </a:rPr>
              <a:t>Many do not know where to start</a:t>
            </a:r>
          </a:p>
        </p:txBody>
      </p:sp>
      <p:cxnSp>
        <p:nvCxnSpPr>
          <p:cNvPr id="7" name="Connector 6"/>
          <p:cNvCxnSpPr/>
          <p:nvPr/>
        </p:nvCxnSpPr>
        <p:spPr>
          <a:xfrm>
            <a:off x="3136392" y="1371600"/>
            <a:ext cx="0" cy="2286000"/>
          </a:xfrm>
          <a:prstGeom prst="line">
            <a:avLst/>
          </a:prstGeom>
          <a:ln w="9525">
            <a:solidFill>
              <a:srgbClr val="A7A7A7"/>
            </a:solidFill>
          </a:ln>
        </p:spPr>
        <p:style>
          <a:lnRef idx="2">
            <a:schemeClr val="accent1"/>
          </a:lnRef>
          <a:fillRef idx="0">
            <a:schemeClr val="accent1"/>
          </a:fillRef>
          <a:effectRef idx="1">
            <a:schemeClr val="accent1"/>
          </a:effectRef>
          <a:fontRef idx="minor">
            <a:schemeClr val="tx1"/>
          </a:fontRef>
        </p:style>
      </p:cxnSp>
      <p:sp>
        <p:nvSpPr>
          <p:cNvPr id="8" name="Number"/>
          <p:cNvSpPr/>
          <p:nvPr/>
        </p:nvSpPr>
        <p:spPr>
          <a:xfrm>
            <a:off x="3319272" y="1371600"/>
            <a:ext cx="384048" cy="384048"/>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Open Sans"/>
              </a:rPr>
              <a:t>2</a:t>
            </a:r>
          </a:p>
        </p:txBody>
      </p:sp>
      <p:sp>
        <p:nvSpPr>
          <p:cNvPr id="9" name="Column header"/>
          <p:cNvSpPr txBox="1"/>
          <p:nvPr/>
        </p:nvSpPr>
        <p:spPr>
          <a:xfrm>
            <a:off x="3822192" y="1371600"/>
            <a:ext cx="1828800" cy="384048"/>
          </a:xfrm>
          <a:prstGeom prst="rect">
            <a:avLst/>
          </a:prstGeom>
          <a:noFill/>
        </p:spPr>
        <p:txBody>
          <a:bodyPr wrap="square" lIns="0" rIns="0" tIns="0" bIns="0" anchor="ctr">
            <a:spAutoFit/>
          </a:bodyPr>
          <a:lstStyle/>
          <a:p>
            <a:pPr algn="l"/>
            <a:r>
              <a:rPr sz="1800" b="1" i="0">
                <a:solidFill>
                  <a:srgbClr val="3B3678"/>
                </a:solidFill>
                <a:latin typeface="Open Sans"/>
              </a:rPr>
              <a:t>Fit</a:t>
            </a:r>
          </a:p>
        </p:txBody>
      </p:sp>
      <p:sp>
        <p:nvSpPr>
          <p:cNvPr id="10" name="Column body"/>
          <p:cNvSpPr txBox="1"/>
          <p:nvPr/>
        </p:nvSpPr>
        <p:spPr>
          <a:xfrm>
            <a:off x="3319272" y="2011680"/>
            <a:ext cx="2377440" cy="2377440"/>
          </a:xfrm>
          <a:prstGeom prst="rect">
            <a:avLst/>
          </a:prstGeom>
          <a:noFill/>
        </p:spPr>
        <p:txBody>
          <a:bodyPr wrap="square" lIns="0" rIns="0" tIns="0" bIns="0" anchor="t">
            <a:spAutoFit/>
          </a:bodyPr>
          <a:lstStyle/>
          <a:p>
            <a:pPr algn="l" marL="228600" indent="-228600">
              <a:spcAft>
                <a:spcPts val="1000"/>
              </a:spcAft>
              <a:buFont typeface="Arial"/>
              <a:buChar char="•"/>
            </a:pPr>
            <a:r>
              <a:rPr sz="1400" b="0" i="0">
                <a:solidFill>
                  <a:srgbClr val="3B3678"/>
                </a:solidFill>
                <a:latin typeface="Open Sans"/>
              </a:rPr>
              <a:t>SGH Asia prepares and implements</a:t>
            </a:r>
          </a:p>
          <a:p>
            <a:pPr algn="l" marL="228600" indent="-228600">
              <a:spcAft>
                <a:spcPts val="1000"/>
              </a:spcAft>
              <a:buFont typeface="Arial"/>
              <a:buChar char="•"/>
            </a:pPr>
            <a:r>
              <a:rPr sz="1400" b="0" i="0">
                <a:solidFill>
                  <a:srgbClr val="3B3678"/>
                </a:solidFill>
                <a:latin typeface="Open Sans"/>
              </a:rPr>
              <a:t>SGS certifies, independently</a:t>
            </a:r>
          </a:p>
        </p:txBody>
      </p:sp>
      <p:cxnSp>
        <p:nvCxnSpPr>
          <p:cNvPr id="11" name="Connector 10"/>
          <p:cNvCxnSpPr/>
          <p:nvPr/>
        </p:nvCxnSpPr>
        <p:spPr>
          <a:xfrm>
            <a:off x="5833872" y="1371600"/>
            <a:ext cx="0" cy="2286000"/>
          </a:xfrm>
          <a:prstGeom prst="line">
            <a:avLst/>
          </a:prstGeom>
          <a:ln w="9525">
            <a:solidFill>
              <a:srgbClr val="A7A7A7"/>
            </a:solidFill>
          </a:ln>
        </p:spPr>
        <p:style>
          <a:lnRef idx="2">
            <a:schemeClr val="accent1"/>
          </a:lnRef>
          <a:fillRef idx="0">
            <a:schemeClr val="accent1"/>
          </a:fillRef>
          <a:effectRef idx="1">
            <a:schemeClr val="accent1"/>
          </a:effectRef>
          <a:fontRef idx="minor">
            <a:schemeClr val="tx1"/>
          </a:fontRef>
        </p:style>
      </p:cxnSp>
      <p:sp>
        <p:nvSpPr>
          <p:cNvPr id="12" name="Number"/>
          <p:cNvSpPr/>
          <p:nvPr/>
        </p:nvSpPr>
        <p:spPr>
          <a:xfrm>
            <a:off x="6016752" y="1371600"/>
            <a:ext cx="384048" cy="384048"/>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Open Sans"/>
              </a:rPr>
              <a:t>3</a:t>
            </a:r>
          </a:p>
        </p:txBody>
      </p:sp>
      <p:sp>
        <p:nvSpPr>
          <p:cNvPr id="13" name="Column header"/>
          <p:cNvSpPr txBox="1"/>
          <p:nvPr/>
        </p:nvSpPr>
        <p:spPr>
          <a:xfrm>
            <a:off x="6519672" y="1371600"/>
            <a:ext cx="1828800" cy="384048"/>
          </a:xfrm>
          <a:prstGeom prst="rect">
            <a:avLst/>
          </a:prstGeom>
          <a:noFill/>
        </p:spPr>
        <p:txBody>
          <a:bodyPr wrap="square" lIns="0" rIns="0" tIns="0" bIns="0" anchor="ctr">
            <a:spAutoFit/>
          </a:bodyPr>
          <a:lstStyle/>
          <a:p>
            <a:pPr algn="l"/>
            <a:r>
              <a:rPr sz="1800" b="1" i="0">
                <a:solidFill>
                  <a:srgbClr val="3B3678"/>
                </a:solidFill>
                <a:latin typeface="Open Sans"/>
              </a:rPr>
              <a:t>Ask</a:t>
            </a:r>
          </a:p>
        </p:txBody>
      </p:sp>
      <p:sp>
        <p:nvSpPr>
          <p:cNvPr id="14" name="Column body"/>
          <p:cNvSpPr txBox="1"/>
          <p:nvPr/>
        </p:nvSpPr>
        <p:spPr>
          <a:xfrm>
            <a:off x="6016752" y="2011680"/>
            <a:ext cx="2377440" cy="2377440"/>
          </a:xfrm>
          <a:prstGeom prst="rect">
            <a:avLst/>
          </a:prstGeom>
          <a:noFill/>
        </p:spPr>
        <p:txBody>
          <a:bodyPr wrap="square" lIns="0" rIns="0" tIns="0" bIns="0" anchor="t">
            <a:spAutoFit/>
          </a:bodyPr>
          <a:lstStyle/>
          <a:p>
            <a:pPr algn="l" marL="228600" indent="-228600">
              <a:spcAft>
                <a:spcPts val="1000"/>
              </a:spcAft>
              <a:buFont typeface="Arial"/>
              <a:buChar char="•"/>
            </a:pPr>
            <a:r>
              <a:rPr sz="1400" b="0" i="0">
                <a:solidFill>
                  <a:srgbClr val="3B3678"/>
                </a:solidFill>
                <a:latin typeface="Open Sans"/>
              </a:rPr>
              <a:t>Agree one pilot idea</a:t>
            </a:r>
          </a:p>
          <a:p>
            <a:pPr algn="l" marL="228600" indent="-228600">
              <a:spcAft>
                <a:spcPts val="1000"/>
              </a:spcAft>
              <a:buFont typeface="Arial"/>
              <a:buChar char="•"/>
            </a:pPr>
            <a:r>
              <a:rPr sz="1400" b="0" i="0">
                <a:solidFill>
                  <a:srgbClr val="3B3678"/>
                </a:solidFill>
                <a:latin typeface="Open Sans"/>
              </a:rPr>
              <a:t>Name one contact on each side</a:t>
            </a:r>
          </a:p>
        </p:txBody>
      </p:sp>
      <p:cxnSp>
        <p:nvCxnSpPr>
          <p:cNvPr id="15" name="Connector 14"/>
          <p:cNvCxnSpPr/>
          <p:nvPr/>
        </p:nvCxnSpPr>
        <p:spPr>
          <a:xfrm>
            <a:off x="731520" y="3840480"/>
            <a:ext cx="76809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16" name="Marker"/>
          <p:cNvSpPr/>
          <p:nvPr/>
        </p:nvSpPr>
        <p:spPr>
          <a:xfrm>
            <a:off x="621792" y="3739896"/>
            <a:ext cx="201168" cy="201168"/>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17" name="Contact date"/>
          <p:cNvSpPr txBox="1"/>
          <p:nvPr/>
        </p:nvSpPr>
        <p:spPr>
          <a:xfrm>
            <a:off x="896112" y="3657600"/>
            <a:ext cx="1737360" cy="182880"/>
          </a:xfrm>
          <a:prstGeom prst="rect">
            <a:avLst/>
          </a:prstGeom>
          <a:noFill/>
        </p:spPr>
        <p:txBody>
          <a:bodyPr wrap="square" lIns="0" rIns="0" tIns="0" bIns="0" anchor="t">
            <a:spAutoFit/>
          </a:bodyPr>
          <a:lstStyle/>
          <a:p>
            <a:pPr algn="l"/>
            <a:r>
              <a:rPr sz="1100" b="1" i="0">
                <a:solidFill>
                  <a:srgbClr val="3B3678"/>
                </a:solidFill>
                <a:latin typeface="Open Sans"/>
              </a:rPr>
              <a:t>8 Jul</a:t>
            </a:r>
          </a:p>
        </p:txBody>
      </p:sp>
      <p:sp>
        <p:nvSpPr>
          <p:cNvPr id="18" name="Contact text"/>
          <p:cNvSpPr txBox="1"/>
          <p:nvPr/>
        </p:nvSpPr>
        <p:spPr>
          <a:xfrm>
            <a:off x="896112" y="4069080"/>
            <a:ext cx="1737360" cy="457200"/>
          </a:xfrm>
          <a:prstGeom prst="rect">
            <a:avLst/>
          </a:prstGeom>
          <a:noFill/>
        </p:spPr>
        <p:txBody>
          <a:bodyPr wrap="square" lIns="0" rIns="0" tIns="0" bIns="0" anchor="t">
            <a:spAutoFit/>
          </a:bodyPr>
          <a:lstStyle/>
          <a:p>
            <a:pPr algn="l"/>
            <a:r>
              <a:rPr sz="1100" b="0" i="0">
                <a:solidFill>
                  <a:srgbClr val="3B3678"/>
                </a:solidFill>
                <a:latin typeface="Open Sans"/>
              </a:rPr>
              <a:t>First note, via EuroCham directory</a:t>
            </a:r>
          </a:p>
        </p:txBody>
      </p:sp>
      <p:sp>
        <p:nvSpPr>
          <p:cNvPr id="19" name="Marker"/>
          <p:cNvSpPr/>
          <p:nvPr/>
        </p:nvSpPr>
        <p:spPr>
          <a:xfrm>
            <a:off x="2679192" y="3739896"/>
            <a:ext cx="201168" cy="201168"/>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20" name="Contact date"/>
          <p:cNvSpPr txBox="1"/>
          <p:nvPr/>
        </p:nvSpPr>
        <p:spPr>
          <a:xfrm>
            <a:off x="2953512" y="3657600"/>
            <a:ext cx="1737360" cy="182880"/>
          </a:xfrm>
          <a:prstGeom prst="rect">
            <a:avLst/>
          </a:prstGeom>
          <a:noFill/>
        </p:spPr>
        <p:txBody>
          <a:bodyPr wrap="square" lIns="0" rIns="0" tIns="0" bIns="0" anchor="t">
            <a:spAutoFit/>
          </a:bodyPr>
          <a:lstStyle/>
          <a:p>
            <a:pPr algn="l"/>
            <a:r>
              <a:rPr sz="1100" b="1" i="0">
                <a:solidFill>
                  <a:srgbClr val="3B3678"/>
                </a:solidFill>
                <a:latin typeface="Open Sans"/>
              </a:rPr>
              <a:t>13 Jul</a:t>
            </a:r>
          </a:p>
        </p:txBody>
      </p:sp>
      <p:sp>
        <p:nvSpPr>
          <p:cNvPr id="21" name="Contact text"/>
          <p:cNvSpPr txBox="1"/>
          <p:nvPr/>
        </p:nvSpPr>
        <p:spPr>
          <a:xfrm>
            <a:off x="2953512" y="4069080"/>
            <a:ext cx="1737360" cy="457200"/>
          </a:xfrm>
          <a:prstGeom prst="rect">
            <a:avLst/>
          </a:prstGeom>
          <a:noFill/>
        </p:spPr>
        <p:txBody>
          <a:bodyPr wrap="square" lIns="0" rIns="0" tIns="0" bIns="0" anchor="t">
            <a:spAutoFit/>
          </a:bodyPr>
          <a:lstStyle/>
          <a:p>
            <a:pPr algn="l"/>
            <a:r>
              <a:rPr sz="1100" b="0" i="0">
                <a:solidFill>
                  <a:srgbClr val="3B3678"/>
                </a:solidFill>
                <a:latin typeface="Open Sans"/>
              </a:rPr>
              <a:t>Introductory call</a:t>
            </a:r>
          </a:p>
        </p:txBody>
      </p:sp>
      <p:sp>
        <p:nvSpPr>
          <p:cNvPr id="22" name="Marker"/>
          <p:cNvSpPr/>
          <p:nvPr/>
        </p:nvSpPr>
        <p:spPr>
          <a:xfrm>
            <a:off x="4736592" y="3739896"/>
            <a:ext cx="201168" cy="201168"/>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23" name="Contact date"/>
          <p:cNvSpPr txBox="1"/>
          <p:nvPr/>
        </p:nvSpPr>
        <p:spPr>
          <a:xfrm>
            <a:off x="5010912" y="3657600"/>
            <a:ext cx="1737360" cy="182880"/>
          </a:xfrm>
          <a:prstGeom prst="rect">
            <a:avLst/>
          </a:prstGeom>
          <a:noFill/>
        </p:spPr>
        <p:txBody>
          <a:bodyPr wrap="square" lIns="0" rIns="0" tIns="0" bIns="0" anchor="t">
            <a:spAutoFit/>
          </a:bodyPr>
          <a:lstStyle/>
          <a:p>
            <a:pPr algn="l"/>
            <a:r>
              <a:rPr sz="1100" b="1" i="0">
                <a:solidFill>
                  <a:srgbClr val="3B3678"/>
                </a:solidFill>
                <a:latin typeface="Open Sans"/>
              </a:rPr>
              <a:t>14 Aug</a:t>
            </a:r>
          </a:p>
        </p:txBody>
      </p:sp>
      <p:sp>
        <p:nvSpPr>
          <p:cNvPr id="24" name="Contact text"/>
          <p:cNvSpPr txBox="1"/>
          <p:nvPr/>
        </p:nvSpPr>
        <p:spPr>
          <a:xfrm>
            <a:off x="5010912" y="4069080"/>
            <a:ext cx="1737360" cy="457200"/>
          </a:xfrm>
          <a:prstGeom prst="rect">
            <a:avLst/>
          </a:prstGeom>
          <a:noFill/>
        </p:spPr>
        <p:txBody>
          <a:bodyPr wrap="square" lIns="0" rIns="0" tIns="0" bIns="0" anchor="t">
            <a:spAutoFit/>
          </a:bodyPr>
          <a:lstStyle/>
          <a:p>
            <a:pPr algn="l"/>
            <a:r>
              <a:rPr sz="1100" b="0" i="0">
                <a:solidFill>
                  <a:srgbClr val="3B3678"/>
                </a:solidFill>
                <a:latin typeface="Open Sans"/>
              </a:rPr>
              <a:t>Coffee</a:t>
            </a:r>
          </a:p>
        </p:txBody>
      </p:sp>
      <p:sp>
        <p:nvSpPr>
          <p:cNvPr id="25" name="Marker"/>
          <p:cNvSpPr/>
          <p:nvPr/>
        </p:nvSpPr>
        <p:spPr>
          <a:xfrm>
            <a:off x="6793992" y="3739896"/>
            <a:ext cx="201168" cy="201168"/>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26" name="Contact date"/>
          <p:cNvSpPr txBox="1"/>
          <p:nvPr/>
        </p:nvSpPr>
        <p:spPr>
          <a:xfrm>
            <a:off x="7068312" y="3657600"/>
            <a:ext cx="1737360" cy="182880"/>
          </a:xfrm>
          <a:prstGeom prst="rect">
            <a:avLst/>
          </a:prstGeom>
          <a:noFill/>
        </p:spPr>
        <p:txBody>
          <a:bodyPr wrap="square" lIns="0" rIns="0" tIns="0" bIns="0" anchor="t">
            <a:spAutoFit/>
          </a:bodyPr>
          <a:lstStyle/>
          <a:p>
            <a:pPr algn="l"/>
            <a:r>
              <a:rPr sz="1100" b="1" i="0">
                <a:solidFill>
                  <a:srgbClr val="3B3678"/>
                </a:solidFill>
                <a:latin typeface="Open Sans"/>
              </a:rPr>
              <a:t>7 Oct</a:t>
            </a:r>
          </a:p>
        </p:txBody>
      </p:sp>
      <p:sp>
        <p:nvSpPr>
          <p:cNvPr id="27" name="Contact text"/>
          <p:cNvSpPr txBox="1"/>
          <p:nvPr/>
        </p:nvSpPr>
        <p:spPr>
          <a:xfrm>
            <a:off x="7068312" y="4069080"/>
            <a:ext cx="1737360" cy="457200"/>
          </a:xfrm>
          <a:prstGeom prst="rect">
            <a:avLst/>
          </a:prstGeom>
          <a:noFill/>
        </p:spPr>
        <p:txBody>
          <a:bodyPr wrap="square" lIns="0" rIns="0" tIns="0" bIns="0" anchor="t">
            <a:spAutoFit/>
          </a:bodyPr>
          <a:lstStyle/>
          <a:p>
            <a:pPr algn="l"/>
            <a:r>
              <a:rPr sz="1100" b="0" i="0">
                <a:solidFill>
                  <a:srgbClr val="3B3678"/>
                </a:solidFill>
                <a:latin typeface="Open Sans"/>
              </a:rPr>
              <a:t>Meeting with Jane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Compliance Wave Is Arriving</a:t>
            </a:r>
          </a:p>
        </p:txBody>
      </p:sp>
      <p:sp>
        <p:nvSpPr>
          <p:cNvPr id="3" name="Subtitle"/>
          <p:cNvSpPr txBox="1"/>
          <p:nvPr/>
        </p:nvSpPr>
        <p:spPr>
          <a:xfrm>
            <a:off x="621792" y="914400"/>
            <a:ext cx="7863840" cy="274320"/>
          </a:xfrm>
          <a:prstGeom prst="rect">
            <a:avLst/>
          </a:prstGeom>
          <a:noFill/>
        </p:spPr>
        <p:txBody>
          <a:bodyPr wrap="square" lIns="0" rIns="0" tIns="0" bIns="0" anchor="t">
            <a:spAutoFit/>
          </a:bodyPr>
          <a:lstStyle/>
          <a:p>
            <a:pPr algn="l"/>
            <a:r>
              <a:rPr sz="1300" b="0" i="1">
                <a:solidFill>
                  <a:srgbClr val="3B3678"/>
                </a:solidFill>
                <a:latin typeface="Open Sans"/>
              </a:rPr>
              <a:t>Three rules in 13 months. Each one creates readiness work, then a need for assurance.</a:t>
            </a:r>
          </a:p>
        </p:txBody>
      </p:sp>
      <p:cxnSp>
        <p:nvCxnSpPr>
          <p:cNvPr id="4" name="Connector 3"/>
          <p:cNvCxnSpPr/>
          <p:nvPr/>
        </p:nvCxnSpPr>
        <p:spPr>
          <a:xfrm>
            <a:off x="1737360" y="1874519"/>
            <a:ext cx="5669280" cy="0"/>
          </a:xfrm>
          <a:prstGeom prst="line">
            <a:avLst/>
          </a:prstGeom>
          <a:ln w="19050">
            <a:solidFill>
              <a:srgbClr val="A7A7A7"/>
            </a:solidFill>
          </a:ln>
        </p:spPr>
        <p:style>
          <a:lnRef idx="2">
            <a:schemeClr val="accent1"/>
          </a:lnRef>
          <a:fillRef idx="0">
            <a:schemeClr val="accent1"/>
          </a:fillRef>
          <a:effectRef idx="1">
            <a:schemeClr val="accent1"/>
          </a:effectRef>
          <a:fontRef idx="minor">
            <a:schemeClr val="tx1"/>
          </a:fontRef>
        </p:style>
      </p:cxnSp>
      <p:sp>
        <p:nvSpPr>
          <p:cNvPr id="5" name="Date"/>
          <p:cNvSpPr txBox="1"/>
          <p:nvPr/>
        </p:nvSpPr>
        <p:spPr>
          <a:xfrm>
            <a:off x="548639" y="1371600"/>
            <a:ext cx="2377440" cy="274320"/>
          </a:xfrm>
          <a:prstGeom prst="rect">
            <a:avLst/>
          </a:prstGeom>
          <a:noFill/>
        </p:spPr>
        <p:txBody>
          <a:bodyPr wrap="square" lIns="0" rIns="0" tIns="0" bIns="0" anchor="t">
            <a:spAutoFit/>
          </a:bodyPr>
          <a:lstStyle/>
          <a:p>
            <a:pPr algn="ctr"/>
            <a:r>
              <a:rPr sz="1500" b="1" i="0">
                <a:solidFill>
                  <a:srgbClr val="3B3678"/>
                </a:solidFill>
                <a:latin typeface="Open Sans"/>
              </a:rPr>
              <a:t>01 Jun 2025</a:t>
            </a:r>
          </a:p>
        </p:txBody>
      </p:sp>
      <p:sp>
        <p:nvSpPr>
          <p:cNvPr id="6" name="Marker"/>
          <p:cNvSpPr/>
          <p:nvPr/>
        </p:nvSpPr>
        <p:spPr>
          <a:xfrm>
            <a:off x="1618488" y="1755648"/>
            <a:ext cx="237744" cy="237744"/>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7" name="Rule title"/>
          <p:cNvSpPr txBox="1"/>
          <p:nvPr/>
        </p:nvSpPr>
        <p:spPr>
          <a:xfrm>
            <a:off x="548639" y="2240280"/>
            <a:ext cx="2377440" cy="274320"/>
          </a:xfrm>
          <a:prstGeom prst="rect">
            <a:avLst/>
          </a:prstGeom>
          <a:noFill/>
        </p:spPr>
        <p:txBody>
          <a:bodyPr wrap="square" lIns="0" rIns="0" tIns="0" bIns="0" anchor="t">
            <a:spAutoFit/>
          </a:bodyPr>
          <a:lstStyle/>
          <a:p>
            <a:pPr algn="ctr"/>
            <a:r>
              <a:rPr sz="1400" b="1" i="0">
                <a:solidFill>
                  <a:srgbClr val="3B3678"/>
                </a:solidFill>
                <a:latin typeface="Open Sans"/>
              </a:rPr>
              <a:t>E-invoicing</a:t>
            </a:r>
          </a:p>
        </p:txBody>
      </p:sp>
      <p:sp>
        <p:nvSpPr>
          <p:cNvPr id="8" name="Rule text"/>
          <p:cNvSpPr txBox="1"/>
          <p:nvPr/>
        </p:nvSpPr>
        <p:spPr>
          <a:xfrm>
            <a:off x="548639" y="2606040"/>
            <a:ext cx="2377440" cy="1371600"/>
          </a:xfrm>
          <a:prstGeom prst="rect">
            <a:avLst/>
          </a:prstGeom>
          <a:noFill/>
        </p:spPr>
        <p:txBody>
          <a:bodyPr wrap="square" lIns="0" rIns="0" tIns="0" bIns="0" anchor="t">
            <a:spAutoFit/>
          </a:bodyPr>
          <a:lstStyle/>
          <a:p>
            <a:pPr algn="ctr"/>
            <a:r>
              <a:rPr sz="1200" b="0" i="0">
                <a:solidFill>
                  <a:srgbClr val="3B3678"/>
                </a:solidFill>
                <a:latin typeface="Open Sans"/>
              </a:rPr>
              <a:t>Decree 70/2025 and Circular 32/2025 widen the scope. Consumer-facing firms connect point-of-sale systems to the tax authority.</a:t>
            </a:r>
          </a:p>
        </p:txBody>
      </p:sp>
      <p:sp>
        <p:nvSpPr>
          <p:cNvPr id="9" name="Date"/>
          <p:cNvSpPr txBox="1"/>
          <p:nvPr/>
        </p:nvSpPr>
        <p:spPr>
          <a:xfrm>
            <a:off x="3383280" y="1371600"/>
            <a:ext cx="2377440" cy="274320"/>
          </a:xfrm>
          <a:prstGeom prst="rect">
            <a:avLst/>
          </a:prstGeom>
          <a:noFill/>
        </p:spPr>
        <p:txBody>
          <a:bodyPr wrap="square" lIns="0" rIns="0" tIns="0" bIns="0" anchor="t">
            <a:spAutoFit/>
          </a:bodyPr>
          <a:lstStyle/>
          <a:p>
            <a:pPr algn="ctr"/>
            <a:r>
              <a:rPr sz="1500" b="1" i="0">
                <a:solidFill>
                  <a:srgbClr val="3B3678"/>
                </a:solidFill>
                <a:latin typeface="Open Sans"/>
              </a:rPr>
              <a:t>01 Jan 2026</a:t>
            </a:r>
          </a:p>
        </p:txBody>
      </p:sp>
      <p:sp>
        <p:nvSpPr>
          <p:cNvPr id="10" name="Marker"/>
          <p:cNvSpPr/>
          <p:nvPr/>
        </p:nvSpPr>
        <p:spPr>
          <a:xfrm>
            <a:off x="4453128" y="1755648"/>
            <a:ext cx="237744" cy="237744"/>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11" name="Rule title"/>
          <p:cNvSpPr txBox="1"/>
          <p:nvPr/>
        </p:nvSpPr>
        <p:spPr>
          <a:xfrm>
            <a:off x="3383280" y="2240280"/>
            <a:ext cx="2377440" cy="274320"/>
          </a:xfrm>
          <a:prstGeom prst="rect">
            <a:avLst/>
          </a:prstGeom>
          <a:noFill/>
        </p:spPr>
        <p:txBody>
          <a:bodyPr wrap="square" lIns="0" rIns="0" tIns="0" bIns="0" anchor="t">
            <a:spAutoFit/>
          </a:bodyPr>
          <a:lstStyle/>
          <a:p>
            <a:pPr algn="ctr"/>
            <a:r>
              <a:rPr sz="1400" b="1" i="0">
                <a:solidFill>
                  <a:srgbClr val="3B3678"/>
                </a:solidFill>
                <a:latin typeface="Open Sans"/>
              </a:rPr>
              <a:t>Personal data</a:t>
            </a:r>
          </a:p>
        </p:txBody>
      </p:sp>
      <p:sp>
        <p:nvSpPr>
          <p:cNvPr id="12" name="Rule text"/>
          <p:cNvSpPr txBox="1"/>
          <p:nvPr/>
        </p:nvSpPr>
        <p:spPr>
          <a:xfrm>
            <a:off x="3383280" y="2606040"/>
            <a:ext cx="2377440" cy="1371600"/>
          </a:xfrm>
          <a:prstGeom prst="rect">
            <a:avLst/>
          </a:prstGeom>
          <a:noFill/>
        </p:spPr>
        <p:txBody>
          <a:bodyPr wrap="square" lIns="0" rIns="0" tIns="0" bIns="0" anchor="t">
            <a:spAutoFit/>
          </a:bodyPr>
          <a:lstStyle/>
          <a:p>
            <a:pPr algn="ctr"/>
            <a:r>
              <a:rPr sz="1200" b="0" i="0">
                <a:solidFill>
                  <a:srgbClr val="3B3678"/>
                </a:solidFill>
                <a:latin typeface="Open Sans"/>
              </a:rPr>
              <a:t>Law 91/2025: enforceable data subject rights, DPO and impact assessment duties, fines and criminal penalties.</a:t>
            </a:r>
          </a:p>
        </p:txBody>
      </p:sp>
      <p:sp>
        <p:nvSpPr>
          <p:cNvPr id="13" name="Date"/>
          <p:cNvSpPr txBox="1"/>
          <p:nvPr/>
        </p:nvSpPr>
        <p:spPr>
          <a:xfrm>
            <a:off x="6217920" y="1371600"/>
            <a:ext cx="2377440" cy="274320"/>
          </a:xfrm>
          <a:prstGeom prst="rect">
            <a:avLst/>
          </a:prstGeom>
          <a:noFill/>
        </p:spPr>
        <p:txBody>
          <a:bodyPr wrap="square" lIns="0" rIns="0" tIns="0" bIns="0" anchor="t">
            <a:spAutoFit/>
          </a:bodyPr>
          <a:lstStyle/>
          <a:p>
            <a:pPr algn="ctr"/>
            <a:r>
              <a:rPr sz="1500" b="1" i="0">
                <a:solidFill>
                  <a:srgbClr val="3B3678"/>
                </a:solidFill>
                <a:latin typeface="Open Sans"/>
              </a:rPr>
              <a:t>01 Jul 2026</a:t>
            </a:r>
          </a:p>
        </p:txBody>
      </p:sp>
      <p:sp>
        <p:nvSpPr>
          <p:cNvPr id="14" name="Marker"/>
          <p:cNvSpPr/>
          <p:nvPr/>
        </p:nvSpPr>
        <p:spPr>
          <a:xfrm>
            <a:off x="7287768" y="1755648"/>
            <a:ext cx="237744" cy="237744"/>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15" name="Rule title"/>
          <p:cNvSpPr txBox="1"/>
          <p:nvPr/>
        </p:nvSpPr>
        <p:spPr>
          <a:xfrm>
            <a:off x="6217920" y="2240280"/>
            <a:ext cx="2377440" cy="274320"/>
          </a:xfrm>
          <a:prstGeom prst="rect">
            <a:avLst/>
          </a:prstGeom>
          <a:noFill/>
        </p:spPr>
        <p:txBody>
          <a:bodyPr wrap="square" lIns="0" rIns="0" tIns="0" bIns="0" anchor="t">
            <a:spAutoFit/>
          </a:bodyPr>
          <a:lstStyle/>
          <a:p>
            <a:pPr algn="ctr"/>
            <a:r>
              <a:rPr sz="1400" b="1" i="0">
                <a:solidFill>
                  <a:srgbClr val="3B3678"/>
                </a:solidFill>
                <a:latin typeface="Open Sans"/>
              </a:rPr>
              <a:t>Cybersecurity</a:t>
            </a:r>
          </a:p>
        </p:txBody>
      </p:sp>
      <p:sp>
        <p:nvSpPr>
          <p:cNvPr id="16" name="Rule text"/>
          <p:cNvSpPr txBox="1"/>
          <p:nvPr/>
        </p:nvSpPr>
        <p:spPr>
          <a:xfrm>
            <a:off x="6217920" y="2606040"/>
            <a:ext cx="2377440" cy="1371600"/>
          </a:xfrm>
          <a:prstGeom prst="rect">
            <a:avLst/>
          </a:prstGeom>
          <a:noFill/>
        </p:spPr>
        <p:txBody>
          <a:bodyPr wrap="square" lIns="0" rIns="0" tIns="0" bIns="0" anchor="t">
            <a:spAutoFit/>
          </a:bodyPr>
          <a:lstStyle/>
          <a:p>
            <a:pPr algn="ctr"/>
            <a:r>
              <a:rPr sz="1200" b="0" i="0">
                <a:solidFill>
                  <a:srgbClr val="3B3678"/>
                </a:solidFill>
                <a:latin typeface="Open Sans"/>
              </a:rPr>
              <a:t>Law 116/2025: covered online-service providers store personal and user data in Vietnam.</a:t>
            </a:r>
          </a:p>
        </p:txBody>
      </p:sp>
      <p:sp>
        <p:nvSpPr>
          <p:cNvPr id="17" name="Source"/>
          <p:cNvSpPr txBox="1"/>
          <p:nvPr/>
        </p:nvSpPr>
        <p:spPr>
          <a:xfrm>
            <a:off x="621792" y="4297680"/>
            <a:ext cx="7863840" cy="274320"/>
          </a:xfrm>
          <a:prstGeom prst="rect">
            <a:avLst/>
          </a:prstGeom>
          <a:noFill/>
        </p:spPr>
        <p:txBody>
          <a:bodyPr wrap="square" lIns="0" rIns="0" tIns="0" bIns="0" anchor="t">
            <a:spAutoFit/>
          </a:bodyPr>
          <a:lstStyle/>
          <a:p>
            <a:pPr algn="l"/>
            <a:r>
              <a:rPr sz="1000" b="0" i="1">
                <a:solidFill>
                  <a:srgbClr val="6B6B6B"/>
                </a:solidFill>
                <a:latin typeface="Open Sans"/>
              </a:rPr>
              <a:t>Dates from public summaries; to be confirmed against the official texts.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Who We Are: SGH Asia</a:t>
            </a:r>
          </a:p>
        </p:txBody>
      </p:sp>
      <p:sp>
        <p:nvSpPr>
          <p:cNvPr id="3" name="Subtitle"/>
          <p:cNvSpPr txBox="1"/>
          <p:nvPr/>
        </p:nvSpPr>
        <p:spPr>
          <a:xfrm>
            <a:off x="621792" y="914400"/>
            <a:ext cx="7863840" cy="274320"/>
          </a:xfrm>
          <a:prstGeom prst="rect">
            <a:avLst/>
          </a:prstGeom>
          <a:noFill/>
        </p:spPr>
        <p:txBody>
          <a:bodyPr wrap="square" lIns="0" rIns="0" tIns="0" bIns="0" anchor="t">
            <a:spAutoFit/>
          </a:bodyPr>
          <a:lstStyle/>
          <a:p>
            <a:pPr algn="l"/>
            <a:r>
              <a:rPr sz="1300" b="0" i="1">
                <a:solidFill>
                  <a:srgbClr val="3B3678"/>
                </a:solidFill>
                <a:latin typeface="Open Sans"/>
              </a:rPr>
              <a:t>Practical compliance for firms working between Europe and Asia-Pacific.</a:t>
            </a:r>
          </a:p>
        </p:txBody>
      </p:sp>
      <p:sp>
        <p:nvSpPr>
          <p:cNvPr id="4" name="Service card"/>
          <p:cNvSpPr/>
          <p:nvPr/>
        </p:nvSpPr>
        <p:spPr>
          <a:xfrm>
            <a:off x="621792" y="1371600"/>
            <a:ext cx="2468880" cy="123444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5" name="Number"/>
          <p:cNvSpPr/>
          <p:nvPr/>
        </p:nvSpPr>
        <p:spPr>
          <a:xfrm>
            <a:off x="786384" y="1536192"/>
            <a:ext cx="274320" cy="274320"/>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1</a:t>
            </a:r>
          </a:p>
        </p:txBody>
      </p:sp>
      <p:sp>
        <p:nvSpPr>
          <p:cNvPr id="6" name="Service title"/>
          <p:cNvSpPr txBox="1"/>
          <p:nvPr/>
        </p:nvSpPr>
        <p:spPr>
          <a:xfrm>
            <a:off x="1152144" y="1490472"/>
            <a:ext cx="1828800" cy="365760"/>
          </a:xfrm>
          <a:prstGeom prst="rect">
            <a:avLst/>
          </a:prstGeom>
          <a:noFill/>
        </p:spPr>
        <p:txBody>
          <a:bodyPr wrap="square" lIns="0" rIns="0" tIns="0" bIns="0" anchor="ctr">
            <a:spAutoFit/>
          </a:bodyPr>
          <a:lstStyle/>
          <a:p>
            <a:pPr algn="l"/>
            <a:r>
              <a:rPr sz="1100" b="1" i="0">
                <a:solidFill>
                  <a:srgbClr val="3B3678"/>
                </a:solidFill>
                <a:latin typeface="Open Sans"/>
              </a:rPr>
              <a:t>Odoo implementation</a:t>
            </a:r>
          </a:p>
        </p:txBody>
      </p:sp>
      <p:sp>
        <p:nvSpPr>
          <p:cNvPr id="7" name="Service text"/>
          <p:cNvSpPr txBox="1"/>
          <p:nvPr/>
        </p:nvSpPr>
        <p:spPr>
          <a:xfrm>
            <a:off x="786384" y="1965960"/>
            <a:ext cx="2148840" cy="548640"/>
          </a:xfrm>
          <a:prstGeom prst="rect">
            <a:avLst/>
          </a:prstGeom>
          <a:noFill/>
        </p:spPr>
        <p:txBody>
          <a:bodyPr wrap="square" lIns="0" rIns="0" tIns="0" bIns="0" anchor="t">
            <a:spAutoFit/>
          </a:bodyPr>
          <a:lstStyle/>
          <a:p>
            <a:pPr algn="l"/>
            <a:r>
              <a:rPr sz="1100" b="0" i="0">
                <a:solidFill>
                  <a:srgbClr val="3B3678"/>
                </a:solidFill>
                <a:latin typeface="Open Sans"/>
              </a:rPr>
              <a:t>ERP and business systems, including e-invoicing readiness.</a:t>
            </a:r>
          </a:p>
        </p:txBody>
      </p:sp>
      <p:sp>
        <p:nvSpPr>
          <p:cNvPr id="8" name="Service card"/>
          <p:cNvSpPr/>
          <p:nvPr/>
        </p:nvSpPr>
        <p:spPr>
          <a:xfrm>
            <a:off x="3273552" y="1371600"/>
            <a:ext cx="2468880" cy="123444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9" name="Number"/>
          <p:cNvSpPr/>
          <p:nvPr/>
        </p:nvSpPr>
        <p:spPr>
          <a:xfrm>
            <a:off x="3438144" y="1536192"/>
            <a:ext cx="274320" cy="274320"/>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2</a:t>
            </a:r>
          </a:p>
        </p:txBody>
      </p:sp>
      <p:sp>
        <p:nvSpPr>
          <p:cNvPr id="10" name="Service title"/>
          <p:cNvSpPr txBox="1"/>
          <p:nvPr/>
        </p:nvSpPr>
        <p:spPr>
          <a:xfrm>
            <a:off x="3803904" y="1490472"/>
            <a:ext cx="1828800" cy="365760"/>
          </a:xfrm>
          <a:prstGeom prst="rect">
            <a:avLst/>
          </a:prstGeom>
          <a:noFill/>
        </p:spPr>
        <p:txBody>
          <a:bodyPr wrap="square" lIns="0" rIns="0" tIns="0" bIns="0" anchor="ctr">
            <a:spAutoFit/>
          </a:bodyPr>
          <a:lstStyle/>
          <a:p>
            <a:pPr algn="l"/>
            <a:r>
              <a:rPr sz="1100" b="1" i="0">
                <a:solidFill>
                  <a:srgbClr val="3B3678"/>
                </a:solidFill>
                <a:latin typeface="Open Sans"/>
              </a:rPr>
              <a:t>ISO 27001 / 42001 advisory</a:t>
            </a:r>
          </a:p>
        </p:txBody>
      </p:sp>
      <p:sp>
        <p:nvSpPr>
          <p:cNvPr id="11" name="Service text"/>
          <p:cNvSpPr txBox="1"/>
          <p:nvPr/>
        </p:nvSpPr>
        <p:spPr>
          <a:xfrm>
            <a:off x="3438144" y="1965960"/>
            <a:ext cx="2148840" cy="548640"/>
          </a:xfrm>
          <a:prstGeom prst="rect">
            <a:avLst/>
          </a:prstGeom>
          <a:noFill/>
        </p:spPr>
        <p:txBody>
          <a:bodyPr wrap="square" lIns="0" rIns="0" tIns="0" bIns="0" anchor="t">
            <a:spAutoFit/>
          </a:bodyPr>
          <a:lstStyle/>
          <a:p>
            <a:pPr algn="l"/>
            <a:r>
              <a:rPr sz="1100" b="0" i="0">
                <a:solidFill>
                  <a:srgbClr val="3B3678"/>
                </a:solidFill>
                <a:latin typeface="Open Sans"/>
              </a:rPr>
              <a:t>Readiness for information security and AI management systems.</a:t>
            </a:r>
          </a:p>
        </p:txBody>
      </p:sp>
      <p:sp>
        <p:nvSpPr>
          <p:cNvPr id="12" name="Service card"/>
          <p:cNvSpPr/>
          <p:nvPr/>
        </p:nvSpPr>
        <p:spPr>
          <a:xfrm>
            <a:off x="621792" y="2788920"/>
            <a:ext cx="2468880" cy="123444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13" name="Number"/>
          <p:cNvSpPr/>
          <p:nvPr/>
        </p:nvSpPr>
        <p:spPr>
          <a:xfrm>
            <a:off x="786384" y="2953512"/>
            <a:ext cx="274320" cy="274320"/>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3</a:t>
            </a:r>
          </a:p>
        </p:txBody>
      </p:sp>
      <p:sp>
        <p:nvSpPr>
          <p:cNvPr id="14" name="Service title"/>
          <p:cNvSpPr txBox="1"/>
          <p:nvPr/>
        </p:nvSpPr>
        <p:spPr>
          <a:xfrm>
            <a:off x="1152144" y="2907791"/>
            <a:ext cx="1828800" cy="365760"/>
          </a:xfrm>
          <a:prstGeom prst="rect">
            <a:avLst/>
          </a:prstGeom>
          <a:noFill/>
        </p:spPr>
        <p:txBody>
          <a:bodyPr wrap="square" lIns="0" rIns="0" tIns="0" bIns="0" anchor="ctr">
            <a:spAutoFit/>
          </a:bodyPr>
          <a:lstStyle/>
          <a:p>
            <a:pPr algn="l"/>
            <a:r>
              <a:rPr sz="1100" b="1" i="0">
                <a:solidFill>
                  <a:srgbClr val="3B3678"/>
                </a:solidFill>
                <a:latin typeface="Open Sans"/>
              </a:rPr>
              <a:t>AI governance consulting</a:t>
            </a:r>
          </a:p>
        </p:txBody>
      </p:sp>
      <p:sp>
        <p:nvSpPr>
          <p:cNvPr id="15" name="Service text"/>
          <p:cNvSpPr txBox="1"/>
          <p:nvPr/>
        </p:nvSpPr>
        <p:spPr>
          <a:xfrm>
            <a:off x="786384" y="3383279"/>
            <a:ext cx="2148840" cy="548640"/>
          </a:xfrm>
          <a:prstGeom prst="rect">
            <a:avLst/>
          </a:prstGeom>
          <a:noFill/>
        </p:spPr>
        <p:txBody>
          <a:bodyPr wrap="square" lIns="0" rIns="0" tIns="0" bIns="0" anchor="t">
            <a:spAutoFit/>
          </a:bodyPr>
          <a:lstStyle/>
          <a:p>
            <a:pPr algn="l"/>
            <a:r>
              <a:rPr sz="1100" b="0" i="0">
                <a:solidFill>
                  <a:srgbClr val="3B3678"/>
                </a:solidFill>
                <a:latin typeface="Open Sans"/>
              </a:rPr>
              <a:t>Policies, risk assessment and controls for responsible AI.</a:t>
            </a:r>
          </a:p>
        </p:txBody>
      </p:sp>
      <p:sp>
        <p:nvSpPr>
          <p:cNvPr id="16" name="Service card"/>
          <p:cNvSpPr/>
          <p:nvPr/>
        </p:nvSpPr>
        <p:spPr>
          <a:xfrm>
            <a:off x="3273552" y="2788920"/>
            <a:ext cx="2468880" cy="123444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17" name="Number"/>
          <p:cNvSpPr/>
          <p:nvPr/>
        </p:nvSpPr>
        <p:spPr>
          <a:xfrm>
            <a:off x="3438144" y="2953512"/>
            <a:ext cx="274320" cy="274320"/>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4</a:t>
            </a:r>
          </a:p>
        </p:txBody>
      </p:sp>
      <p:sp>
        <p:nvSpPr>
          <p:cNvPr id="18" name="Service title"/>
          <p:cNvSpPr txBox="1"/>
          <p:nvPr/>
        </p:nvSpPr>
        <p:spPr>
          <a:xfrm>
            <a:off x="3803904" y="2907791"/>
            <a:ext cx="1828800" cy="365760"/>
          </a:xfrm>
          <a:prstGeom prst="rect">
            <a:avLst/>
          </a:prstGeom>
          <a:noFill/>
        </p:spPr>
        <p:txBody>
          <a:bodyPr wrap="square" lIns="0" rIns="0" tIns="0" bIns="0" anchor="ctr">
            <a:spAutoFit/>
          </a:bodyPr>
          <a:lstStyle/>
          <a:p>
            <a:pPr algn="l"/>
            <a:r>
              <a:rPr sz="1100" b="1" i="0">
                <a:solidFill>
                  <a:srgbClr val="3B3678"/>
                </a:solidFill>
                <a:latin typeface="Open Sans"/>
              </a:rPr>
              <a:t>DPO outsourcing</a:t>
            </a:r>
          </a:p>
        </p:txBody>
      </p:sp>
      <p:sp>
        <p:nvSpPr>
          <p:cNvPr id="19" name="Service text"/>
          <p:cNvSpPr txBox="1"/>
          <p:nvPr/>
        </p:nvSpPr>
        <p:spPr>
          <a:xfrm>
            <a:off x="3438144" y="3383279"/>
            <a:ext cx="2148840" cy="548640"/>
          </a:xfrm>
          <a:prstGeom prst="rect">
            <a:avLst/>
          </a:prstGeom>
          <a:noFill/>
        </p:spPr>
        <p:txBody>
          <a:bodyPr wrap="square" lIns="0" rIns="0" tIns="0" bIns="0" anchor="t">
            <a:spAutoFit/>
          </a:bodyPr>
          <a:lstStyle/>
          <a:p>
            <a:pPr algn="l"/>
            <a:r>
              <a:rPr sz="1100" b="0" i="0">
                <a:solidFill>
                  <a:srgbClr val="3B3678"/>
                </a:solidFill>
                <a:latin typeface="Open Sans"/>
              </a:rPr>
              <a:t>The data protection officer role and PDPL compliance programmes.</a:t>
            </a:r>
          </a:p>
        </p:txBody>
      </p:sp>
      <p:sp>
        <p:nvSpPr>
          <p:cNvPr id="20" name="Stat card"/>
          <p:cNvSpPr/>
          <p:nvPr/>
        </p:nvSpPr>
        <p:spPr>
          <a:xfrm>
            <a:off x="5943600" y="1371600"/>
            <a:ext cx="2560320" cy="2651760"/>
          </a:xfrm>
          <a:prstGeom prst="roundRect">
            <a:avLst>
              <a:gd name="adj" fmla="val 5000"/>
            </a:avLst>
          </a:prstGeom>
          <a:solidFill>
            <a:srgbClr val="3B367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21" name="Panel header"/>
          <p:cNvSpPr txBox="1"/>
          <p:nvPr/>
        </p:nvSpPr>
        <p:spPr>
          <a:xfrm>
            <a:off x="6126480" y="1508760"/>
            <a:ext cx="2194560" cy="274320"/>
          </a:xfrm>
          <a:prstGeom prst="rect">
            <a:avLst/>
          </a:prstGeom>
          <a:noFill/>
        </p:spPr>
        <p:txBody>
          <a:bodyPr wrap="square" lIns="0" rIns="0" tIns="0" bIns="0" anchor="t">
            <a:spAutoFit/>
          </a:bodyPr>
          <a:lstStyle/>
          <a:p>
            <a:pPr algn="l"/>
            <a:r>
              <a:rPr sz="1400" b="1" i="0">
                <a:solidFill>
                  <a:srgbClr val="FFFFFF"/>
                </a:solidFill>
                <a:latin typeface="Open Sans"/>
              </a:rPr>
              <a:t>Where we stand</a:t>
            </a:r>
          </a:p>
        </p:txBody>
      </p:sp>
      <p:sp>
        <p:nvSpPr>
          <p:cNvPr id="22" name="Panel body"/>
          <p:cNvSpPr txBox="1"/>
          <p:nvPr/>
        </p:nvSpPr>
        <p:spPr>
          <a:xfrm>
            <a:off x="6126480" y="1874519"/>
            <a:ext cx="2194560" cy="2011680"/>
          </a:xfrm>
          <a:prstGeom prst="rect">
            <a:avLst/>
          </a:prstGeom>
          <a:noFill/>
        </p:spPr>
        <p:txBody>
          <a:bodyPr wrap="square" lIns="0" rIns="0" tIns="0" bIns="0" anchor="t">
            <a:spAutoFit/>
          </a:bodyPr>
          <a:lstStyle/>
          <a:p>
            <a:pPr algn="l" marL="228600" indent="-228600">
              <a:spcAft>
                <a:spcPts val="600"/>
              </a:spcAft>
              <a:buFont typeface="Arial"/>
              <a:buChar char="•"/>
            </a:pPr>
            <a:r>
              <a:rPr sz="1100" b="0" i="0">
                <a:solidFill>
                  <a:srgbClr val="FFFFFF"/>
                </a:solidFill>
                <a:latin typeface="Open Sans"/>
              </a:rPr>
              <a:t>SGH Group company, Europe and Asia-Pacific</a:t>
            </a:r>
          </a:p>
          <a:p>
            <a:pPr algn="l" marL="228600" indent="-228600">
              <a:spcAft>
                <a:spcPts val="600"/>
              </a:spcAft>
              <a:buFont typeface="Arial"/>
              <a:buChar char="•"/>
            </a:pPr>
            <a:r>
              <a:rPr sz="1100" b="0" i="0">
                <a:solidFill>
                  <a:srgbClr val="FFFFFF"/>
                </a:solidFill>
                <a:latin typeface="Open Sans"/>
              </a:rPr>
              <a:t>Declares ISO 27001:2022 and GDPR compliance</a:t>
            </a:r>
          </a:p>
          <a:p>
            <a:pPr algn="l" marL="228600" indent="-228600">
              <a:spcAft>
                <a:spcPts val="600"/>
              </a:spcAft>
              <a:buFont typeface="Arial"/>
              <a:buChar char="•"/>
            </a:pPr>
            <a:r>
              <a:rPr sz="1100" b="0" i="0">
                <a:solidFill>
                  <a:srgbClr val="FFFFFF"/>
                </a:solidFill>
                <a:latin typeface="Open Sans"/>
              </a:rPr>
              <a:t>GM co-chairs the EuroCham Vietnam Digital Sector Committee</a:t>
            </a:r>
          </a:p>
          <a:p>
            <a:pPr algn="l" marL="228600" indent="-228600">
              <a:spcAft>
                <a:spcPts val="600"/>
              </a:spcAft>
              <a:buFont typeface="Arial"/>
              <a:buChar char="•"/>
            </a:pPr>
            <a:r>
              <a:rPr sz="1100" b="0" i="0">
                <a:solidFill>
                  <a:srgbClr val="FFFFFF"/>
                </a:solidFill>
                <a:latin typeface="Open Sans"/>
              </a:rPr>
              <a:t>VnDPO-certified DPO in-house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SGS in Vietnam: Our Reading</a:t>
            </a:r>
          </a:p>
        </p:txBody>
      </p:sp>
      <p:sp>
        <p:nvSpPr>
          <p:cNvPr id="3" name="Subtitle"/>
          <p:cNvSpPr txBox="1"/>
          <p:nvPr/>
        </p:nvSpPr>
        <p:spPr>
          <a:xfrm>
            <a:off x="621792" y="914400"/>
            <a:ext cx="7863840" cy="274320"/>
          </a:xfrm>
          <a:prstGeom prst="rect">
            <a:avLst/>
          </a:prstGeom>
          <a:noFill/>
        </p:spPr>
        <p:txBody>
          <a:bodyPr wrap="square" lIns="0" rIns="0" tIns="0" bIns="0" anchor="t">
            <a:spAutoFit/>
          </a:bodyPr>
          <a:lstStyle/>
          <a:p>
            <a:pPr algn="l"/>
            <a:r>
              <a:rPr sz="1300" b="0" i="1">
                <a:solidFill>
                  <a:srgbClr val="3B3678"/>
                </a:solidFill>
                <a:latin typeface="Open Sans"/>
              </a:rPr>
              <a:t>Business Assurance, as Jackson described it. Please correct us.</a:t>
            </a:r>
          </a:p>
        </p:txBody>
      </p:sp>
      <p:sp>
        <p:nvSpPr>
          <p:cNvPr id="4" name="Stat card"/>
          <p:cNvSpPr/>
          <p:nvPr/>
        </p:nvSpPr>
        <p:spPr>
          <a:xfrm>
            <a:off x="621792" y="1371600"/>
            <a:ext cx="3017520" cy="2743200"/>
          </a:xfrm>
          <a:prstGeom prst="roundRect">
            <a:avLst>
              <a:gd name="adj" fmla="val 5000"/>
            </a:avLst>
          </a:prstGeom>
          <a:solidFill>
            <a:srgbClr val="3B367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5" name="Stat value"/>
          <p:cNvSpPr txBox="1"/>
          <p:nvPr/>
        </p:nvSpPr>
        <p:spPr>
          <a:xfrm>
            <a:off x="804672" y="1600200"/>
            <a:ext cx="2651760" cy="822960"/>
          </a:xfrm>
          <a:prstGeom prst="rect">
            <a:avLst/>
          </a:prstGeom>
          <a:noFill/>
        </p:spPr>
        <p:txBody>
          <a:bodyPr wrap="square" lIns="0" rIns="0" tIns="0" bIns="0" anchor="t">
            <a:spAutoFit/>
          </a:bodyPr>
          <a:lstStyle/>
          <a:p>
            <a:pPr algn="l"/>
            <a:r>
              <a:rPr sz="2400" b="1" i="0">
                <a:solidFill>
                  <a:srgbClr val="FFFFFF"/>
                </a:solidFill>
                <a:latin typeface="Open Sans"/>
              </a:rPr>
              <a:t>Business Assurance</a:t>
            </a:r>
          </a:p>
        </p:txBody>
      </p:sp>
      <p:sp>
        <p:nvSpPr>
          <p:cNvPr id="6" name="Stat label"/>
          <p:cNvSpPr txBox="1"/>
          <p:nvPr/>
        </p:nvSpPr>
        <p:spPr>
          <a:xfrm>
            <a:off x="804672" y="2560320"/>
            <a:ext cx="2651760" cy="1097280"/>
          </a:xfrm>
          <a:prstGeom prst="rect">
            <a:avLst/>
          </a:prstGeom>
          <a:noFill/>
        </p:spPr>
        <p:txBody>
          <a:bodyPr wrap="square" lIns="0" rIns="0" tIns="0" bIns="0" anchor="t">
            <a:spAutoFit/>
          </a:bodyPr>
          <a:lstStyle/>
          <a:p>
            <a:pPr algn="l"/>
            <a:r>
              <a:rPr sz="1300" b="0" i="0">
                <a:solidFill>
                  <a:srgbClr val="FFFFFF"/>
                </a:solidFill>
                <a:latin typeface="Open Sans"/>
              </a:rPr>
              <a:t>Jane's division at SGS Vietnam, as Jackson described it.</a:t>
            </a:r>
          </a:p>
        </p:txBody>
      </p:sp>
      <p:sp>
        <p:nvSpPr>
          <p:cNvPr id="7" name="Pill"/>
          <p:cNvSpPr/>
          <p:nvPr/>
        </p:nvSpPr>
        <p:spPr>
          <a:xfrm>
            <a:off x="3931920" y="1554480"/>
            <a:ext cx="1188720" cy="329184"/>
          </a:xfrm>
          <a:prstGeom prst="roundRect">
            <a:avLst>
              <a:gd name="adj" fmla="val 20000"/>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Quality</a:t>
            </a:r>
          </a:p>
        </p:txBody>
      </p:sp>
      <p:sp>
        <p:nvSpPr>
          <p:cNvPr id="8" name="Item text"/>
          <p:cNvSpPr txBox="1"/>
          <p:nvPr/>
        </p:nvSpPr>
        <p:spPr>
          <a:xfrm>
            <a:off x="5303520" y="1554480"/>
            <a:ext cx="3200400" cy="329184"/>
          </a:xfrm>
          <a:prstGeom prst="rect">
            <a:avLst/>
          </a:prstGeom>
          <a:noFill/>
        </p:spPr>
        <p:txBody>
          <a:bodyPr wrap="square" lIns="0" rIns="0" tIns="0" bIns="0" anchor="ctr">
            <a:spAutoFit/>
          </a:bodyPr>
          <a:lstStyle/>
          <a:p>
            <a:pPr algn="l"/>
            <a:r>
              <a:rPr sz="1300" b="0" i="0">
                <a:solidFill>
                  <a:srgbClr val="3B3678"/>
                </a:solidFill>
                <a:latin typeface="Open Sans"/>
              </a:rPr>
              <a:t>ISO 9001 certification</a:t>
            </a:r>
          </a:p>
        </p:txBody>
      </p:sp>
      <p:sp>
        <p:nvSpPr>
          <p:cNvPr id="9" name="Pill"/>
          <p:cNvSpPr/>
          <p:nvPr/>
        </p:nvSpPr>
        <p:spPr>
          <a:xfrm>
            <a:off x="3931920" y="2148840"/>
            <a:ext cx="1188720" cy="329184"/>
          </a:xfrm>
          <a:prstGeom prst="roundRect">
            <a:avLst>
              <a:gd name="adj" fmla="val 20000"/>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Cybersecurity</a:t>
            </a:r>
          </a:p>
        </p:txBody>
      </p:sp>
      <p:sp>
        <p:nvSpPr>
          <p:cNvPr id="10" name="Item text"/>
          <p:cNvSpPr txBox="1"/>
          <p:nvPr/>
        </p:nvSpPr>
        <p:spPr>
          <a:xfrm>
            <a:off x="5303520" y="2148840"/>
            <a:ext cx="3200400" cy="329184"/>
          </a:xfrm>
          <a:prstGeom prst="rect">
            <a:avLst/>
          </a:prstGeom>
          <a:noFill/>
        </p:spPr>
        <p:txBody>
          <a:bodyPr wrap="square" lIns="0" rIns="0" tIns="0" bIns="0" anchor="ctr">
            <a:spAutoFit/>
          </a:bodyPr>
          <a:lstStyle/>
          <a:p>
            <a:pPr algn="l"/>
            <a:r>
              <a:rPr sz="1300" b="0" i="0">
                <a:solidFill>
                  <a:srgbClr val="3B3678"/>
                </a:solidFill>
                <a:latin typeface="Open Sans"/>
              </a:rPr>
              <a:t>Cybersecurity certification</a:t>
            </a:r>
          </a:p>
        </p:txBody>
      </p:sp>
      <p:sp>
        <p:nvSpPr>
          <p:cNvPr id="11" name="Pill"/>
          <p:cNvSpPr/>
          <p:nvPr/>
        </p:nvSpPr>
        <p:spPr>
          <a:xfrm>
            <a:off x="3931920" y="2743200"/>
            <a:ext cx="1188720" cy="329184"/>
          </a:xfrm>
          <a:prstGeom prst="roundRect">
            <a:avLst>
              <a:gd name="adj" fmla="val 20000"/>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ESG</a:t>
            </a:r>
          </a:p>
        </p:txBody>
      </p:sp>
      <p:sp>
        <p:nvSpPr>
          <p:cNvPr id="12" name="Item text"/>
          <p:cNvSpPr txBox="1"/>
          <p:nvPr/>
        </p:nvSpPr>
        <p:spPr>
          <a:xfrm>
            <a:off x="5303520" y="2743200"/>
            <a:ext cx="3200400" cy="329184"/>
          </a:xfrm>
          <a:prstGeom prst="rect">
            <a:avLst/>
          </a:prstGeom>
          <a:noFill/>
        </p:spPr>
        <p:txBody>
          <a:bodyPr wrap="square" lIns="0" rIns="0" tIns="0" bIns="0" anchor="ctr">
            <a:spAutoFit/>
          </a:bodyPr>
          <a:lstStyle/>
          <a:p>
            <a:pPr algn="l"/>
            <a:r>
              <a:rPr sz="1300" b="0" i="0">
                <a:solidFill>
                  <a:srgbClr val="3B3678"/>
                </a:solidFill>
                <a:latin typeface="Open Sans"/>
              </a:rPr>
              <a:t>ESG services</a:t>
            </a:r>
          </a:p>
        </p:txBody>
      </p:sp>
      <p:sp>
        <p:nvSpPr>
          <p:cNvPr id="13" name="Pill"/>
          <p:cNvSpPr/>
          <p:nvPr/>
        </p:nvSpPr>
        <p:spPr>
          <a:xfrm>
            <a:off x="3931920" y="3337560"/>
            <a:ext cx="1188720" cy="329184"/>
          </a:xfrm>
          <a:prstGeom prst="roundRect">
            <a:avLst>
              <a:gd name="adj" fmla="val 20000"/>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Carbon</a:t>
            </a:r>
          </a:p>
        </p:txBody>
      </p:sp>
      <p:sp>
        <p:nvSpPr>
          <p:cNvPr id="14" name="Item text"/>
          <p:cNvSpPr txBox="1"/>
          <p:nvPr/>
        </p:nvSpPr>
        <p:spPr>
          <a:xfrm>
            <a:off x="5303520" y="3337560"/>
            <a:ext cx="3200400" cy="329184"/>
          </a:xfrm>
          <a:prstGeom prst="rect">
            <a:avLst/>
          </a:prstGeom>
          <a:noFill/>
        </p:spPr>
        <p:txBody>
          <a:bodyPr wrap="square" lIns="0" rIns="0" tIns="0" bIns="0" anchor="ctr">
            <a:spAutoFit/>
          </a:bodyPr>
          <a:lstStyle/>
          <a:p>
            <a:pPr algn="l"/>
            <a:r>
              <a:rPr sz="1300" b="0" i="0">
                <a:solidFill>
                  <a:srgbClr val="3B3678"/>
                </a:solidFill>
                <a:latin typeface="Open Sans"/>
              </a:rPr>
              <a:t>Carbon accounting</a:t>
            </a:r>
          </a:p>
        </p:txBody>
      </p:sp>
      <p:sp>
        <p:nvSpPr>
          <p:cNvPr id="15" name="Footnote"/>
          <p:cNvSpPr txBox="1"/>
          <p:nvPr/>
        </p:nvSpPr>
        <p:spPr>
          <a:xfrm>
            <a:off x="621792" y="4343400"/>
            <a:ext cx="7863840" cy="274320"/>
          </a:xfrm>
          <a:prstGeom prst="rect">
            <a:avLst/>
          </a:prstGeom>
          <a:noFill/>
        </p:spPr>
        <p:txBody>
          <a:bodyPr wrap="square" lIns="0" rIns="0" tIns="0" bIns="0" anchor="t">
            <a:spAutoFit/>
          </a:bodyPr>
          <a:lstStyle/>
          <a:p>
            <a:pPr algn="l"/>
            <a:r>
              <a:rPr sz="1200" b="0" i="1">
                <a:solidFill>
                  <a:srgbClr val="3B3678"/>
                </a:solidFill>
                <a:latin typeface="Open Sans"/>
              </a:rPr>
              <a:t>Based on Jackson's email of 18 Aug. We would like to learn what is delivered locally.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We Fit Together</a:t>
            </a:r>
          </a:p>
        </p:txBody>
      </p:sp>
      <p:sp>
        <p:nvSpPr>
          <p:cNvPr id="3" name="Subtitle"/>
          <p:cNvSpPr txBox="1"/>
          <p:nvPr/>
        </p:nvSpPr>
        <p:spPr>
          <a:xfrm>
            <a:off x="621792" y="914400"/>
            <a:ext cx="7863840" cy="274320"/>
          </a:xfrm>
          <a:prstGeom prst="rect">
            <a:avLst/>
          </a:prstGeom>
          <a:noFill/>
        </p:spPr>
        <p:txBody>
          <a:bodyPr wrap="square" lIns="0" rIns="0" tIns="0" bIns="0" anchor="t">
            <a:spAutoFit/>
          </a:bodyPr>
          <a:lstStyle/>
          <a:p>
            <a:pPr algn="l"/>
            <a:r>
              <a:rPr sz="1300" b="0" i="1">
                <a:solidFill>
                  <a:srgbClr val="3B3678"/>
                </a:solidFill>
                <a:latin typeface="Open Sans"/>
              </a:rPr>
              <a:t>Four steps from first gap to lasting compliance. Each has a clear owner.</a:t>
            </a:r>
          </a:p>
        </p:txBody>
      </p:sp>
      <p:sp>
        <p:nvSpPr>
          <p:cNvPr id="4" name="Step"/>
          <p:cNvSpPr/>
          <p:nvPr/>
        </p:nvSpPr>
        <p:spPr>
          <a:xfrm>
            <a:off x="621792" y="1371600"/>
            <a:ext cx="1965960" cy="594360"/>
          </a:xfrm>
          <a:prstGeom prst="homePlat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300" b="1">
                <a:solidFill>
                  <a:srgbClr val="FFFFFF"/>
                </a:solidFill>
                <a:latin typeface="Open Sans"/>
              </a:rPr>
              <a:t>1  Assess</a:t>
            </a:r>
          </a:p>
        </p:txBody>
      </p:sp>
      <p:sp>
        <p:nvSpPr>
          <p:cNvPr id="5" name="Owner pill"/>
          <p:cNvSpPr/>
          <p:nvPr/>
        </p:nvSpPr>
        <p:spPr>
          <a:xfrm>
            <a:off x="667512" y="2194560"/>
            <a:ext cx="1005840" cy="274320"/>
          </a:xfrm>
          <a:prstGeom prst="roundRect">
            <a:avLst>
              <a:gd name="adj" fmla="val 20000"/>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SGH Asia</a:t>
            </a:r>
          </a:p>
        </p:txBody>
      </p:sp>
      <p:sp>
        <p:nvSpPr>
          <p:cNvPr id="6" name="Step text"/>
          <p:cNvSpPr txBox="1"/>
          <p:nvPr/>
        </p:nvSpPr>
        <p:spPr>
          <a:xfrm>
            <a:off x="667512" y="2651760"/>
            <a:ext cx="1783080" cy="1097280"/>
          </a:xfrm>
          <a:prstGeom prst="rect">
            <a:avLst/>
          </a:prstGeom>
          <a:noFill/>
        </p:spPr>
        <p:txBody>
          <a:bodyPr wrap="square" lIns="0" rIns="0" tIns="0" bIns="0" anchor="t">
            <a:spAutoFit/>
          </a:bodyPr>
          <a:lstStyle/>
          <a:p>
            <a:pPr algn="l"/>
            <a:r>
              <a:rPr sz="1200" b="0" i="0">
                <a:solidFill>
                  <a:srgbClr val="3B3678"/>
                </a:solidFill>
                <a:latin typeface="Open Sans"/>
              </a:rPr>
              <a:t>Gap analysis against ISO 27001, PDPL and AI governance</a:t>
            </a:r>
          </a:p>
        </p:txBody>
      </p:sp>
      <p:sp>
        <p:nvSpPr>
          <p:cNvPr id="7" name="Step"/>
          <p:cNvSpPr/>
          <p:nvPr/>
        </p:nvSpPr>
        <p:spPr>
          <a:xfrm>
            <a:off x="2615184" y="1371600"/>
            <a:ext cx="1965960" cy="594360"/>
          </a:xfrm>
          <a:prstGeom prst="homePlat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300" b="1">
                <a:solidFill>
                  <a:srgbClr val="FFFFFF"/>
                </a:solidFill>
                <a:latin typeface="Open Sans"/>
              </a:rPr>
              <a:t>2  Implement</a:t>
            </a:r>
          </a:p>
        </p:txBody>
      </p:sp>
      <p:sp>
        <p:nvSpPr>
          <p:cNvPr id="8" name="Owner pill"/>
          <p:cNvSpPr/>
          <p:nvPr/>
        </p:nvSpPr>
        <p:spPr>
          <a:xfrm>
            <a:off x="2660904" y="2194560"/>
            <a:ext cx="1005840" cy="274320"/>
          </a:xfrm>
          <a:prstGeom prst="roundRect">
            <a:avLst>
              <a:gd name="adj" fmla="val 20000"/>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SGH Asia</a:t>
            </a:r>
          </a:p>
        </p:txBody>
      </p:sp>
      <p:sp>
        <p:nvSpPr>
          <p:cNvPr id="9" name="Step text"/>
          <p:cNvSpPr txBox="1"/>
          <p:nvPr/>
        </p:nvSpPr>
        <p:spPr>
          <a:xfrm>
            <a:off x="2660904" y="2651760"/>
            <a:ext cx="1783080" cy="1097280"/>
          </a:xfrm>
          <a:prstGeom prst="rect">
            <a:avLst/>
          </a:prstGeom>
          <a:noFill/>
        </p:spPr>
        <p:txBody>
          <a:bodyPr wrap="square" lIns="0" rIns="0" tIns="0" bIns="0" anchor="t">
            <a:spAutoFit/>
          </a:bodyPr>
          <a:lstStyle/>
          <a:p>
            <a:pPr algn="l"/>
            <a:r>
              <a:rPr sz="1200" b="0" i="0">
                <a:solidFill>
                  <a:srgbClr val="3B3678"/>
                </a:solidFill>
                <a:latin typeface="Open Sans"/>
              </a:rPr>
              <a:t>Policies, controls, DPO setup, system configuration</a:t>
            </a:r>
          </a:p>
        </p:txBody>
      </p:sp>
      <p:sp>
        <p:nvSpPr>
          <p:cNvPr id="10" name="Step"/>
          <p:cNvSpPr/>
          <p:nvPr/>
        </p:nvSpPr>
        <p:spPr>
          <a:xfrm>
            <a:off x="4608576" y="1371600"/>
            <a:ext cx="1965960" cy="594360"/>
          </a:xfrm>
          <a:prstGeom prst="homePlate">
            <a:avLst/>
          </a:prstGeom>
          <a:solidFill>
            <a:srgbClr val="3B367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300" b="1">
                <a:solidFill>
                  <a:srgbClr val="FFFFFF"/>
                </a:solidFill>
                <a:latin typeface="Open Sans"/>
              </a:rPr>
              <a:t>3  Certify</a:t>
            </a:r>
          </a:p>
        </p:txBody>
      </p:sp>
      <p:sp>
        <p:nvSpPr>
          <p:cNvPr id="11" name="Owner pill"/>
          <p:cNvSpPr/>
          <p:nvPr/>
        </p:nvSpPr>
        <p:spPr>
          <a:xfrm>
            <a:off x="4654296" y="2194560"/>
            <a:ext cx="1005840" cy="274320"/>
          </a:xfrm>
          <a:prstGeom prst="roundRect">
            <a:avLst>
              <a:gd name="adj" fmla="val 20000"/>
            </a:avLst>
          </a:prstGeom>
          <a:solidFill>
            <a:srgbClr val="3B367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SGS</a:t>
            </a:r>
          </a:p>
        </p:txBody>
      </p:sp>
      <p:sp>
        <p:nvSpPr>
          <p:cNvPr id="12" name="Step text"/>
          <p:cNvSpPr txBox="1"/>
          <p:nvPr/>
        </p:nvSpPr>
        <p:spPr>
          <a:xfrm>
            <a:off x="4654296" y="2651760"/>
            <a:ext cx="1783080" cy="1097280"/>
          </a:xfrm>
          <a:prstGeom prst="rect">
            <a:avLst/>
          </a:prstGeom>
          <a:noFill/>
        </p:spPr>
        <p:txBody>
          <a:bodyPr wrap="square" lIns="0" rIns="0" tIns="0" bIns="0" anchor="t">
            <a:spAutoFit/>
          </a:bodyPr>
          <a:lstStyle/>
          <a:p>
            <a:pPr algn="l"/>
            <a:r>
              <a:rPr sz="1200" b="0" i="0">
                <a:solidFill>
                  <a:srgbClr val="3B3678"/>
                </a:solidFill>
                <a:latin typeface="Open Sans"/>
              </a:rPr>
              <a:t>Independent audits and certificate</a:t>
            </a:r>
          </a:p>
        </p:txBody>
      </p:sp>
      <p:sp>
        <p:nvSpPr>
          <p:cNvPr id="13" name="Step"/>
          <p:cNvSpPr/>
          <p:nvPr/>
        </p:nvSpPr>
        <p:spPr>
          <a:xfrm>
            <a:off x="6601968" y="1371600"/>
            <a:ext cx="1965960" cy="594360"/>
          </a:xfrm>
          <a:prstGeom prst="homePlat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300" b="1">
                <a:solidFill>
                  <a:srgbClr val="FFFFFF"/>
                </a:solidFill>
                <a:latin typeface="Open Sans"/>
              </a:rPr>
              <a:t>4  Sustain</a:t>
            </a:r>
          </a:p>
        </p:txBody>
      </p:sp>
      <p:sp>
        <p:nvSpPr>
          <p:cNvPr id="14" name="Owner pill"/>
          <p:cNvSpPr/>
          <p:nvPr/>
        </p:nvSpPr>
        <p:spPr>
          <a:xfrm>
            <a:off x="6647688" y="2194560"/>
            <a:ext cx="1005840" cy="274320"/>
          </a:xfrm>
          <a:prstGeom prst="roundRect">
            <a:avLst>
              <a:gd name="adj" fmla="val 20000"/>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SGH Asia</a:t>
            </a:r>
          </a:p>
        </p:txBody>
      </p:sp>
      <p:sp>
        <p:nvSpPr>
          <p:cNvPr id="15" name="Step text"/>
          <p:cNvSpPr txBox="1"/>
          <p:nvPr/>
        </p:nvSpPr>
        <p:spPr>
          <a:xfrm>
            <a:off x="6647688" y="2651760"/>
            <a:ext cx="1783080" cy="1097280"/>
          </a:xfrm>
          <a:prstGeom prst="rect">
            <a:avLst/>
          </a:prstGeom>
          <a:noFill/>
        </p:spPr>
        <p:txBody>
          <a:bodyPr wrap="square" lIns="0" rIns="0" tIns="0" bIns="0" anchor="t">
            <a:spAutoFit/>
          </a:bodyPr>
          <a:lstStyle/>
          <a:p>
            <a:pPr algn="l"/>
            <a:r>
              <a:rPr sz="1200" b="0" i="0">
                <a:solidFill>
                  <a:srgbClr val="3B3678"/>
                </a:solidFill>
                <a:latin typeface="Open Sans"/>
              </a:rPr>
              <a:t>DPO service, internal audits, surveillance-audit readiness</a:t>
            </a:r>
          </a:p>
        </p:txBody>
      </p:sp>
      <p:sp>
        <p:nvSpPr>
          <p:cNvPr id="16" name="Callout"/>
          <p:cNvSpPr/>
          <p:nvPr/>
        </p:nvSpPr>
        <p:spPr>
          <a:xfrm>
            <a:off x="621792" y="3794760"/>
            <a:ext cx="7882127" cy="685800"/>
          </a:xfrm>
          <a:prstGeom prst="roundRect">
            <a:avLst>
              <a:gd name="adj" fmla="val 10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17" name="Callout text"/>
          <p:cNvSpPr txBox="1"/>
          <p:nvPr/>
        </p:nvSpPr>
        <p:spPr>
          <a:xfrm>
            <a:off x="822960" y="3794760"/>
            <a:ext cx="7498079" cy="685800"/>
          </a:xfrm>
          <a:prstGeom prst="rect">
            <a:avLst/>
          </a:prstGeom>
          <a:noFill/>
        </p:spPr>
        <p:txBody>
          <a:bodyPr wrap="square" lIns="0" rIns="0" tIns="0" bIns="0" anchor="ctr">
            <a:spAutoFit/>
          </a:bodyPr>
          <a:lstStyle/>
          <a:p>
            <a:pPr algn="l"/>
            <a:r>
              <a:rPr sz="1300" b="0" i="1">
                <a:solidFill>
                  <a:srgbClr val="3B3678"/>
                </a:solidFill>
                <a:latin typeface="Open Sans"/>
              </a:rPr>
              <a:t>Question for Jane: how does SGS keep audits independent when a client has first used an advisory partner?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Starting Points</a:t>
            </a:r>
          </a:p>
        </p:txBody>
      </p:sp>
      <p:sp>
        <p:nvSpPr>
          <p:cNvPr id="3" name="Subtitle"/>
          <p:cNvSpPr txBox="1"/>
          <p:nvPr/>
        </p:nvSpPr>
        <p:spPr>
          <a:xfrm>
            <a:off x="621792" y="914400"/>
            <a:ext cx="7863840" cy="274320"/>
          </a:xfrm>
          <a:prstGeom prst="rect">
            <a:avLst/>
          </a:prstGeom>
          <a:noFill/>
        </p:spPr>
        <p:txBody>
          <a:bodyPr wrap="square" lIns="0" rIns="0" tIns="0" bIns="0" anchor="t">
            <a:spAutoFit/>
          </a:bodyPr>
          <a:lstStyle/>
          <a:p>
            <a:pPr algn="l"/>
            <a:r>
              <a:rPr sz="1300" b="0" i="1">
                <a:solidFill>
                  <a:srgbClr val="3B3678"/>
                </a:solidFill>
                <a:latin typeface="Open Sans"/>
              </a:rPr>
              <a:t>We would value your view on which one to pilot first.</a:t>
            </a:r>
          </a:p>
        </p:txBody>
      </p:sp>
      <p:graphicFrame>
        <p:nvGraphicFramePr>
          <p:cNvPr id="4" name="Ideas table"/>
          <p:cNvGraphicFramePr>
            <a:graphicFrameLocks noGrp="1"/>
          </p:cNvGraphicFramePr>
          <p:nvPr/>
        </p:nvGraphicFramePr>
        <p:xfrm>
          <a:off x="621792" y="1371600"/>
          <a:ext cx="7863840" cy="2926080"/>
        </p:xfrm>
        <a:graphic>
          <a:graphicData uri="http://schemas.openxmlformats.org/drawingml/2006/table">
            <a:tbl>
              <a:tblPr firstRow="0" bandRow="0"/>
              <a:tblGrid>
                <a:gridCol w="2377440"/>
                <a:gridCol w="2743200"/>
                <a:gridCol w="2743200"/>
              </a:tblGrid>
              <a:tr h="585216">
                <a:tc>
                  <a:txBody>
                    <a:bodyPr/>
                    <a:lstStyle/>
                    <a:p>
                      <a:r>
                        <a:rPr sz="1200" b="1">
                          <a:solidFill>
                            <a:srgbClr val="FFFFFF"/>
                          </a:solidFill>
                          <a:latin typeface="Open Sans"/>
                        </a:rPr>
                        <a:t>Starting point</a:t>
                      </a:r>
                    </a:p>
                  </a:txBody>
                  <a:tcPr anchor="ctr" marL="137160" marR="137160">
                    <a:solidFill>
                      <a:srgbClr val="3B3678"/>
                    </a:solidFill>
                  </a:tcPr>
                </a:tc>
                <a:tc>
                  <a:txBody>
                    <a:bodyPr/>
                    <a:lstStyle/>
                    <a:p>
                      <a:r>
                        <a:rPr sz="1200" b="1">
                          <a:solidFill>
                            <a:srgbClr val="FFFFFF"/>
                          </a:solidFill>
                          <a:latin typeface="Open Sans"/>
                        </a:rPr>
                        <a:t>SGH Asia brings</a:t>
                      </a:r>
                    </a:p>
                  </a:txBody>
                  <a:tcPr anchor="ctr" marL="137160" marR="137160">
                    <a:solidFill>
                      <a:srgbClr val="3B3678"/>
                    </a:solidFill>
                  </a:tcPr>
                </a:tc>
                <a:tc>
                  <a:txBody>
                    <a:bodyPr/>
                    <a:lstStyle/>
                    <a:p>
                      <a:r>
                        <a:rPr sz="1200" b="1">
                          <a:solidFill>
                            <a:srgbClr val="FFFFFF"/>
                          </a:solidFill>
                          <a:latin typeface="Open Sans"/>
                        </a:rPr>
                        <a:t>SGS brings (to confirm)</a:t>
                      </a:r>
                    </a:p>
                  </a:txBody>
                  <a:tcPr anchor="ctr" marL="137160" marR="137160">
                    <a:solidFill>
                      <a:srgbClr val="3B3678"/>
                    </a:solidFill>
                  </a:tcPr>
                </a:tc>
              </a:tr>
              <a:tr h="585216">
                <a:tc>
                  <a:txBody>
                    <a:bodyPr/>
                    <a:lstStyle/>
                    <a:p>
                      <a:r>
                        <a:rPr sz="1200" b="1">
                          <a:solidFill>
                            <a:srgbClr val="3B3678"/>
                          </a:solidFill>
                          <a:latin typeface="Open Sans"/>
                        </a:rPr>
                        <a:t>ISO 27001 + PDPL bundle</a:t>
                      </a:r>
                    </a:p>
                  </a:txBody>
                  <a:tcPr anchor="ctr" marL="137160" marR="137160">
                    <a:solidFill>
                      <a:srgbClr val="FFFFFF"/>
                    </a:solidFill>
                  </a:tcPr>
                </a:tc>
                <a:tc>
                  <a:txBody>
                    <a:bodyPr/>
                    <a:lstStyle/>
                    <a:p>
                      <a:r>
                        <a:rPr sz="1200" b="0">
                          <a:solidFill>
                            <a:srgbClr val="3B3678"/>
                          </a:solidFill>
                          <a:latin typeface="Open Sans"/>
                        </a:rPr>
                        <a:t>Readiness, DPO setup, PDPL documents</a:t>
                      </a:r>
                    </a:p>
                  </a:txBody>
                  <a:tcPr anchor="ctr" marL="137160" marR="137160">
                    <a:solidFill>
                      <a:srgbClr val="FFFFFF"/>
                    </a:solidFill>
                  </a:tcPr>
                </a:tc>
                <a:tc>
                  <a:txBody>
                    <a:bodyPr/>
                    <a:lstStyle/>
                    <a:p>
                      <a:r>
                        <a:rPr sz="1200" b="0">
                          <a:solidFill>
                            <a:srgbClr val="3B3678"/>
                          </a:solidFill>
                          <a:latin typeface="Open Sans"/>
                        </a:rPr>
                        <a:t>ISO/IEC 27001 and 27701 certification</a:t>
                      </a:r>
                    </a:p>
                  </a:txBody>
                  <a:tcPr anchor="ctr" marL="137160" marR="137160">
                    <a:solidFill>
                      <a:srgbClr val="FFFFFF"/>
                    </a:solidFill>
                  </a:tcPr>
                </a:tc>
              </a:tr>
              <a:tr h="585216">
                <a:tc>
                  <a:txBody>
                    <a:bodyPr/>
                    <a:lstStyle/>
                    <a:p>
                      <a:r>
                        <a:rPr sz="1200" b="1">
                          <a:solidFill>
                            <a:srgbClr val="3B3678"/>
                          </a:solidFill>
                          <a:latin typeface="Open Sans"/>
                        </a:rPr>
                        <a:t>ISO 42001 AI governance</a:t>
                      </a:r>
                    </a:p>
                  </a:txBody>
                  <a:tcPr anchor="ctr" marL="137160" marR="137160">
                    <a:solidFill>
                      <a:srgbClr val="F3F3F3"/>
                    </a:solidFill>
                  </a:tcPr>
                </a:tc>
                <a:tc>
                  <a:txBody>
                    <a:bodyPr/>
                    <a:lstStyle/>
                    <a:p>
                      <a:r>
                        <a:rPr sz="1200" b="0">
                          <a:solidFill>
                            <a:srgbClr val="3B3678"/>
                          </a:solidFill>
                          <a:latin typeface="Open Sans"/>
                        </a:rPr>
                        <a:t>AI policy, risk assessment, controls</a:t>
                      </a:r>
                    </a:p>
                  </a:txBody>
                  <a:tcPr anchor="ctr" marL="137160" marR="137160">
                    <a:solidFill>
                      <a:srgbClr val="F3F3F3"/>
                    </a:solidFill>
                  </a:tcPr>
                </a:tc>
                <a:tc>
                  <a:txBody>
                    <a:bodyPr/>
                    <a:lstStyle/>
                    <a:p>
                      <a:r>
                        <a:rPr sz="1200" b="0">
                          <a:solidFill>
                            <a:srgbClr val="3B3678"/>
                          </a:solidFill>
                          <a:latin typeface="Open Sans"/>
                        </a:rPr>
                        <a:t>ISO/IEC 42001 certification audit</a:t>
                      </a:r>
                    </a:p>
                  </a:txBody>
                  <a:tcPr anchor="ctr" marL="137160" marR="137160">
                    <a:solidFill>
                      <a:srgbClr val="F3F3F3"/>
                    </a:solidFill>
                  </a:tcPr>
                </a:tc>
              </a:tr>
              <a:tr h="585216">
                <a:tc>
                  <a:txBody>
                    <a:bodyPr/>
                    <a:lstStyle/>
                    <a:p>
                      <a:r>
                        <a:rPr sz="1200" b="1">
                          <a:solidFill>
                            <a:srgbClr val="3B3678"/>
                          </a:solidFill>
                          <a:latin typeface="Open Sans"/>
                        </a:rPr>
                        <a:t>Joint EuroCham briefings</a:t>
                      </a:r>
                    </a:p>
                  </a:txBody>
                  <a:tcPr anchor="ctr" marL="137160" marR="137160">
                    <a:solidFill>
                      <a:srgbClr val="FFFFFF"/>
                    </a:solidFill>
                  </a:tcPr>
                </a:tc>
                <a:tc>
                  <a:txBody>
                    <a:bodyPr/>
                    <a:lstStyle/>
                    <a:p>
                      <a:r>
                        <a:rPr sz="1200" b="0">
                          <a:solidFill>
                            <a:srgbClr val="3B3678"/>
                          </a:solidFill>
                          <a:latin typeface="Open Sans"/>
                        </a:rPr>
                        <a:t>Digital Sector Committee and member network</a:t>
                      </a:r>
                    </a:p>
                  </a:txBody>
                  <a:tcPr anchor="ctr" marL="137160" marR="137160">
                    <a:solidFill>
                      <a:srgbClr val="FFFFFF"/>
                    </a:solidFill>
                  </a:tcPr>
                </a:tc>
                <a:tc>
                  <a:txBody>
                    <a:bodyPr/>
                    <a:lstStyle/>
                    <a:p>
                      <a:r>
                        <a:rPr sz="1200" b="0">
                          <a:solidFill>
                            <a:srgbClr val="3B3678"/>
                          </a:solidFill>
                          <a:latin typeface="Open Sans"/>
                        </a:rPr>
                        <a:t>Assurance expertise as speaker</a:t>
                      </a:r>
                    </a:p>
                  </a:txBody>
                  <a:tcPr anchor="ctr" marL="137160" marR="137160">
                    <a:solidFill>
                      <a:srgbClr val="FFFFFF"/>
                    </a:solidFill>
                  </a:tcPr>
                </a:tc>
              </a:tr>
              <a:tr h="585216">
                <a:tc>
                  <a:txBody>
                    <a:bodyPr/>
                    <a:lstStyle/>
                    <a:p>
                      <a:r>
                        <a:rPr sz="1200" b="1">
                          <a:solidFill>
                            <a:srgbClr val="3B3678"/>
                          </a:solidFill>
                          <a:latin typeface="Open Sans"/>
                        </a:rPr>
                        <a:t>ESG and carbon data</a:t>
                      </a:r>
                    </a:p>
                  </a:txBody>
                  <a:tcPr anchor="ctr" marL="137160" marR="137160">
                    <a:solidFill>
                      <a:srgbClr val="F3F3F3"/>
                    </a:solidFill>
                  </a:tcPr>
                </a:tc>
                <a:tc>
                  <a:txBody>
                    <a:bodyPr/>
                    <a:lstStyle/>
                    <a:p>
                      <a:r>
                        <a:rPr sz="1200" b="0">
                          <a:solidFill>
                            <a:srgbClr val="3B3678"/>
                          </a:solidFill>
                          <a:latin typeface="Open Sans"/>
                        </a:rPr>
                        <a:t>Systems that could capture the data</a:t>
                      </a:r>
                    </a:p>
                  </a:txBody>
                  <a:tcPr anchor="ctr" marL="137160" marR="137160">
                    <a:solidFill>
                      <a:srgbClr val="F3F3F3"/>
                    </a:solidFill>
                  </a:tcPr>
                </a:tc>
                <a:tc>
                  <a:txBody>
                    <a:bodyPr/>
                    <a:lstStyle/>
                    <a:p>
                      <a:r>
                        <a:rPr sz="1200" b="0">
                          <a:solidFill>
                            <a:srgbClr val="3B3678"/>
                          </a:solidFill>
                          <a:latin typeface="Open Sans"/>
                        </a:rPr>
                        <a:t>ESG and carbon verification</a:t>
                      </a:r>
                    </a:p>
                  </a:txBody>
                  <a:tcPr anchor="ctr" marL="137160" marR="137160">
                    <a:solidFill>
                      <a:srgbClr val="F3F3F3"/>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and Questions</a:t>
            </a:r>
          </a:p>
        </p:txBody>
      </p:sp>
      <p:sp>
        <p:nvSpPr>
          <p:cNvPr id="3" name="Subtitle"/>
          <p:cNvSpPr txBox="1"/>
          <p:nvPr/>
        </p:nvSpPr>
        <p:spPr>
          <a:xfrm>
            <a:off x="621792" y="914400"/>
            <a:ext cx="7863840" cy="274320"/>
          </a:xfrm>
          <a:prstGeom prst="rect">
            <a:avLst/>
          </a:prstGeom>
          <a:noFill/>
        </p:spPr>
        <p:txBody>
          <a:bodyPr wrap="square" lIns="0" rIns="0" tIns="0" bIns="0" anchor="t">
            <a:spAutoFit/>
          </a:bodyPr>
          <a:lstStyle/>
          <a:p>
            <a:pPr algn="l"/>
            <a:r>
              <a:rPr sz="1300" b="0" i="1">
                <a:solidFill>
                  <a:srgbClr val="3B3678"/>
                </a:solidFill>
                <a:latin typeface="Open Sans"/>
              </a:rPr>
              <a:t>A light start: one pilot, one contact on each side.</a:t>
            </a:r>
          </a:p>
        </p:txBody>
      </p:sp>
      <p:sp>
        <p:nvSpPr>
          <p:cNvPr id="4" name="Left header"/>
          <p:cNvSpPr txBox="1"/>
          <p:nvPr/>
        </p:nvSpPr>
        <p:spPr>
          <a:xfrm>
            <a:off x="621792" y="1371600"/>
            <a:ext cx="3840480" cy="274320"/>
          </a:xfrm>
          <a:prstGeom prst="rect">
            <a:avLst/>
          </a:prstGeom>
          <a:noFill/>
        </p:spPr>
        <p:txBody>
          <a:bodyPr wrap="square" lIns="0" rIns="0" tIns="0" bIns="0" anchor="t">
            <a:spAutoFit/>
          </a:bodyPr>
          <a:lstStyle/>
          <a:p>
            <a:pPr algn="l"/>
            <a:r>
              <a:rPr sz="1600" b="1" i="0">
                <a:solidFill>
                  <a:srgbClr val="3B3678"/>
                </a:solidFill>
                <a:latin typeface="Open Sans"/>
              </a:rPr>
              <a:t>Proposed next steps</a:t>
            </a:r>
          </a:p>
        </p:txBody>
      </p:sp>
      <p:sp>
        <p:nvSpPr>
          <p:cNvPr id="5" name="Number"/>
          <p:cNvSpPr/>
          <p:nvPr/>
        </p:nvSpPr>
        <p:spPr>
          <a:xfrm>
            <a:off x="621792" y="1828800"/>
            <a:ext cx="384048" cy="384048"/>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Open Sans"/>
              </a:rPr>
              <a:t>1</a:t>
            </a:r>
          </a:p>
        </p:txBody>
      </p:sp>
      <p:sp>
        <p:nvSpPr>
          <p:cNvPr id="6" name="Step text"/>
          <p:cNvSpPr txBox="1"/>
          <p:nvPr/>
        </p:nvSpPr>
        <p:spPr>
          <a:xfrm>
            <a:off x="1188720" y="1828800"/>
            <a:ext cx="3200400" cy="640080"/>
          </a:xfrm>
          <a:prstGeom prst="rect">
            <a:avLst/>
          </a:prstGeom>
          <a:noFill/>
        </p:spPr>
        <p:txBody>
          <a:bodyPr wrap="square" lIns="0" rIns="0" tIns="0" bIns="0" anchor="ctr">
            <a:spAutoFit/>
          </a:bodyPr>
          <a:lstStyle/>
          <a:p>
            <a:pPr algn="l"/>
            <a:r>
              <a:rPr sz="1300" b="0" i="0">
                <a:solidFill>
                  <a:srgbClr val="3B3678"/>
                </a:solidFill>
                <a:latin typeface="Open Sans"/>
              </a:rPr>
              <a:t>This week: share service overviews both ways</a:t>
            </a:r>
          </a:p>
        </p:txBody>
      </p:sp>
      <p:sp>
        <p:nvSpPr>
          <p:cNvPr id="7" name="Number"/>
          <p:cNvSpPr/>
          <p:nvPr/>
        </p:nvSpPr>
        <p:spPr>
          <a:xfrm>
            <a:off x="621792" y="2651760"/>
            <a:ext cx="384048" cy="384048"/>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Open Sans"/>
              </a:rPr>
              <a:t>2</a:t>
            </a:r>
          </a:p>
        </p:txBody>
      </p:sp>
      <p:sp>
        <p:nvSpPr>
          <p:cNvPr id="8" name="Step text"/>
          <p:cNvSpPr txBox="1"/>
          <p:nvPr/>
        </p:nvSpPr>
        <p:spPr>
          <a:xfrm>
            <a:off x="1188720" y="2651760"/>
            <a:ext cx="3200400" cy="640080"/>
          </a:xfrm>
          <a:prstGeom prst="rect">
            <a:avLst/>
          </a:prstGeom>
          <a:noFill/>
        </p:spPr>
        <p:txBody>
          <a:bodyPr wrap="square" lIns="0" rIns="0" tIns="0" bIns="0" anchor="ctr">
            <a:spAutoFit/>
          </a:bodyPr>
          <a:lstStyle/>
          <a:p>
            <a:pPr algn="l"/>
            <a:r>
              <a:rPr sz="1300" b="0" i="0">
                <a:solidFill>
                  <a:srgbClr val="3B3678"/>
                </a:solidFill>
                <a:latin typeface="Open Sans"/>
              </a:rPr>
              <a:t>Within 30 days: choose one pilot, name one contact each</a:t>
            </a:r>
          </a:p>
        </p:txBody>
      </p:sp>
      <p:sp>
        <p:nvSpPr>
          <p:cNvPr id="9" name="Number"/>
          <p:cNvSpPr/>
          <p:nvPr/>
        </p:nvSpPr>
        <p:spPr>
          <a:xfrm>
            <a:off x="621792" y="3474720"/>
            <a:ext cx="384048" cy="384048"/>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Open Sans"/>
              </a:rPr>
              <a:t>3</a:t>
            </a:r>
          </a:p>
        </p:txBody>
      </p:sp>
      <p:sp>
        <p:nvSpPr>
          <p:cNvPr id="10" name="Step text"/>
          <p:cNvSpPr txBox="1"/>
          <p:nvPr/>
        </p:nvSpPr>
        <p:spPr>
          <a:xfrm>
            <a:off x="1188720" y="3474720"/>
            <a:ext cx="3200400" cy="640080"/>
          </a:xfrm>
          <a:prstGeom prst="rect">
            <a:avLst/>
          </a:prstGeom>
          <a:noFill/>
        </p:spPr>
        <p:txBody>
          <a:bodyPr wrap="square" lIns="0" rIns="0" tIns="0" bIns="0" anchor="ctr">
            <a:spAutoFit/>
          </a:bodyPr>
          <a:lstStyle/>
          <a:p>
            <a:pPr algn="l"/>
            <a:r>
              <a:rPr sz="1300" b="0" i="0">
                <a:solidFill>
                  <a:srgbClr val="3B3678"/>
                </a:solidFill>
                <a:latin typeface="Open Sans"/>
              </a:rPr>
              <a:t>By year end: first joint client conversation or briefing</a:t>
            </a:r>
          </a:p>
        </p:txBody>
      </p:sp>
      <p:sp>
        <p:nvSpPr>
          <p:cNvPr id="11" name="Question card"/>
          <p:cNvSpPr/>
          <p:nvPr/>
        </p:nvSpPr>
        <p:spPr>
          <a:xfrm>
            <a:off x="4754880" y="1371600"/>
            <a:ext cx="3749039" cy="283464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12" name="Right header"/>
          <p:cNvSpPr txBox="1"/>
          <p:nvPr/>
        </p:nvSpPr>
        <p:spPr>
          <a:xfrm>
            <a:off x="4983480" y="1554480"/>
            <a:ext cx="3291840" cy="274320"/>
          </a:xfrm>
          <a:prstGeom prst="rect">
            <a:avLst/>
          </a:prstGeom>
          <a:noFill/>
        </p:spPr>
        <p:txBody>
          <a:bodyPr wrap="square" lIns="0" rIns="0" tIns="0" bIns="0" anchor="t">
            <a:spAutoFit/>
          </a:bodyPr>
          <a:lstStyle/>
          <a:p>
            <a:pPr algn="l"/>
            <a:r>
              <a:rPr sz="1600" b="1" i="0">
                <a:solidFill>
                  <a:srgbClr val="3B3678"/>
                </a:solidFill>
                <a:latin typeface="Open Sans"/>
              </a:rPr>
              <a:t>Questions for you</a:t>
            </a:r>
          </a:p>
        </p:txBody>
      </p:sp>
      <p:sp>
        <p:nvSpPr>
          <p:cNvPr id="13" name="Questions"/>
          <p:cNvSpPr txBox="1"/>
          <p:nvPr/>
        </p:nvSpPr>
        <p:spPr>
          <a:xfrm>
            <a:off x="4983480" y="2011680"/>
            <a:ext cx="3291840" cy="2103120"/>
          </a:xfrm>
          <a:prstGeom prst="rect">
            <a:avLst/>
          </a:prstGeom>
          <a:noFill/>
        </p:spPr>
        <p:txBody>
          <a:bodyPr wrap="square" lIns="0" rIns="0" tIns="0" bIns="0" anchor="t">
            <a:spAutoFit/>
          </a:bodyPr>
          <a:lstStyle/>
          <a:p>
            <a:pPr algn="l" marL="228600" indent="-228600">
              <a:spcAft>
                <a:spcPts val="1000"/>
              </a:spcAft>
              <a:buFont typeface="Arial"/>
              <a:buChar char="•"/>
            </a:pPr>
            <a:r>
              <a:rPr sz="1200" b="0" i="0">
                <a:solidFill>
                  <a:srgbClr val="3B3678"/>
                </a:solidFill>
                <a:latin typeface="Open Sans"/>
              </a:rPr>
              <a:t>Which client requests do you see most: ISO 27001, PDPL, AI?</a:t>
            </a:r>
          </a:p>
          <a:p>
            <a:pPr algn="l" marL="228600" indent="-228600">
              <a:spcAft>
                <a:spcPts val="1000"/>
              </a:spcAft>
              <a:buFont typeface="Arial"/>
              <a:buChar char="•"/>
            </a:pPr>
            <a:r>
              <a:rPr sz="1200" b="0" i="0">
                <a:solidFill>
                  <a:srgbClr val="3B3678"/>
                </a:solidFill>
                <a:latin typeface="Open Sans"/>
              </a:rPr>
              <a:t>How do you work with advisory partners today?</a:t>
            </a:r>
          </a:p>
          <a:p>
            <a:pPr algn="l" marL="228600" indent="-228600">
              <a:spcAft>
                <a:spcPts val="1000"/>
              </a:spcAft>
              <a:buFont typeface="Arial"/>
              <a:buChar char="•"/>
            </a:pPr>
            <a:r>
              <a:rPr sz="1200" b="0" i="0">
                <a:solidFill>
                  <a:srgbClr val="3B3678"/>
                </a:solidFill>
                <a:latin typeface="Open Sans"/>
              </a:rPr>
              <a:t>What does your Vietnam team deliver locally?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3"/>
          <a:stretch>
            <a:fillRect/>
          </a:stretch>
        </p:blipFill>
        <p:spPr>
          <a:xfrm>
            <a:off x="-2" y="0"/>
            <a:ext cx="9172991" cy="5145543"/>
          </a:xfrm>
          <a:prstGeom prst="rect">
            <a:avLst/>
          </a:prstGeom>
        </p:spPr>
      </p:pic>
      <p:sp>
        <p:nvSpPr>
          <p:cNvPr id="3" name="Rectangle 2"/>
          <p:cNvSpPr/>
          <p:nvPr/>
        </p:nvSpPr>
        <p:spPr>
          <a:xfrm>
            <a:off x="-2" y="0"/>
            <a:ext cx="9201152" cy="5145543"/>
          </a:xfrm>
          <a:prstGeom prst="rect">
            <a:avLst/>
          </a:prstGeom>
          <a:solidFill>
            <a:srgbClr val="3B3678">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331019" y="469845"/>
            <a:ext cx="1970166" cy="724006"/>
          </a:xfrm>
          <a:prstGeom prst="rect">
            <a:avLst/>
          </a:prstGeom>
        </p:spPr>
      </p:pic>
      <p:sp>
        <p:nvSpPr>
          <p:cNvPr id="5" name="TextBox 4"/>
          <p:cNvSpPr txBox="1"/>
          <p:nvPr/>
        </p:nvSpPr>
        <p:spPr>
          <a:xfrm>
            <a:off x="1640260" y="466210"/>
            <a:ext cx="6046969" cy="259716"/>
          </a:xfrm>
          <a:prstGeom prst="rect">
            <a:avLst/>
          </a:prstGeom>
          <a:noFill/>
        </p:spPr>
        <p:txBody>
          <a:bodyPr wrap="none">
            <a:spAutoFit/>
          </a:bodyPr>
          <a:lstStyle/>
          <a:p>
            <a:pPr algn="ctr"/>
            <a:r>
              <a:rPr sz="1100" b="1">
                <a:solidFill>
                  <a:srgbClr val="F3F3F3"/>
                </a:solidFill>
                <a:latin typeface="Open Sans"/>
              </a:rPr>
              <a:t>SGH ASIA AND SGS VIETNAM</a:t>
            </a:r>
          </a:p>
        </p:txBody>
      </p:sp>
      <p:sp>
        <p:nvSpPr>
          <p:cNvPr id="6" name="TextBox 5"/>
          <p:cNvSpPr txBox="1"/>
          <p:nvPr/>
        </p:nvSpPr>
        <p:spPr>
          <a:xfrm>
            <a:off x="113306" y="1270000"/>
            <a:ext cx="8917388" cy="1143000"/>
          </a:xfrm>
          <a:prstGeom prst="rect">
            <a:avLst/>
          </a:prstGeom>
          <a:noFill/>
        </p:spPr>
        <p:txBody>
          <a:bodyPr wrap="square" anchor="ctr">
            <a:spAutoFit/>
          </a:bodyPr>
          <a:lstStyle/>
          <a:p>
            <a:pPr algn="ctr"/>
            <a:r>
              <a:rPr sz="3400" b="1" dirty="0">
                <a:solidFill>
                  <a:srgbClr val="F3F3F3"/>
                </a:solidFill>
                <a:latin typeface="Open Sans"/>
              </a:rPr>
              <a:t>Thank you</a:t>
            </a:r>
          </a:p>
        </p:txBody>
      </p:sp>
      <p:sp>
        <p:nvSpPr>
          <p:cNvPr id="7" name="TextBox 6"/>
          <p:cNvSpPr txBox="1"/>
          <p:nvPr/>
        </p:nvSpPr>
        <p:spPr>
          <a:xfrm>
            <a:off x="1598058" y="2603500"/>
            <a:ext cx="5947884" cy="381000"/>
          </a:xfrm>
          <a:prstGeom prst="rect">
            <a:avLst/>
          </a:prstGeom>
          <a:noFill/>
        </p:spPr>
        <p:txBody>
          <a:bodyPr wrap="none" anchor="ctr">
            <a:spAutoFit/>
          </a:bodyPr>
          <a:lstStyle/>
          <a:p>
            <a:pPr algn="ctr"/>
            <a:r>
              <a:rPr sz="1500">
                <a:solidFill>
                  <a:srgbClr val="A6A2D5"/>
                </a:solidFill>
                <a:latin typeface="Open Sans"/>
              </a:rPr>
              <a:t>Questions and discussion</a:t>
            </a:r>
          </a:p>
        </p:txBody>
      </p:sp>
      <p:cxnSp>
        <p:nvCxnSpPr>
          <p:cNvPr id="8" name="Connector 7"/>
          <p:cNvCxnSpPr/>
          <p:nvPr/>
        </p:nvCxnSpPr>
        <p:spPr>
          <a:xfrm>
            <a:off x="4093143" y="3175000"/>
            <a:ext cx="1071128" cy="0"/>
          </a:xfrm>
          <a:prstGeom prst="line">
            <a:avLst/>
          </a:prstGeom>
          <a:ln w="9525">
            <a:solidFill>
              <a:srgbClr val="F3F3F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8000" y="4318000"/>
            <a:ext cx="4318000" cy="254000"/>
          </a:xfrm>
          <a:prstGeom prst="rect">
            <a:avLst/>
          </a:prstGeom>
          <a:noFill/>
        </p:spPr>
        <p:txBody>
          <a:bodyPr wrap="square">
            <a:spAutoFit/>
          </a:bodyPr>
          <a:lstStyle/>
          <a:p>
            <a:pPr algn="l"/>
            <a:r>
              <a:rPr sz="1200">
                <a:solidFill>
                  <a:srgbClr val="F3F3F3"/>
                </a:solidFill>
                <a:latin typeface="Open Sans"/>
              </a:rPr>
              <a:t>Pavel Poskakukhin and Tran My Phuc, SGH Asia</a:t>
            </a:r>
          </a:p>
        </p:txBody>
      </p:sp>
      <p:sp>
        <p:nvSpPr>
          <p:cNvPr id="10" name="TextBox 9"/>
          <p:cNvSpPr txBox="1"/>
          <p:nvPr/>
        </p:nvSpPr>
        <p:spPr>
          <a:xfrm>
            <a:off x="5334000" y="4318000"/>
            <a:ext cx="3302000" cy="254000"/>
          </a:xfrm>
          <a:prstGeom prst="rect">
            <a:avLst/>
          </a:prstGeom>
          <a:noFill/>
        </p:spPr>
        <p:txBody>
          <a:bodyPr wrap="square">
            <a:spAutoFit/>
          </a:bodyPr>
          <a:lstStyle/>
          <a:p>
            <a:pPr algn="r"/>
            <a:r>
              <a:rPr sz="1200">
                <a:solidFill>
                  <a:srgbClr val="F3F3F3"/>
                </a:solidFill>
                <a:latin typeface="Open Sans"/>
              </a:rPr>
              <a:t>7 October 2026</a:t>
            </a:r>
          </a:p>
        </p:txBody>
      </p:sp>
    </p:spTree>
  </p:cSld>
  <p:clrMapOvr>
    <a:masterClrMapping/>
  </p:clrMapOvr>
</p:sld>
</file>

<file path=ppt/theme/theme1.xml><?xml version="1.0" encoding="utf-8"?>
<a:theme xmlns:a="http://schemas.openxmlformats.org/drawingml/2006/main" name="Office-Design [1785474042749]">
  <a:themeElements>
    <a:clrScheme name="Office-Design">
      <a:dk1>
        <a:srgbClr val="1D1E23"/>
      </a:dk1>
      <a:lt1>
        <a:srgbClr val="F3F3F3"/>
      </a:lt1>
      <a:dk2>
        <a:srgbClr val="A7A7A7"/>
      </a:dk2>
      <a:lt2>
        <a:srgbClr val="535353"/>
      </a:lt2>
      <a:accent1>
        <a:srgbClr val="2CBE9A"/>
      </a:accent1>
      <a:accent2>
        <a:srgbClr val="8E9ED1"/>
      </a:accent2>
      <a:accent3>
        <a:srgbClr val="196A56"/>
      </a:accent3>
      <a:accent4>
        <a:srgbClr val="135242"/>
      </a:accent4>
      <a:accent5>
        <a:srgbClr val="0D392E"/>
      </a:accent5>
      <a:accent6>
        <a:srgbClr val="07201A"/>
      </a:accent6>
      <a:hlink>
        <a:srgbClr val="0000FF"/>
      </a:hlink>
      <a:folHlink>
        <a:srgbClr val="FF00FF"/>
      </a:folHlink>
    </a:clrScheme>
    <a:fontScheme name="Office-Design">
      <a:majorFont>
        <a:latin typeface="Helvetica"/>
        <a:ea typeface="Helvetica"/>
        <a:cs typeface="Helvetica"/>
      </a:majorFont>
      <a:minorFont>
        <a:latin typeface="Calibri"/>
        <a:ea typeface="Calibri"/>
        <a:cs typeface="Calibri"/>
      </a:minorFont>
    </a:fontScheme>
    <a:fmtScheme name="Office-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3F3F3"/>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Design">
  <a:themeElements>
    <a:clrScheme name="Office-Design">
      <a:dk1>
        <a:srgbClr val="1D1E23"/>
      </a:dk1>
      <a:lt1>
        <a:srgbClr val="F3F3F3"/>
      </a:lt1>
      <a:dk2>
        <a:srgbClr val="A7A7A7"/>
      </a:dk2>
      <a:lt2>
        <a:srgbClr val="535353"/>
      </a:lt2>
      <a:accent1>
        <a:srgbClr val="2CBE9A"/>
      </a:accent1>
      <a:accent2>
        <a:srgbClr val="8E9ED1"/>
      </a:accent2>
      <a:accent3>
        <a:srgbClr val="196A56"/>
      </a:accent3>
      <a:accent4>
        <a:srgbClr val="135242"/>
      </a:accent4>
      <a:accent5>
        <a:srgbClr val="0D392E"/>
      </a:accent5>
      <a:accent6>
        <a:srgbClr val="07201A"/>
      </a:accent6>
      <a:hlink>
        <a:srgbClr val="0000FF"/>
      </a:hlink>
      <a:folHlink>
        <a:srgbClr val="FF00FF"/>
      </a:folHlink>
    </a:clrScheme>
    <a:fontScheme name="Office-Design">
      <a:majorFont>
        <a:latin typeface="Helvetica"/>
        <a:ea typeface="Helvetica"/>
        <a:cs typeface="Helvetica"/>
      </a:majorFont>
      <a:minorFont>
        <a:latin typeface="Calibri"/>
        <a:ea typeface="Calibri"/>
        <a:cs typeface="Calibri"/>
      </a:minorFont>
    </a:fontScheme>
    <a:fmtScheme name="Office-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3F3F3"/>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Design">
  <a:themeElements>
    <a:clrScheme name="Office-Design">
      <a:dk1>
        <a:srgbClr val="000000"/>
      </a:dk1>
      <a:lt1>
        <a:srgbClr val="FFFFFF"/>
      </a:lt1>
      <a:dk2>
        <a:srgbClr val="A7A7A7"/>
      </a:dk2>
      <a:lt2>
        <a:srgbClr val="535353"/>
      </a:lt2>
      <a:accent1>
        <a:srgbClr val="2CBE9A"/>
      </a:accent1>
      <a:accent2>
        <a:srgbClr val="8E9ED1"/>
      </a:accent2>
      <a:accent3>
        <a:srgbClr val="196A56"/>
      </a:accent3>
      <a:accent4>
        <a:srgbClr val="135242"/>
      </a:accent4>
      <a:accent5>
        <a:srgbClr val="0D392E"/>
      </a:accent5>
      <a:accent6>
        <a:srgbClr val="07201A"/>
      </a:accent6>
      <a:hlink>
        <a:srgbClr val="0000FF"/>
      </a:hlink>
      <a:folHlink>
        <a:srgbClr val="FF00FF"/>
      </a:folHlink>
    </a:clrScheme>
    <a:fontScheme name="Office-Design">
      <a:majorFont>
        <a:latin typeface="Helvetica"/>
        <a:ea typeface="Helvetica"/>
        <a:cs typeface="Helvetica"/>
      </a:majorFont>
      <a:minorFont>
        <a:latin typeface="Calibri"/>
        <a:ea typeface="Calibri"/>
        <a:cs typeface="Calibri"/>
      </a:minorFont>
    </a:fontScheme>
    <a:fmtScheme name="Office-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3F3F3"/>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24D64FE-7E0F-4DA4-BE29-48850A53A6A5}">
  <we:reference id="WA200010001" version="1.0.0.1" store="Omex" storeType="OMEX"/>
  <we:alternateReferences>
    <we:reference id="WA200010001" version="1.0.0.1" store="WA200010001" storeType="OMEX"/>
  </we:alternateReferences>
  <we:properties>
    <we:property name="claude.fileId" value="&quot;ee4aa688-273b-47ea-8fa0-72448550ebfe&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63139cc-e737-45a1-a6fa-7f795a019ca8" xsi:nil="true"/>
    <PersonorGroup xmlns="9c04146f-2111-426b-898f-cd95fe9ba01a">
      <UserInfo>
        <DisplayName/>
        <AccountId xsi:nil="true"/>
        <AccountType/>
      </UserInfo>
    </PersonorGroup>
    <lcf76f155ced4ddcb4097134ff3c332f xmlns="9c04146f-2111-426b-898f-cd95fe9ba01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Tài liệu" ma:contentTypeID="0x0101007BBE3561B3C54741B60DE2B33D507E08" ma:contentTypeVersion="19" ma:contentTypeDescription="Tạo tài liệu mới." ma:contentTypeScope="" ma:versionID="795a078cf0f620a2a16b285326b79686">
  <xsd:schema xmlns:xsd="http://www.w3.org/2001/XMLSchema" xmlns:xs="http://www.w3.org/2001/XMLSchema" xmlns:p="http://schemas.microsoft.com/office/2006/metadata/properties" xmlns:ns2="663139cc-e737-45a1-a6fa-7f795a019ca8" xmlns:ns3="9c04146f-2111-426b-898f-cd95fe9ba01a" targetNamespace="http://schemas.microsoft.com/office/2006/metadata/properties" ma:root="true" ma:fieldsID="59601f184b926582e016404db0e52049" ns2:_="" ns3:_="">
    <xsd:import namespace="663139cc-e737-45a1-a6fa-7f795a019ca8"/>
    <xsd:import namespace="9c04146f-2111-426b-898f-cd95fe9ba01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element ref="ns3:MediaServiceAutoKeyPoints" minOccurs="0"/>
                <xsd:element ref="ns3:MediaServiceKeyPoints" minOccurs="0"/>
                <xsd:element ref="ns3:PersonorGroup"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3139cc-e737-45a1-a6fa-7f795a019ca8" elementFormDefault="qualified">
    <xsd:import namespace="http://schemas.microsoft.com/office/2006/documentManagement/types"/>
    <xsd:import namespace="http://schemas.microsoft.com/office/infopath/2007/PartnerControls"/>
    <xsd:element name="SharedWithUsers" ma:index="8" nillable="true" ma:displayName="Chia sẻ Với"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hia sẻ Có Chi tiết" ma:internalName="SharedWithDetails" ma:readOnly="true">
      <xsd:simpleType>
        <xsd:restriction base="dms:Note">
          <xsd:maxLength value="255"/>
        </xsd:restriction>
      </xsd:simpleType>
    </xsd:element>
    <xsd:element name="TaxCatchAll" ma:index="24" nillable="true" ma:displayName="Taxonomy Catch All Column" ma:hidden="true" ma:list="{5c7e9638-eed0-482f-9330-13bba9644b76}" ma:internalName="TaxCatchAll" ma:showField="CatchAllData" ma:web="663139cc-e737-45a1-a6fa-7f795a019ca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c04146f-2111-426b-898f-cd95fe9ba01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PersonorGroup" ma:index="20" nillable="true" ma:displayName="Person or Group" ma:format="Dropdown" ma:list="UserInfo" ma:SharePointGroup="0" ma:internalName="PersonorGroup">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LengthInSeconds" ma:index="21"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Thẻ Hình ảnh" ma:readOnly="false" ma:fieldId="{5cf76f15-5ced-4ddc-b409-7134ff3c332f}" ma:taxonomyMulti="true" ma:sspId="e021e5a0-84a4-4b81-bf0e-ab9933ea469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713963-8E69-49D5-A9F6-179FAAC0DEC5}">
  <ds:schemaRefs>
    <ds:schemaRef ds:uri="663139cc-e737-45a1-a6fa-7f795a019ca8"/>
    <ds:schemaRef ds:uri="9c04146f-2111-426b-898f-cd95fe9ba01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8DF7108-AC4E-43E5-85F3-8FDCD959D4CD}">
  <ds:schemaRefs>
    <ds:schemaRef ds:uri="http://schemas.microsoft.com/sharepoint/v3/contenttype/forms"/>
  </ds:schemaRefs>
</ds:datastoreItem>
</file>

<file path=customXml/itemProps3.xml><?xml version="1.0" encoding="utf-8"?>
<ds:datastoreItem xmlns:ds="http://schemas.openxmlformats.org/officeDocument/2006/customXml" ds:itemID="{742DC39A-247C-40C3-AF46-76B4784CFA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3139cc-e737-45a1-a6fa-7f795a019ca8"/>
    <ds:schemaRef ds:uri="9c04146f-2111-426b-898f-cd95fe9ba0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1451</TotalTime>
  <Words>839</Words>
  <Application>Microsoft Office PowerPoint</Application>
  <PresentationFormat>On-screen Show (16:9)</PresentationFormat>
  <Paragraphs>130</Paragraphs>
  <Slides>14</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14</vt:i4>
      </vt:variant>
    </vt:vector>
  </HeadingPairs>
  <TitlesOfParts>
    <vt:vector size="23" baseType="lpstr">
      <vt:lpstr>Arial</vt:lpstr>
      <vt:lpstr>Calibri</vt:lpstr>
      <vt:lpstr>Century Gothic</vt:lpstr>
      <vt:lpstr>CooperHewitt-Light</vt:lpstr>
      <vt:lpstr>Montserrat Thin Regular</vt:lpstr>
      <vt:lpstr>Open Sans</vt:lpstr>
      <vt:lpstr>PT Sans</vt:lpstr>
      <vt:lpstr>Office-Design [1785474042749]</vt:lpstr>
      <vt:lpstr>Office-Design</vt:lpstr>
      <vt:lpstr>PowerPoint Presentation</vt:lpstr>
      <vt:lpstr>PowerPoint Presentation</vt:lpstr>
      <vt:lpstr>PowerPoint Presentation</vt:lpstr>
      <vt:lpstr>How It Came to Be</vt:lpstr>
      <vt:lpstr>The Numbers Behind the Speed</vt:lpstr>
      <vt:lpstr>PowerPoint Presentation</vt:lpstr>
      <vt:lpstr>AI as a Digital Partner — the Working Rhythm</vt:lpstr>
      <vt:lpstr>Same Discipline, Smaller Team</vt:lpstr>
      <vt:lpstr>Case Example: 26-29 July</vt:lpstr>
      <vt:lpstr>PowerPoint Presentation</vt:lpstr>
      <vt:lpstr>Where to Look, How to Read It</vt:lpstr>
      <vt:lpstr>How This Aligns With the Three Pillars</vt:lpstr>
      <vt:lpstr>PowerPoint Presentation</vt:lpstr>
      <vt:lpstr>Status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Tỉnh Xỉn</dc:creator>
  <cp:lastModifiedBy>Phuc Tran</cp:lastModifiedBy>
  <cp:revision>26</cp:revision>
  <dcterms:modified xsi:type="dcterms:W3CDTF">2026-07-31T07:20:48Z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0x0101007BBE3561B3C54741B60DE2B33D507E08</vt:lpwstr>
  </property>
  <property fmtid="{D5CDD505-2E9C-101B-9397-08002B2CF9AE}" pid="3" name="MediaServiceImageTags">
    <vt:lpwstr/>
  </property>
</Properties>
</file>