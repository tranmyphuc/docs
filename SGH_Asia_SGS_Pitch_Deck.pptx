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6" r:id="rId4"/>
    <p:sldMasterId id="2147483648" r:id="rId5"/>
  </p:sldMasterIdLst>
  <p:notesMasterIdLst>
    <p:notesMasterId r:id="rId20"/>
  </p:notesMasterIdLst>
  <p:sldIdLst>
    <p:sldId id="420" r:id="rId25"/>
    <p:sldId id="435" r:id="rId19"/>
    <p:sldId id="436" r:id="rId18"/>
    <p:sldId id="437" r:id="rId17"/>
    <p:sldId id="438" r:id="rId16"/>
    <p:sldId id="439" r:id="rId15"/>
    <p:sldId id="440" r:id="rId14"/>
    <p:sldId id="441" r:id="rId13"/>
    <p:sldId id="442" r:id="rId12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1D1E23"/>
        </a:solidFill>
        <a:effectLst/>
        <a:uFillTx/>
        <a:latin typeface="Century Gothic"/>
        <a:ea typeface="Century Gothic"/>
        <a:cs typeface="Century Gothic"/>
        <a:sym typeface="Century Gothic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1D1E23"/>
        </a:solidFill>
        <a:effectLst/>
        <a:uFillTx/>
        <a:latin typeface="Century Gothic"/>
        <a:ea typeface="Century Gothic"/>
        <a:cs typeface="Century Gothic"/>
        <a:sym typeface="Century Gothic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1D1E23"/>
        </a:solidFill>
        <a:effectLst/>
        <a:uFillTx/>
        <a:latin typeface="Century Gothic"/>
        <a:ea typeface="Century Gothic"/>
        <a:cs typeface="Century Gothic"/>
        <a:sym typeface="Century Gothic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1D1E23"/>
        </a:solidFill>
        <a:effectLst/>
        <a:uFillTx/>
        <a:latin typeface="Century Gothic"/>
        <a:ea typeface="Century Gothic"/>
        <a:cs typeface="Century Gothic"/>
        <a:sym typeface="Century Gothic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1D1E23"/>
        </a:solidFill>
        <a:effectLst/>
        <a:uFillTx/>
        <a:latin typeface="Century Gothic"/>
        <a:ea typeface="Century Gothic"/>
        <a:cs typeface="Century Gothic"/>
        <a:sym typeface="Century Gothic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1D1E23"/>
        </a:solidFill>
        <a:effectLst/>
        <a:uFillTx/>
        <a:latin typeface="Century Gothic"/>
        <a:ea typeface="Century Gothic"/>
        <a:cs typeface="Century Gothic"/>
        <a:sym typeface="Century Gothic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1D1E23"/>
        </a:solidFill>
        <a:effectLst/>
        <a:uFillTx/>
        <a:latin typeface="Century Gothic"/>
        <a:ea typeface="Century Gothic"/>
        <a:cs typeface="Century Gothic"/>
        <a:sym typeface="Century Gothic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1D1E23"/>
        </a:solidFill>
        <a:effectLst/>
        <a:uFillTx/>
        <a:latin typeface="Century Gothic"/>
        <a:ea typeface="Century Gothic"/>
        <a:cs typeface="Century Gothic"/>
        <a:sym typeface="Century Gothic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1D1E23"/>
        </a:solidFill>
        <a:effectLst/>
        <a:uFillTx/>
        <a:latin typeface="Century Gothic"/>
        <a:ea typeface="Century Gothic"/>
        <a:cs typeface="Century Gothic"/>
        <a:sym typeface="Century Gothic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3F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rgbClr val="CBE8DD"/>
          </a:solidFill>
        </a:fill>
      </a:tcStyle>
    </a:wholeTbl>
    <a:band2H>
      <a:tcTxStyle/>
      <a:tcStyle>
        <a:tcBdr/>
        <a:fill>
          <a:solidFill>
            <a:srgbClr val="E7F4EF"/>
          </a:solidFill>
        </a:fill>
      </a:tcStyle>
    </a:band2H>
    <a:firstCol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381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381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rgbClr val="CBE8DD"/>
          </a:solidFill>
        </a:fill>
      </a:tcStyle>
    </a:wholeTbl>
    <a:band2H>
      <a:tcTxStyle/>
      <a:tcStyle>
        <a:tcBdr/>
        <a:fill>
          <a:solidFill>
            <a:srgbClr val="E7F4EF"/>
          </a:solidFill>
        </a:fill>
      </a:tcStyle>
    </a:band2H>
    <a:firstCol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381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381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rgbClr val="CBE8DD"/>
          </a:solidFill>
        </a:fill>
      </a:tcStyle>
    </a:wholeTbl>
    <a:band2H>
      <a:tcTxStyle/>
      <a:tcStyle>
        <a:tcBdr/>
        <a:fill>
          <a:solidFill>
            <a:srgbClr val="E7F4EF"/>
          </a:solidFill>
        </a:fill>
      </a:tcStyle>
    </a:band2H>
    <a:firstCol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381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381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7E7"/>
          </a:solidFill>
        </a:fill>
      </a:tcStyle>
    </a:wholeTbl>
    <a:band2H>
      <a:tcTxStyle/>
      <a:tcStyle>
        <a:tcBdr/>
        <a:fill>
          <a:solidFill>
            <a:srgbClr val="F3F3F3"/>
          </a:solidFill>
        </a:fill>
      </a:tcStyle>
    </a:band2H>
    <a:firstCol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D1E23"/>
              </a:solidFill>
              <a:prstDash val="solid"/>
              <a:round/>
            </a:ln>
          </a:top>
          <a:bottom>
            <a:ln w="25400" cap="flat">
              <a:solidFill>
                <a:srgbClr val="1D1E23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3F3F3"/>
          </a:solidFill>
        </a:fill>
      </a:tcStyle>
    </a:lastRow>
    <a:firstRow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D1E23"/>
              </a:solidFill>
              <a:prstDash val="solid"/>
              <a:round/>
            </a:ln>
          </a:top>
          <a:bottom>
            <a:ln w="25400" cap="flat">
              <a:solidFill>
                <a:srgbClr val="1D1E23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rgbClr val="CBCBCB"/>
          </a:solidFill>
        </a:fill>
      </a:tcStyle>
    </a:wholeTbl>
    <a:band2H>
      <a:tcTxStyle/>
      <a:tcStyle>
        <a:tcBdr/>
        <a:fill>
          <a:solidFill>
            <a:srgbClr val="E7E7E7"/>
          </a:solidFill>
        </a:fill>
      </a:tcStyle>
    </a:band2H>
    <a:firstCol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rgbClr val="1D1E23"/>
          </a:solidFill>
        </a:fill>
      </a:tcStyle>
    </a:firstCol>
    <a:lastRow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38100" cap="flat">
              <a:solidFill>
                <a:srgbClr val="F3F3F3"/>
              </a:solidFill>
              <a:prstDash val="solid"/>
              <a:round/>
            </a:ln>
          </a:top>
          <a:bottom>
            <a:ln w="127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rgbClr val="1D1E23"/>
          </a:solidFill>
        </a:fill>
      </a:tcStyle>
    </a:lastRow>
    <a:firstRow>
      <a:tcTxStyle b="on" i="off">
        <a:font>
          <a:latin typeface="Century Gothic"/>
          <a:ea typeface="Century Gothic"/>
          <a:cs typeface="Century Gothic"/>
        </a:font>
        <a:srgbClr val="F3F3F3"/>
      </a:tcTxStyle>
      <a:tcStyle>
        <a:tcBdr>
          <a:left>
            <a:ln w="12700" cap="flat">
              <a:solidFill>
                <a:srgbClr val="F3F3F3"/>
              </a:solidFill>
              <a:prstDash val="solid"/>
              <a:round/>
            </a:ln>
          </a:left>
          <a:right>
            <a:ln w="12700" cap="flat">
              <a:solidFill>
                <a:srgbClr val="F3F3F3"/>
              </a:solidFill>
              <a:prstDash val="solid"/>
              <a:round/>
            </a:ln>
          </a:right>
          <a:top>
            <a:ln w="12700" cap="flat">
              <a:solidFill>
                <a:srgbClr val="F3F3F3"/>
              </a:solidFill>
              <a:prstDash val="solid"/>
              <a:round/>
            </a:ln>
          </a:top>
          <a:bottom>
            <a:ln w="38100" cap="flat">
              <a:solidFill>
                <a:srgbClr val="F3F3F3"/>
              </a:solidFill>
              <a:prstDash val="solid"/>
              <a:round/>
            </a:ln>
          </a:bottom>
          <a:insideH>
            <a:ln w="12700" cap="flat">
              <a:solidFill>
                <a:srgbClr val="F3F3F3"/>
              </a:solidFill>
              <a:prstDash val="solid"/>
              <a:round/>
            </a:ln>
          </a:insideH>
          <a:insideV>
            <a:ln w="12700" cap="flat">
              <a:solidFill>
                <a:srgbClr val="F3F3F3"/>
              </a:solidFill>
              <a:prstDash val="solid"/>
              <a:round/>
            </a:ln>
          </a:insideV>
        </a:tcBdr>
        <a:fill>
          <a:solidFill>
            <a:srgbClr val="1D1E23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solidFill>
                <a:srgbClr val="1D1E23"/>
              </a:solidFill>
              <a:prstDash val="solid"/>
              <a:round/>
            </a:ln>
          </a:left>
          <a:right>
            <a:ln w="12700" cap="flat">
              <a:solidFill>
                <a:srgbClr val="1D1E23"/>
              </a:solidFill>
              <a:prstDash val="solid"/>
              <a:round/>
            </a:ln>
          </a:right>
          <a:top>
            <a:ln w="12700" cap="flat">
              <a:solidFill>
                <a:srgbClr val="1D1E23"/>
              </a:solidFill>
              <a:prstDash val="solid"/>
              <a:round/>
            </a:ln>
          </a:top>
          <a:bottom>
            <a:ln w="12700" cap="flat">
              <a:solidFill>
                <a:srgbClr val="1D1E23"/>
              </a:solidFill>
              <a:prstDash val="solid"/>
              <a:round/>
            </a:ln>
          </a:bottom>
          <a:insideH>
            <a:ln w="12700" cap="flat">
              <a:solidFill>
                <a:srgbClr val="1D1E23"/>
              </a:solidFill>
              <a:prstDash val="solid"/>
              <a:round/>
            </a:ln>
          </a:insideH>
          <a:insideV>
            <a:ln w="12700" cap="flat">
              <a:solidFill>
                <a:srgbClr val="1D1E23"/>
              </a:solidFill>
              <a:prstDash val="solid"/>
              <a:round/>
            </a:ln>
          </a:insideV>
        </a:tcBdr>
        <a:fill>
          <a:solidFill>
            <a:srgbClr val="1D1E23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solidFill>
                <a:srgbClr val="1D1E23"/>
              </a:solidFill>
              <a:prstDash val="solid"/>
              <a:round/>
            </a:ln>
          </a:left>
          <a:right>
            <a:ln w="12700" cap="flat">
              <a:solidFill>
                <a:srgbClr val="1D1E23"/>
              </a:solidFill>
              <a:prstDash val="solid"/>
              <a:round/>
            </a:ln>
          </a:right>
          <a:top>
            <a:ln w="12700" cap="flat">
              <a:solidFill>
                <a:srgbClr val="1D1E23"/>
              </a:solidFill>
              <a:prstDash val="solid"/>
              <a:round/>
            </a:ln>
          </a:top>
          <a:bottom>
            <a:ln w="12700" cap="flat">
              <a:solidFill>
                <a:srgbClr val="1D1E23"/>
              </a:solidFill>
              <a:prstDash val="solid"/>
              <a:round/>
            </a:ln>
          </a:bottom>
          <a:insideH>
            <a:ln w="12700" cap="flat">
              <a:solidFill>
                <a:srgbClr val="1D1E23"/>
              </a:solidFill>
              <a:prstDash val="solid"/>
              <a:round/>
            </a:ln>
          </a:insideH>
          <a:insideV>
            <a:ln w="12700" cap="flat">
              <a:solidFill>
                <a:srgbClr val="1D1E23"/>
              </a:solidFill>
              <a:prstDash val="solid"/>
              <a:round/>
            </a:ln>
          </a:insideV>
        </a:tcBdr>
        <a:fill>
          <a:solidFill>
            <a:srgbClr val="1D1E23">
              <a:alpha val="20000"/>
            </a:srgbClr>
          </a:solidFill>
        </a:fill>
      </a:tcStyle>
    </a:firstCol>
    <a:lastRow>
      <a:tcTxStyle b="on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solidFill>
                <a:srgbClr val="1D1E23"/>
              </a:solidFill>
              <a:prstDash val="solid"/>
              <a:round/>
            </a:ln>
          </a:left>
          <a:right>
            <a:ln w="12700" cap="flat">
              <a:solidFill>
                <a:srgbClr val="1D1E23"/>
              </a:solidFill>
              <a:prstDash val="solid"/>
              <a:round/>
            </a:ln>
          </a:right>
          <a:top>
            <a:ln w="50800" cap="flat">
              <a:solidFill>
                <a:srgbClr val="1D1E23"/>
              </a:solidFill>
              <a:prstDash val="solid"/>
              <a:round/>
            </a:ln>
          </a:top>
          <a:bottom>
            <a:ln w="12700" cap="flat">
              <a:solidFill>
                <a:srgbClr val="1D1E23"/>
              </a:solidFill>
              <a:prstDash val="solid"/>
              <a:round/>
            </a:ln>
          </a:bottom>
          <a:insideH>
            <a:ln w="12700" cap="flat">
              <a:solidFill>
                <a:srgbClr val="1D1E23"/>
              </a:solidFill>
              <a:prstDash val="solid"/>
              <a:round/>
            </a:ln>
          </a:insideH>
          <a:insideV>
            <a:ln w="12700" cap="flat">
              <a:solidFill>
                <a:srgbClr val="1D1E23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entury Gothic"/>
          <a:ea typeface="Century Gothic"/>
          <a:cs typeface="Century Gothic"/>
        </a:font>
        <a:srgbClr val="1D1E23"/>
      </a:tcTxStyle>
      <a:tcStyle>
        <a:tcBdr>
          <a:left>
            <a:ln w="12700" cap="flat">
              <a:solidFill>
                <a:srgbClr val="1D1E23"/>
              </a:solidFill>
              <a:prstDash val="solid"/>
              <a:round/>
            </a:ln>
          </a:left>
          <a:right>
            <a:ln w="12700" cap="flat">
              <a:solidFill>
                <a:srgbClr val="1D1E23"/>
              </a:solidFill>
              <a:prstDash val="solid"/>
              <a:round/>
            </a:ln>
          </a:right>
          <a:top>
            <a:ln w="12700" cap="flat">
              <a:solidFill>
                <a:srgbClr val="1D1E23"/>
              </a:solidFill>
              <a:prstDash val="solid"/>
              <a:round/>
            </a:ln>
          </a:top>
          <a:bottom>
            <a:ln w="25400" cap="flat">
              <a:solidFill>
                <a:srgbClr val="1D1E23"/>
              </a:solidFill>
              <a:prstDash val="solid"/>
              <a:round/>
            </a:ln>
          </a:bottom>
          <a:insideH>
            <a:ln w="12700" cap="flat">
              <a:solidFill>
                <a:srgbClr val="1D1E23"/>
              </a:solidFill>
              <a:prstDash val="solid"/>
              <a:round/>
            </a:ln>
          </a:insideH>
          <a:insideV>
            <a:ln w="12700" cap="flat">
              <a:solidFill>
                <a:srgbClr val="1D1E23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7" autoAdjust="0"/>
    <p:restoredTop sz="94660"/>
  </p:normalViewPr>
  <p:slideViewPr>
    <p:cSldViewPr snapToGrid="0">
      <p:cViewPr varScale="1">
        <p:scale>
          <a:sx n="185" d="100"/>
          <a:sy n="185" d="100"/>
        </p:scale>
        <p:origin x="14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2" Type="http://schemas.openxmlformats.org/officeDocument/2006/relationships/slide" Target="slides/slide23.xml"/><Relationship Id="rId13" Type="http://schemas.openxmlformats.org/officeDocument/2006/relationships/slide" Target="slides/slide22.xml"/><Relationship Id="rId14" Type="http://schemas.openxmlformats.org/officeDocument/2006/relationships/slide" Target="slides/slide21.xml"/><Relationship Id="rId15" Type="http://schemas.openxmlformats.org/officeDocument/2006/relationships/slide" Target="slides/slide20.xml"/><Relationship Id="rId16" Type="http://schemas.openxmlformats.org/officeDocument/2006/relationships/slide" Target="slides/slide19.xml"/><Relationship Id="rId17" Type="http://schemas.openxmlformats.org/officeDocument/2006/relationships/slide" Target="slides/slide18.xml"/><Relationship Id="rId18" Type="http://schemas.openxmlformats.org/officeDocument/2006/relationships/slide" Target="slides/slide17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14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8" name="Shape 14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Open warmly: thank Jackson for the introduction to Jane. Purpose of the hour: understand how SGS Business Assurance works with partners and test whether SGH Asia readiness work and SGS independent certification can serve the same clients. Keep it an exploration, not a sales pitch.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Open with the answer. Demand: three new Vietnamese rules (e-invoicing, personal data, cybersecurity) are pushing firms towards ISO 27001, privacy and AI governance programmes. Fit: SGH Asia prepares and implements; SGS certifies independently, so the two roles do not overlap. Ask: agree one pilot and one named contact on each side. This follows Pavel's note from 17 Aug about overlapping support between SGS Business Assurance and SGH Asia infrastructure and security.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Three Vietnamese measures in 13 months. E-invoicing: Decree 70/2025/ND-CP and Circular 32/2025/TT-BTC, effective 01 Jun 2025; consumer-facing businesses connect point-of-sale systems to the tax authority. Personal data: Law 91/2025/QH15, effective 01 Jan 2026, with Decree 356/2025/ND-CP as implementing guidance; data subject rights, mandatory DPO, impact assessments, fines and criminal penalties. Cybersecurity: Law 116/2025/QH15, effective 01 Jul 2026; covered online-service providers store personal and user data in Vietnam. Sources: Thomson Reuters regulatory updates, KPMG Circular 32/2025 note, Vietnam Briefing, CMS, Conventus Law. Verify details with counsel before quoting figures.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Facts here come from our own correspondence and service list; add client names, case studies and numbers before the meeting. SGH Asia Ltd is an SGH Group company covering Europe and Asia-Pacific, based in Ho Chi Minh City. We hold ISO 27001:2022 and are GDPR compliant (stated in our email footer). Pavel is General Manager and Co-Chair of the EuroCham Vietnam Digital Sector Committee. Our DPO, Tran My Phuc, is VnDPO certified. We practise what we advise.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Built from public SGS pages, not from inside knowledge, so invite correction. SGS has operated in Vietnam since 1989. Business Assurance: ISO 9001; information security and privacy (ISO/IEC 27001, 27701); AI management system certification (ISO/IEC 42001); ESG assurance from risk evaluation to report assurance; carbon standards (ISO 14064-1, 14067, 14068-1); EcoVadis consulting. The portfolio shown is global; ask Jane what is delivered locally in Vietnam versus regionally. Jackson described Jane as Director of Business Assurance covering ISO 9001, cybersecurity certification, ESG and carbon accounting.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Client journey in four steps. Readiness and implementation are consulting work; certification must be independent. Certification bodies work under impartiality rules (ISO/IEC 17021-1), so they generally do not design the systems they certify; a consulting partner fills that gap and sends audit-ready clients. Ask Jane how SGS handles this today and whether it already works with advisory partners.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Ideas to test, not commitments. 1) ISO 27001 plus PDPL: one readiness effort feeds the certification audit and the Law 91/2025 programme. 2) ISO/IEC 42001: AI governance readiness for firms adopting AI. 3) Joint briefings through the EuroCham Digital Sector Committee, where Pavel is Co-Chair. 4) ESG and carbon data: systems that capture and report data, with SGS verifying; this one is a hypothesis to validate with Jane.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Propose a light start. Dates are proposals. Listen more than pitch in the questions block: how SGS works with advisory partners today, which client requests it sees most, and what the Vietnam team delivers locally.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Close. Restate the ask: pick one pilot and one named contact on each side within 30 days.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85435174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583121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2638F-2473-B18E-B91A-269BE44C9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EFDF05-CC5F-F294-36DA-C8082AA2A1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572761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6"/>
          <p:cNvSpPr/>
          <p:nvPr/>
        </p:nvSpPr>
        <p:spPr>
          <a:xfrm>
            <a:off x="8976776" y="0"/>
            <a:ext cx="176919" cy="5143500"/>
          </a:xfrm>
          <a:prstGeom prst="rect">
            <a:avLst/>
          </a:prstGeom>
          <a:solidFill>
            <a:srgbClr val="2C295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89898A"/>
                </a:solidFill>
                <a:latin typeface="CooperHewitt-Light"/>
                <a:ea typeface="CooperHewitt-Light"/>
                <a:cs typeface="CooperHewitt-Light"/>
                <a:sym typeface="CooperHewitt-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6"/>
          <p:cNvSpPr/>
          <p:nvPr/>
        </p:nvSpPr>
        <p:spPr>
          <a:xfrm>
            <a:off x="8976776" y="0"/>
            <a:ext cx="176919" cy="5143500"/>
          </a:xfrm>
          <a:prstGeom prst="rect">
            <a:avLst/>
          </a:prstGeom>
          <a:solidFill>
            <a:srgbClr val="2C295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pic>
        <p:nvPicPr>
          <p:cNvPr id="33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89898A"/>
                </a:solidFill>
                <a:latin typeface="CooperHewitt-Light"/>
                <a:ea typeface="CooperHewitt-Light"/>
                <a:cs typeface="CooperHewitt-Light"/>
                <a:sym typeface="CooperHewitt-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hteck 6"/>
          <p:cNvSpPr/>
          <p:nvPr/>
        </p:nvSpPr>
        <p:spPr>
          <a:xfrm>
            <a:off x="8976776" y="0"/>
            <a:ext cx="176919" cy="5143500"/>
          </a:xfrm>
          <a:prstGeom prst="rect">
            <a:avLst/>
          </a:prstGeom>
          <a:solidFill>
            <a:srgbClr val="2C295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pic>
        <p:nvPicPr>
          <p:cNvPr id="42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89898A"/>
                </a:solidFill>
                <a:latin typeface="CooperHewitt-Light"/>
                <a:ea typeface="CooperHewitt-Light"/>
                <a:cs typeface="CooperHewitt-Light"/>
                <a:sym typeface="CooperHewitt-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hteck 6"/>
          <p:cNvSpPr/>
          <p:nvPr/>
        </p:nvSpPr>
        <p:spPr>
          <a:xfrm>
            <a:off x="8976776" y="0"/>
            <a:ext cx="176919" cy="5143500"/>
          </a:xfrm>
          <a:prstGeom prst="rect">
            <a:avLst/>
          </a:prstGeom>
          <a:solidFill>
            <a:srgbClr val="2C295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pic>
        <p:nvPicPr>
          <p:cNvPr id="51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89898A"/>
                </a:solidFill>
                <a:latin typeface="CooperHewitt-Light"/>
                <a:ea typeface="CooperHewitt-Light"/>
                <a:cs typeface="CooperHewitt-Light"/>
                <a:sym typeface="CooperHewitt-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hteck 6"/>
          <p:cNvSpPr/>
          <p:nvPr/>
        </p:nvSpPr>
        <p:spPr>
          <a:xfrm>
            <a:off x="8976776" y="0"/>
            <a:ext cx="176919" cy="5143500"/>
          </a:xfrm>
          <a:prstGeom prst="rect">
            <a:avLst/>
          </a:prstGeom>
          <a:solidFill>
            <a:srgbClr val="2C295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pic>
        <p:nvPicPr>
          <p:cNvPr id="60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89898A"/>
                </a:solidFill>
                <a:latin typeface="CooperHewitt-Light"/>
                <a:ea typeface="CooperHewitt-Light"/>
                <a:cs typeface="CooperHewitt-Light"/>
                <a:sym typeface="CooperHewitt-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hteck 6"/>
          <p:cNvSpPr/>
          <p:nvPr/>
        </p:nvSpPr>
        <p:spPr>
          <a:xfrm>
            <a:off x="8976776" y="0"/>
            <a:ext cx="176919" cy="5143500"/>
          </a:xfrm>
          <a:prstGeom prst="rect">
            <a:avLst/>
          </a:prstGeom>
          <a:solidFill>
            <a:srgbClr val="2C295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sp>
        <p:nvSpPr>
          <p:cNvPr id="138" name="Title Text"/>
          <p:cNvSpPr txBox="1">
            <a:spLocks noGrp="1"/>
          </p:cNvSpPr>
          <p:nvPr>
            <p:ph type="title"/>
          </p:nvPr>
        </p:nvSpPr>
        <p:spPr>
          <a:xfrm>
            <a:off x="457201" y="204786"/>
            <a:ext cx="3008314" cy="871539"/>
          </a:xfrm>
          <a:prstGeom prst="rect">
            <a:avLst/>
          </a:prstGeom>
        </p:spPr>
        <p:txBody>
          <a:bodyPr anchor="b"/>
          <a:lstStyle>
            <a:lvl1pPr>
              <a:defRPr sz="2000" spc="79">
                <a:solidFill>
                  <a:srgbClr val="1D1E23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39" name="Body Level One…"/>
          <p:cNvSpPr txBox="1">
            <a:spLocks noGrp="1"/>
          </p:cNvSpPr>
          <p:nvPr>
            <p:ph type="body" idx="1"/>
          </p:nvPr>
        </p:nvSpPr>
        <p:spPr>
          <a:xfrm>
            <a:off x="3575050" y="204788"/>
            <a:ext cx="5111750" cy="438983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0" name="Textplatzhalter 3"/>
          <p:cNvSpPr>
            <a:spLocks noGrp="1"/>
          </p:cNvSpPr>
          <p:nvPr>
            <p:ph type="body" sz="half" idx="21"/>
          </p:nvPr>
        </p:nvSpPr>
        <p:spPr>
          <a:xfrm>
            <a:off x="457200" y="1076326"/>
            <a:ext cx="3008315" cy="3518297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ClrTx/>
              <a:buSzTx/>
              <a:buNone/>
              <a:defRPr sz="1400" spc="0"/>
            </a:pPr>
            <a:endParaRPr/>
          </a:p>
        </p:txBody>
      </p:sp>
      <p:sp>
        <p:nvSpPr>
          <p:cNvPr id="1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413144" y="4769564"/>
            <a:ext cx="273657" cy="269241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89898A"/>
                </a:solidFill>
                <a:latin typeface="CooperHewitt-Light"/>
                <a:ea typeface="CooperHewitt-Light"/>
                <a:cs typeface="CooperHewitt-Light"/>
                <a:sym typeface="CooperHewitt-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4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hteck 6"/>
          <p:cNvSpPr/>
          <p:nvPr/>
        </p:nvSpPr>
        <p:spPr>
          <a:xfrm>
            <a:off x="8976776" y="0"/>
            <a:ext cx="176919" cy="5143500"/>
          </a:xfrm>
          <a:prstGeom prst="rect">
            <a:avLst/>
          </a:prstGeom>
          <a:solidFill>
            <a:srgbClr val="2C295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pic>
        <p:nvPicPr>
          <p:cNvPr id="69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89898A"/>
                </a:solidFill>
                <a:latin typeface="CooperHewitt-Light"/>
                <a:ea typeface="CooperHewitt-Light"/>
                <a:cs typeface="CooperHewitt-Light"/>
                <a:sym typeface="CooperHewitt-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0" name="Group"/>
          <p:cNvGrpSpPr/>
          <p:nvPr/>
        </p:nvGrpSpPr>
        <p:grpSpPr>
          <a:xfrm>
            <a:off x="8497951" y="1"/>
            <a:ext cx="663915" cy="5143501"/>
            <a:chOff x="0" y="0"/>
            <a:chExt cx="663914" cy="5143500"/>
          </a:xfrm>
        </p:grpSpPr>
        <p:sp>
          <p:nvSpPr>
            <p:cNvPr id="78" name="Rectangle 4"/>
            <p:cNvSpPr/>
            <p:nvPr/>
          </p:nvSpPr>
          <p:spPr>
            <a:xfrm>
              <a:off x="0" y="0"/>
              <a:ext cx="663915" cy="5143500"/>
            </a:xfrm>
            <a:prstGeom prst="rect">
              <a:avLst/>
            </a:prstGeom>
            <a:solidFill>
              <a:srgbClr val="3D3F6E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3F3F3"/>
                  </a:solidFill>
                </a:defRPr>
              </a:pPr>
              <a:endParaRPr/>
            </a:p>
          </p:txBody>
        </p:sp>
        <p:pic>
          <p:nvPicPr>
            <p:cNvPr id="79" name="Image" descr="Imag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726" y="196294"/>
              <a:ext cx="502463" cy="3094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81" name="Picture 2" descr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420" y="1491470"/>
            <a:ext cx="2162015" cy="216056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702186" y="4820860"/>
            <a:ext cx="256414" cy="252616"/>
          </a:xfrm>
          <a:prstGeom prst="rect">
            <a:avLst/>
          </a:prstGeom>
        </p:spPr>
        <p:txBody>
          <a:bodyPr/>
          <a:lstStyle>
            <a:lvl1pPr>
              <a:defRPr sz="1100">
                <a:latin typeface="PT Sans"/>
                <a:ea typeface="PT Sans"/>
                <a:cs typeface="PT Sans"/>
                <a:sym typeface="PT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61861" cy="51435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2" name="Group"/>
          <p:cNvGrpSpPr/>
          <p:nvPr/>
        </p:nvGrpSpPr>
        <p:grpSpPr>
          <a:xfrm>
            <a:off x="8497951" y="1"/>
            <a:ext cx="663915" cy="5143501"/>
            <a:chOff x="0" y="0"/>
            <a:chExt cx="663914" cy="5143500"/>
          </a:xfrm>
        </p:grpSpPr>
        <p:sp>
          <p:nvSpPr>
            <p:cNvPr id="90" name="Rectangle 4"/>
            <p:cNvSpPr/>
            <p:nvPr/>
          </p:nvSpPr>
          <p:spPr>
            <a:xfrm>
              <a:off x="0" y="0"/>
              <a:ext cx="663915" cy="5143500"/>
            </a:xfrm>
            <a:prstGeom prst="rect">
              <a:avLst/>
            </a:prstGeom>
            <a:solidFill>
              <a:srgbClr val="3D3F6E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3F3F3"/>
                  </a:solidFill>
                </a:defRPr>
              </a:pPr>
              <a:endParaRPr/>
            </a:p>
          </p:txBody>
        </p:sp>
        <p:pic>
          <p:nvPicPr>
            <p:cNvPr id="91" name="Image" descr="Imag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726" y="196294"/>
              <a:ext cx="502463" cy="3094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93" name="Picture 2" descr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96" y="1491470"/>
            <a:ext cx="2158140" cy="2160560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702186" y="4820860"/>
            <a:ext cx="256414" cy="252616"/>
          </a:xfrm>
          <a:prstGeom prst="rect">
            <a:avLst/>
          </a:prstGeom>
        </p:spPr>
        <p:txBody>
          <a:bodyPr/>
          <a:lstStyle>
            <a:lvl1pPr>
              <a:defRPr sz="1100">
                <a:latin typeface="PT Sans"/>
                <a:ea typeface="PT Sans"/>
                <a:cs typeface="PT Sans"/>
                <a:sym typeface="PT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6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61861" cy="51435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04" name="Group"/>
          <p:cNvGrpSpPr/>
          <p:nvPr/>
        </p:nvGrpSpPr>
        <p:grpSpPr>
          <a:xfrm>
            <a:off x="8497951" y="1"/>
            <a:ext cx="663915" cy="5143501"/>
            <a:chOff x="0" y="0"/>
            <a:chExt cx="663914" cy="5143500"/>
          </a:xfrm>
        </p:grpSpPr>
        <p:sp>
          <p:nvSpPr>
            <p:cNvPr id="102" name="Rectangle 4"/>
            <p:cNvSpPr/>
            <p:nvPr/>
          </p:nvSpPr>
          <p:spPr>
            <a:xfrm>
              <a:off x="0" y="0"/>
              <a:ext cx="663915" cy="5143500"/>
            </a:xfrm>
            <a:prstGeom prst="rect">
              <a:avLst/>
            </a:prstGeom>
            <a:solidFill>
              <a:srgbClr val="3D3F6E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3F3F3"/>
                  </a:solidFill>
                </a:defRPr>
              </a:pPr>
              <a:endParaRPr/>
            </a:p>
          </p:txBody>
        </p:sp>
        <p:pic>
          <p:nvPicPr>
            <p:cNvPr id="103" name="Image" descr="Imag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726" y="196294"/>
              <a:ext cx="502463" cy="3094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05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7" y="1491470"/>
            <a:ext cx="2165888" cy="2160560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702186" y="4820860"/>
            <a:ext cx="256414" cy="252616"/>
          </a:xfrm>
          <a:prstGeom prst="rect">
            <a:avLst/>
          </a:prstGeom>
        </p:spPr>
        <p:txBody>
          <a:bodyPr/>
          <a:lstStyle>
            <a:lvl1pPr>
              <a:defRPr sz="1100">
                <a:latin typeface="PT Sans"/>
                <a:ea typeface="PT Sans"/>
                <a:cs typeface="PT Sans"/>
                <a:sym typeface="PT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7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6" name="Group"/>
          <p:cNvGrpSpPr/>
          <p:nvPr/>
        </p:nvGrpSpPr>
        <p:grpSpPr>
          <a:xfrm>
            <a:off x="8497951" y="1"/>
            <a:ext cx="663915" cy="5143501"/>
            <a:chOff x="0" y="0"/>
            <a:chExt cx="663914" cy="5143500"/>
          </a:xfrm>
        </p:grpSpPr>
        <p:sp>
          <p:nvSpPr>
            <p:cNvPr id="114" name="Rectangle 4"/>
            <p:cNvSpPr/>
            <p:nvPr/>
          </p:nvSpPr>
          <p:spPr>
            <a:xfrm>
              <a:off x="0" y="0"/>
              <a:ext cx="663915" cy="5143500"/>
            </a:xfrm>
            <a:prstGeom prst="rect">
              <a:avLst/>
            </a:prstGeom>
            <a:solidFill>
              <a:srgbClr val="3D3F6E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3F3F3"/>
                  </a:solidFill>
                </a:defRPr>
              </a:pPr>
              <a:endParaRPr/>
            </a:p>
          </p:txBody>
        </p:sp>
        <p:pic>
          <p:nvPicPr>
            <p:cNvPr id="115" name="Image" descr="Imag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726" y="196294"/>
              <a:ext cx="502463" cy="3094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17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73" y="1491470"/>
            <a:ext cx="2162014" cy="2160560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702186" y="4820860"/>
            <a:ext cx="256414" cy="252616"/>
          </a:xfrm>
          <a:prstGeom prst="rect">
            <a:avLst/>
          </a:prstGeom>
        </p:spPr>
        <p:txBody>
          <a:bodyPr/>
          <a:lstStyle>
            <a:lvl1pPr>
              <a:defRPr sz="1100">
                <a:latin typeface="PT Sans"/>
                <a:ea typeface="PT Sans"/>
                <a:cs typeface="PT Sans"/>
                <a:sym typeface="PT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6"/>
          <p:cNvSpPr/>
          <p:nvPr/>
        </p:nvSpPr>
        <p:spPr>
          <a:xfrm>
            <a:off x="8976776" y="0"/>
            <a:ext cx="176919" cy="5143500"/>
          </a:xfrm>
          <a:prstGeom prst="rect">
            <a:avLst/>
          </a:prstGeom>
          <a:solidFill>
            <a:srgbClr val="2C295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535570" y="199209"/>
            <a:ext cx="7357752" cy="663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Rectangle 11"/>
          <p:cNvSpPr/>
          <p:nvPr/>
        </p:nvSpPr>
        <p:spPr>
          <a:xfrm>
            <a:off x="8497951" y="1"/>
            <a:ext cx="663915" cy="5143501"/>
          </a:xfrm>
          <a:prstGeom prst="rect">
            <a:avLst/>
          </a:prstGeom>
          <a:solidFill>
            <a:srgbClr val="3B367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sp>
        <p:nvSpPr>
          <p:cNvPr id="5" name="Slide Number Placeholder 5"/>
          <p:cNvSpPr txBox="1"/>
          <p:nvPr/>
        </p:nvSpPr>
        <p:spPr>
          <a:xfrm>
            <a:off x="8600075" y="4820860"/>
            <a:ext cx="460637" cy="25261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/>
          <a:p>
            <a:pPr algn="ctr">
              <a:defRPr sz="1100">
                <a:solidFill>
                  <a:srgbClr val="F3F3F3"/>
                </a:solidFill>
                <a:latin typeface="PT Sans"/>
                <a:ea typeface="PT Sans"/>
                <a:cs typeface="PT Sans"/>
                <a:sym typeface="PT Sans"/>
              </a:defRPr>
            </a:pPr>
            <a:endParaRPr/>
          </a:p>
        </p:txBody>
      </p:sp>
      <p:sp>
        <p:nvSpPr>
          <p:cNvPr id="6" name="Straight Connector 15"/>
          <p:cNvSpPr/>
          <p:nvPr/>
        </p:nvSpPr>
        <p:spPr>
          <a:xfrm>
            <a:off x="153823" y="811850"/>
            <a:ext cx="1051135" cy="1"/>
          </a:xfrm>
          <a:prstGeom prst="line">
            <a:avLst/>
          </a:prstGeom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994391" y="6037580"/>
            <a:ext cx="260030" cy="2819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ctr">
              <a:defRPr sz="1200">
                <a:solidFill>
                  <a:srgbClr val="F3F3F3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1F89D20-AD04-C5B6-2ADA-4A310EB9D6F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4107" y="170244"/>
            <a:ext cx="535362" cy="5353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</p:sldLayoutIdLst>
  <p:transition spd="med"/>
  <p:txStyles>
    <p:titleStyle>
      <a:lvl1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1pPr>
      <a:lvl2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2pPr>
      <a:lvl3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3pPr>
      <a:lvl4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4pPr>
      <a:lvl5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5pPr>
      <a:lvl6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6pPr>
      <a:lvl7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7pPr>
      <a:lvl8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8pPr>
      <a:lvl9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•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•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•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•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9pPr>
    </p:bodyStyle>
    <p:other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1pPr>
      <a:lvl2pPr marL="0" marR="0" indent="4572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2pPr>
      <a:lvl3pPr marL="0" marR="0" indent="9144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3pPr>
      <a:lvl4pPr marL="0" marR="0" indent="13716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4pPr>
      <a:lvl5pPr marL="0" marR="0" indent="18288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5pPr>
      <a:lvl6pPr marL="0" marR="0" indent="22860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6pPr>
      <a:lvl7pPr marL="0" marR="0" indent="27432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7pPr>
      <a:lvl8pPr marL="0" marR="0" indent="32004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8pPr>
      <a:lvl9pPr marL="0" marR="0" indent="36576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6"/>
          <p:cNvSpPr/>
          <p:nvPr/>
        </p:nvSpPr>
        <p:spPr>
          <a:xfrm>
            <a:off x="8976776" y="0"/>
            <a:ext cx="176919" cy="5143500"/>
          </a:xfrm>
          <a:prstGeom prst="rect">
            <a:avLst/>
          </a:prstGeom>
          <a:solidFill>
            <a:srgbClr val="2C295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535570" y="199209"/>
            <a:ext cx="7357752" cy="663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Rectangle 11"/>
          <p:cNvSpPr/>
          <p:nvPr/>
        </p:nvSpPr>
        <p:spPr>
          <a:xfrm>
            <a:off x="8497951" y="1"/>
            <a:ext cx="663915" cy="5143501"/>
          </a:xfrm>
          <a:prstGeom prst="rect">
            <a:avLst/>
          </a:prstGeom>
          <a:solidFill>
            <a:srgbClr val="3B367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3F3F3"/>
                </a:solidFill>
              </a:defRPr>
            </a:pPr>
            <a:endParaRPr/>
          </a:p>
        </p:txBody>
      </p:sp>
      <p:sp>
        <p:nvSpPr>
          <p:cNvPr id="5" name="Slide Number Placeholder 5"/>
          <p:cNvSpPr txBox="1"/>
          <p:nvPr/>
        </p:nvSpPr>
        <p:spPr>
          <a:xfrm>
            <a:off x="8600075" y="4820860"/>
            <a:ext cx="460637" cy="25261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/>
          <a:p>
            <a:pPr algn="ctr">
              <a:defRPr sz="1100">
                <a:solidFill>
                  <a:srgbClr val="F3F3F3"/>
                </a:solidFill>
                <a:latin typeface="PT Sans"/>
                <a:ea typeface="PT Sans"/>
                <a:cs typeface="PT Sans"/>
                <a:sym typeface="PT Sans"/>
              </a:defRPr>
            </a:pPr>
            <a:endParaRPr/>
          </a:p>
        </p:txBody>
      </p:sp>
      <p:sp>
        <p:nvSpPr>
          <p:cNvPr id="6" name="Straight Connector 15"/>
          <p:cNvSpPr/>
          <p:nvPr/>
        </p:nvSpPr>
        <p:spPr>
          <a:xfrm>
            <a:off x="153823" y="811850"/>
            <a:ext cx="1051135" cy="1"/>
          </a:xfrm>
          <a:prstGeom prst="line">
            <a:avLst/>
          </a:prstGeom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994391" y="6037580"/>
            <a:ext cx="260030" cy="2819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ctr">
              <a:defRPr sz="1200">
                <a:solidFill>
                  <a:srgbClr val="F3F3F3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1F89D20-AD04-C5B6-2ADA-4A310EB9D6F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4107" y="170244"/>
            <a:ext cx="535362" cy="5353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</p:sldLayoutIdLst>
  <p:transition spd="med"/>
  <p:txStyles>
    <p:titleStyle>
      <a:lvl1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1pPr>
      <a:lvl2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2pPr>
      <a:lvl3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3pPr>
      <a:lvl4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4pPr>
      <a:lvl5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5pPr>
      <a:lvl6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6pPr>
      <a:lvl7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7pPr>
      <a:lvl8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8pPr>
      <a:lvl9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1" i="0" u="none" strike="noStrike" cap="none" spc="80" baseline="0">
          <a:solidFill>
            <a:srgbClr val="3B3678"/>
          </a:solidFill>
          <a:uFillTx/>
          <a:latin typeface="Open Sans"/>
          <a:ea typeface="Open Sans"/>
          <a:cs typeface="Open Sans"/>
          <a:sym typeface="Open Sans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▪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•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•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•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1D1E23"/>
        </a:buClr>
        <a:buSzPct val="100000"/>
        <a:buFontTx/>
        <a:buChar char="•"/>
        <a:tabLst/>
        <a:defRPr sz="3200" b="0" i="0" u="none" strike="noStrike" cap="none" spc="30" baseline="0">
          <a:solidFill>
            <a:srgbClr val="1D1E23"/>
          </a:solidFill>
          <a:uFillTx/>
          <a:latin typeface="PT Sans"/>
          <a:ea typeface="PT Sans"/>
          <a:cs typeface="PT Sans"/>
          <a:sym typeface="PT Sans"/>
        </a:defRPr>
      </a:lvl9pPr>
    </p:bodyStyle>
    <p:other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1pPr>
      <a:lvl2pPr marL="0" marR="0" indent="4572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2pPr>
      <a:lvl3pPr marL="0" marR="0" indent="9144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3pPr>
      <a:lvl4pPr marL="0" marR="0" indent="13716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4pPr>
      <a:lvl5pPr marL="0" marR="0" indent="18288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5pPr>
      <a:lvl6pPr marL="0" marR="0" indent="22860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6pPr>
      <a:lvl7pPr marL="0" marR="0" indent="27432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7pPr>
      <a:lvl8pPr marL="0" marR="0" indent="32004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8pPr>
      <a:lvl9pPr marL="0" marR="0" indent="365760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 Thin 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0"/>
            <a:ext cx="9172991" cy="51455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2" y="0"/>
            <a:ext cx="9201152" cy="5145543"/>
          </a:xfrm>
          <a:prstGeom prst="rect">
            <a:avLst/>
          </a:prstGeom>
          <a:solidFill>
            <a:srgbClr val="3B3678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19" y="469845"/>
            <a:ext cx="1970166" cy="7240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0260" y="466210"/>
            <a:ext cx="6046969" cy="2597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3F3F3"/>
                </a:solidFill>
                <a:latin typeface="Open Sans"/>
              </a:rPr>
              <a:t>INTRODUCTION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6" y="1270000"/>
            <a:ext cx="8917388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dirty="0">
                <a:solidFill>
                  <a:srgbClr val="F3F3F3"/>
                </a:solidFill>
                <a:latin typeface="Open Sans"/>
              </a:rPr>
              <a:t>SGH Asia and SGS Vietnam: Building Compliance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8058" y="2603500"/>
            <a:ext cx="5947884" cy="381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>
                <a:solidFill>
                  <a:srgbClr val="A6A2D5"/>
                </a:solidFill>
                <a:latin typeface="Open Sans"/>
              </a:rPr>
              <a:t>Readiness from us, independent certification from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93143" y="3175000"/>
            <a:ext cx="1071128" cy="0"/>
          </a:xfrm>
          <a:prstGeom prst="line">
            <a:avLst/>
          </a:prstGeom>
          <a:ln w="9525">
            <a:solidFill>
              <a:srgbClr val="F3F3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8000" y="4318000"/>
            <a:ext cx="431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3F3F3"/>
                </a:solidFill>
                <a:latin typeface="Open Sans"/>
              </a:rPr>
              <a:t>Pavel Poskakukhin and Tran My Phuc, SGH Asia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0" y="4318000"/>
            <a:ext cx="3302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>
                <a:solidFill>
                  <a:srgbClr val="F3F3F3"/>
                </a:solidFill>
                <a:latin typeface="Open Sans"/>
              </a:rPr>
              <a:t>7 October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We Are Meeting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21792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3B3678"/>
                </a:solidFill>
                <a:latin typeface="Open Sans"/>
              </a:rPr>
              <a:t>Firms need readiness first and certification second. We do the first, you do the second.</a:t>
            </a:r>
          </a:p>
        </p:txBody>
      </p:sp>
      <p:sp>
        <p:nvSpPr>
          <p:cNvPr id="4" name="Number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5" name="Column header"/>
          <p:cNvSpPr txBox="1"/>
          <p:nvPr/>
        </p:nvSpPr>
        <p:spPr>
          <a:xfrm>
            <a:off x="1124712" y="137160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3B3678"/>
                </a:solidFill>
                <a:latin typeface="Open Sans"/>
              </a:rPr>
              <a:t>Demand</a:t>
            </a:r>
          </a:p>
        </p:txBody>
      </p:sp>
      <p:sp>
        <p:nvSpPr>
          <p:cNvPr id="6" name="Column body"/>
          <p:cNvSpPr txBox="1"/>
          <p:nvPr/>
        </p:nvSpPr>
        <p:spPr>
          <a:xfrm>
            <a:off x="621792" y="2011680"/>
            <a:ext cx="23774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3B3678"/>
                </a:solidFill>
                <a:latin typeface="Open Sans"/>
              </a:rPr>
              <a:t>New rules are pushing firms to ISO 27001, privacy and AI controls</a:t>
            </a:r>
          </a:p>
          <a:p>
            <a:pPr algn="l" marL="228600" indent="-22860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3B3678"/>
                </a:solidFill>
                <a:latin typeface="Open Sans"/>
              </a:rPr>
              <a:t>Many do not know where to 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36392" y="1371600"/>
            <a:ext cx="0" cy="2926080"/>
          </a:xfrm>
          <a:prstGeom prst="line">
            <a:avLst/>
          </a:prstGeom>
          <a:ln w="9525">
            <a:solidFill>
              <a:srgbClr val="A7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umber"/>
          <p:cNvSpPr/>
          <p:nvPr/>
        </p:nvSpPr>
        <p:spPr>
          <a:xfrm>
            <a:off x="3319272" y="1371600"/>
            <a:ext cx="384048" cy="384048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9" name="Column header"/>
          <p:cNvSpPr txBox="1"/>
          <p:nvPr/>
        </p:nvSpPr>
        <p:spPr>
          <a:xfrm>
            <a:off x="3822192" y="137160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3B3678"/>
                </a:solidFill>
                <a:latin typeface="Open Sans"/>
              </a:rPr>
              <a:t>Fit</a:t>
            </a:r>
          </a:p>
        </p:txBody>
      </p:sp>
      <p:sp>
        <p:nvSpPr>
          <p:cNvPr id="10" name="Column body"/>
          <p:cNvSpPr txBox="1"/>
          <p:nvPr/>
        </p:nvSpPr>
        <p:spPr>
          <a:xfrm>
            <a:off x="3319272" y="2011680"/>
            <a:ext cx="23774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3B3678"/>
                </a:solidFill>
                <a:latin typeface="Open Sans"/>
              </a:rPr>
              <a:t>SGH Asia prepares and implements</a:t>
            </a:r>
          </a:p>
          <a:p>
            <a:pPr algn="l" marL="228600" indent="-22860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3B3678"/>
                </a:solidFill>
                <a:latin typeface="Open Sans"/>
              </a:rPr>
              <a:t>SGS certifies, independently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33872" y="1371600"/>
            <a:ext cx="0" cy="2926080"/>
          </a:xfrm>
          <a:prstGeom prst="line">
            <a:avLst/>
          </a:prstGeom>
          <a:ln w="9525">
            <a:solidFill>
              <a:srgbClr val="A7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umber"/>
          <p:cNvSpPr/>
          <p:nvPr/>
        </p:nvSpPr>
        <p:spPr>
          <a:xfrm>
            <a:off x="6016752" y="1371600"/>
            <a:ext cx="384048" cy="384048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3" name="Column header"/>
          <p:cNvSpPr txBox="1"/>
          <p:nvPr/>
        </p:nvSpPr>
        <p:spPr>
          <a:xfrm>
            <a:off x="6519672" y="137160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3B3678"/>
                </a:solidFill>
                <a:latin typeface="Open Sans"/>
              </a:rPr>
              <a:t>Ask</a:t>
            </a:r>
          </a:p>
        </p:txBody>
      </p:sp>
      <p:sp>
        <p:nvSpPr>
          <p:cNvPr id="14" name="Column body"/>
          <p:cNvSpPr txBox="1"/>
          <p:nvPr/>
        </p:nvSpPr>
        <p:spPr>
          <a:xfrm>
            <a:off x="6016752" y="2011680"/>
            <a:ext cx="23774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3B3678"/>
                </a:solidFill>
                <a:latin typeface="Open Sans"/>
              </a:rPr>
              <a:t>Agree one pilot idea</a:t>
            </a:r>
          </a:p>
          <a:p>
            <a:pPr algn="l" marL="228600" indent="-22860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3B3678"/>
                </a:solidFill>
                <a:latin typeface="Open Sans"/>
              </a:rPr>
              <a:t>Name one contact on each side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Compliance Wave Is Arriving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21792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3B3678"/>
                </a:solidFill>
                <a:latin typeface="Open Sans"/>
              </a:rPr>
              <a:t>Three rules in 13 months. Each one creates readiness work, then a need for assurance.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737360" y="1874519"/>
            <a:ext cx="5669280" cy="0"/>
          </a:xfrm>
          <a:prstGeom prst="line">
            <a:avLst/>
          </a:prstGeom>
          <a:ln w="19050">
            <a:solidFill>
              <a:srgbClr val="A7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Date"/>
          <p:cNvSpPr txBox="1"/>
          <p:nvPr/>
        </p:nvSpPr>
        <p:spPr>
          <a:xfrm>
            <a:off x="548639" y="13716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3B3678"/>
                </a:solidFill>
                <a:latin typeface="Open Sans"/>
              </a:rPr>
              <a:t>01 Jun 2025</a:t>
            </a:r>
          </a:p>
        </p:txBody>
      </p:sp>
      <p:sp>
        <p:nvSpPr>
          <p:cNvPr id="6" name="Marker"/>
          <p:cNvSpPr/>
          <p:nvPr/>
        </p:nvSpPr>
        <p:spPr>
          <a:xfrm>
            <a:off x="1618488" y="1755648"/>
            <a:ext cx="237744" cy="237744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7" name="Rule title"/>
          <p:cNvSpPr txBox="1"/>
          <p:nvPr/>
        </p:nvSpPr>
        <p:spPr>
          <a:xfrm>
            <a:off x="548639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3B3678"/>
                </a:solidFill>
                <a:latin typeface="Open Sans"/>
              </a:rPr>
              <a:t>E-invoicing</a:t>
            </a:r>
          </a:p>
        </p:txBody>
      </p:sp>
      <p:sp>
        <p:nvSpPr>
          <p:cNvPr id="8" name="Rule text"/>
          <p:cNvSpPr txBox="1"/>
          <p:nvPr/>
        </p:nvSpPr>
        <p:spPr>
          <a:xfrm>
            <a:off x="548639" y="2606040"/>
            <a:ext cx="2377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B3678"/>
                </a:solidFill>
                <a:latin typeface="Open Sans"/>
              </a:rPr>
              <a:t>Decree 70/2025 and Circular 32/2025 widen the scope. Consumer-facing firms connect point-of-sale systems to the tax authority.</a:t>
            </a:r>
          </a:p>
        </p:txBody>
      </p:sp>
      <p:sp>
        <p:nvSpPr>
          <p:cNvPr id="9" name="Date"/>
          <p:cNvSpPr txBox="1"/>
          <p:nvPr/>
        </p:nvSpPr>
        <p:spPr>
          <a:xfrm>
            <a:off x="3383280" y="13716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3B3678"/>
                </a:solidFill>
                <a:latin typeface="Open Sans"/>
              </a:rPr>
              <a:t>01 Jan 2026</a:t>
            </a:r>
          </a:p>
        </p:txBody>
      </p:sp>
      <p:sp>
        <p:nvSpPr>
          <p:cNvPr id="10" name="Marker"/>
          <p:cNvSpPr/>
          <p:nvPr/>
        </p:nvSpPr>
        <p:spPr>
          <a:xfrm>
            <a:off x="4453128" y="1755648"/>
            <a:ext cx="237744" cy="237744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11" name="Rule title"/>
          <p:cNvSpPr txBox="1"/>
          <p:nvPr/>
        </p:nvSpPr>
        <p:spPr>
          <a:xfrm>
            <a:off x="338328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3B3678"/>
                </a:solidFill>
                <a:latin typeface="Open Sans"/>
              </a:rPr>
              <a:t>Personal data</a:t>
            </a:r>
          </a:p>
        </p:txBody>
      </p:sp>
      <p:sp>
        <p:nvSpPr>
          <p:cNvPr id="12" name="Rule text"/>
          <p:cNvSpPr txBox="1"/>
          <p:nvPr/>
        </p:nvSpPr>
        <p:spPr>
          <a:xfrm>
            <a:off x="3383280" y="2606040"/>
            <a:ext cx="2377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B3678"/>
                </a:solidFill>
                <a:latin typeface="Open Sans"/>
              </a:rPr>
              <a:t>Law 91/2025: enforceable data subject rights, DPO and impact assessment duties, fines and criminal penalties.</a:t>
            </a:r>
          </a:p>
        </p:txBody>
      </p:sp>
      <p:sp>
        <p:nvSpPr>
          <p:cNvPr id="13" name="Date"/>
          <p:cNvSpPr txBox="1"/>
          <p:nvPr/>
        </p:nvSpPr>
        <p:spPr>
          <a:xfrm>
            <a:off x="6217920" y="13716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3B3678"/>
                </a:solidFill>
                <a:latin typeface="Open Sans"/>
              </a:rPr>
              <a:t>01 Jul 2026</a:t>
            </a:r>
          </a:p>
        </p:txBody>
      </p:sp>
      <p:sp>
        <p:nvSpPr>
          <p:cNvPr id="14" name="Marker"/>
          <p:cNvSpPr/>
          <p:nvPr/>
        </p:nvSpPr>
        <p:spPr>
          <a:xfrm>
            <a:off x="7287768" y="1755648"/>
            <a:ext cx="237744" cy="237744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15" name="Rule title"/>
          <p:cNvSpPr txBox="1"/>
          <p:nvPr/>
        </p:nvSpPr>
        <p:spPr>
          <a:xfrm>
            <a:off x="621792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3B3678"/>
                </a:solidFill>
                <a:latin typeface="Open Sans"/>
              </a:rPr>
              <a:t>Cybersecurity</a:t>
            </a:r>
          </a:p>
        </p:txBody>
      </p:sp>
      <p:sp>
        <p:nvSpPr>
          <p:cNvPr id="16" name="Rule text"/>
          <p:cNvSpPr txBox="1"/>
          <p:nvPr/>
        </p:nvSpPr>
        <p:spPr>
          <a:xfrm>
            <a:off x="6217920" y="2606040"/>
            <a:ext cx="2377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B3678"/>
                </a:solidFill>
                <a:latin typeface="Open Sans"/>
              </a:rPr>
              <a:t>Law 116/2025: covered online-service providers store personal and user data in Vietnam.</a:t>
            </a:r>
          </a:p>
        </p:txBody>
      </p:sp>
      <p:sp>
        <p:nvSpPr>
          <p:cNvPr id="17" name="Source"/>
          <p:cNvSpPr txBox="1"/>
          <p:nvPr/>
        </p:nvSpPr>
        <p:spPr>
          <a:xfrm>
            <a:off x="621792" y="42976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B6B6B"/>
                </a:solidFill>
                <a:latin typeface="Open Sans"/>
              </a:rPr>
              <a:t>Sources: Thomson Reuters, KPMG, Vietnam Briefing, CMS Law. See notes.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We Are: SGH Asia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21792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3B3678"/>
                </a:solidFill>
                <a:latin typeface="Open Sans"/>
              </a:rPr>
              <a:t>Practical compliance for firms working between Europe and Asia-Pacific.</a:t>
            </a:r>
          </a:p>
        </p:txBody>
      </p:sp>
      <p:sp>
        <p:nvSpPr>
          <p:cNvPr id="4" name="Service card"/>
          <p:cNvSpPr/>
          <p:nvPr/>
        </p:nvSpPr>
        <p:spPr>
          <a:xfrm>
            <a:off x="621792" y="1371600"/>
            <a:ext cx="2468880" cy="1234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5" name="Number"/>
          <p:cNvSpPr/>
          <p:nvPr/>
        </p:nvSpPr>
        <p:spPr>
          <a:xfrm>
            <a:off x="786384" y="1536192"/>
            <a:ext cx="274320" cy="274320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6" name="Service title"/>
          <p:cNvSpPr txBox="1"/>
          <p:nvPr/>
        </p:nvSpPr>
        <p:spPr>
          <a:xfrm>
            <a:off x="1152144" y="14904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B3678"/>
                </a:solidFill>
                <a:latin typeface="Open Sans"/>
              </a:rPr>
              <a:t>Odoo implementation</a:t>
            </a:r>
          </a:p>
        </p:txBody>
      </p:sp>
      <p:sp>
        <p:nvSpPr>
          <p:cNvPr id="7" name="Service text"/>
          <p:cNvSpPr txBox="1"/>
          <p:nvPr/>
        </p:nvSpPr>
        <p:spPr>
          <a:xfrm>
            <a:off x="786384" y="19659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B3678"/>
                </a:solidFill>
                <a:latin typeface="Open Sans"/>
              </a:rPr>
              <a:t>ERP and business systems, including e-invoicing readiness.</a:t>
            </a:r>
          </a:p>
        </p:txBody>
      </p:sp>
      <p:sp>
        <p:nvSpPr>
          <p:cNvPr id="8" name="Service card"/>
          <p:cNvSpPr/>
          <p:nvPr/>
        </p:nvSpPr>
        <p:spPr>
          <a:xfrm>
            <a:off x="3273552" y="1371600"/>
            <a:ext cx="2468880" cy="1234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9" name="Number"/>
          <p:cNvSpPr/>
          <p:nvPr/>
        </p:nvSpPr>
        <p:spPr>
          <a:xfrm>
            <a:off x="3438144" y="1536192"/>
            <a:ext cx="274320" cy="274320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0" name="Service title"/>
          <p:cNvSpPr txBox="1"/>
          <p:nvPr/>
        </p:nvSpPr>
        <p:spPr>
          <a:xfrm>
            <a:off x="3803904" y="14904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B3678"/>
                </a:solidFill>
                <a:latin typeface="Open Sans"/>
              </a:rPr>
              <a:t>ISO 27001 / 42001 advisory</a:t>
            </a:r>
          </a:p>
        </p:txBody>
      </p:sp>
      <p:sp>
        <p:nvSpPr>
          <p:cNvPr id="11" name="Service text"/>
          <p:cNvSpPr txBox="1"/>
          <p:nvPr/>
        </p:nvSpPr>
        <p:spPr>
          <a:xfrm>
            <a:off x="3438144" y="19659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B3678"/>
                </a:solidFill>
                <a:latin typeface="Open Sans"/>
              </a:rPr>
              <a:t>Readiness for information security and AI management systems.</a:t>
            </a:r>
          </a:p>
        </p:txBody>
      </p:sp>
      <p:sp>
        <p:nvSpPr>
          <p:cNvPr id="12" name="Service card"/>
          <p:cNvSpPr/>
          <p:nvPr/>
        </p:nvSpPr>
        <p:spPr>
          <a:xfrm>
            <a:off x="621792" y="2788920"/>
            <a:ext cx="2468880" cy="1234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13" name="Number"/>
          <p:cNvSpPr/>
          <p:nvPr/>
        </p:nvSpPr>
        <p:spPr>
          <a:xfrm>
            <a:off x="786384" y="2953512"/>
            <a:ext cx="274320" cy="274320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4" name="Service title"/>
          <p:cNvSpPr txBox="1"/>
          <p:nvPr/>
        </p:nvSpPr>
        <p:spPr>
          <a:xfrm>
            <a:off x="1152144" y="2907791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B3678"/>
                </a:solidFill>
                <a:latin typeface="Open Sans"/>
              </a:rPr>
              <a:t>AI governance consulting</a:t>
            </a:r>
          </a:p>
        </p:txBody>
      </p:sp>
      <p:sp>
        <p:nvSpPr>
          <p:cNvPr id="15" name="Service text"/>
          <p:cNvSpPr txBox="1"/>
          <p:nvPr/>
        </p:nvSpPr>
        <p:spPr>
          <a:xfrm>
            <a:off x="786384" y="338327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B3678"/>
                </a:solidFill>
                <a:latin typeface="Open Sans"/>
              </a:rPr>
              <a:t>Policies, risk assessment and controls for responsible AI.</a:t>
            </a:r>
          </a:p>
        </p:txBody>
      </p:sp>
      <p:sp>
        <p:nvSpPr>
          <p:cNvPr id="16" name="Service card"/>
          <p:cNvSpPr/>
          <p:nvPr/>
        </p:nvSpPr>
        <p:spPr>
          <a:xfrm>
            <a:off x="3273552" y="2788920"/>
            <a:ext cx="2468880" cy="1234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17" name="Number"/>
          <p:cNvSpPr/>
          <p:nvPr/>
        </p:nvSpPr>
        <p:spPr>
          <a:xfrm>
            <a:off x="3438144" y="2953512"/>
            <a:ext cx="274320" cy="274320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18" name="Service title"/>
          <p:cNvSpPr txBox="1"/>
          <p:nvPr/>
        </p:nvSpPr>
        <p:spPr>
          <a:xfrm>
            <a:off x="3803904" y="2907791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B3678"/>
                </a:solidFill>
                <a:latin typeface="Open Sans"/>
              </a:rPr>
              <a:t>DPO outsourcing</a:t>
            </a:r>
          </a:p>
        </p:txBody>
      </p:sp>
      <p:sp>
        <p:nvSpPr>
          <p:cNvPr id="19" name="Service text"/>
          <p:cNvSpPr txBox="1"/>
          <p:nvPr/>
        </p:nvSpPr>
        <p:spPr>
          <a:xfrm>
            <a:off x="3438144" y="3383279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B3678"/>
                </a:solidFill>
                <a:latin typeface="Open Sans"/>
              </a:rPr>
              <a:t>The data protection officer role and PDPL compliance programmes.</a:t>
            </a:r>
          </a:p>
        </p:txBody>
      </p:sp>
      <p:sp>
        <p:nvSpPr>
          <p:cNvPr id="20" name="Stat card"/>
          <p:cNvSpPr/>
          <p:nvPr/>
        </p:nvSpPr>
        <p:spPr>
          <a:xfrm>
            <a:off x="5943600" y="1371600"/>
            <a:ext cx="2560320" cy="2651760"/>
          </a:xfrm>
          <a:prstGeom prst="roundRect">
            <a:avLst>
              <a:gd name="adj" fmla="val 5000"/>
            </a:avLst>
          </a:prstGeom>
          <a:solidFill>
            <a:srgbClr val="3B3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21" name="Panel header"/>
          <p:cNvSpPr txBox="1"/>
          <p:nvPr/>
        </p:nvSpPr>
        <p:spPr>
          <a:xfrm>
            <a:off x="6126480" y="1508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ns"/>
              </a:rPr>
              <a:t>Where we stand</a:t>
            </a:r>
          </a:p>
        </p:txBody>
      </p:sp>
      <p:sp>
        <p:nvSpPr>
          <p:cNvPr id="22" name="Panel body"/>
          <p:cNvSpPr txBox="1"/>
          <p:nvPr/>
        </p:nvSpPr>
        <p:spPr>
          <a:xfrm>
            <a:off x="6126480" y="1874519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600"/>
              </a:spcAft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Open Sans"/>
              </a:rPr>
              <a:t>SGH Group company, Europe and Asia-Pacific</a:t>
            </a:r>
          </a:p>
          <a:p>
            <a:pPr algn="l" marL="228600" indent="-228600">
              <a:spcAft>
                <a:spcPts val="600"/>
              </a:spcAft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Open Sans"/>
              </a:rPr>
              <a:t>ISO 27001:2022 and GDPR compliant</a:t>
            </a:r>
          </a:p>
          <a:p>
            <a:pPr algn="l" marL="228600" indent="-228600">
              <a:spcAft>
                <a:spcPts val="600"/>
              </a:spcAft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Open Sans"/>
              </a:rPr>
              <a:t>GM co-chairs the EuroCham Digital Sector Committee</a:t>
            </a:r>
          </a:p>
          <a:p>
            <a:pPr algn="l" marL="228600" indent="-228600">
              <a:spcAft>
                <a:spcPts val="600"/>
              </a:spcAft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Open Sans"/>
              </a:rPr>
              <a:t>VnDPO-certified DPO in-house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SGS in Vietnam: Our Reading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21792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3B3678"/>
                </a:solidFill>
                <a:latin typeface="Open Sans"/>
              </a:rPr>
              <a:t>Business Assurance, as we understand it from public sources. Please correct us.</a:t>
            </a:r>
          </a:p>
        </p:txBody>
      </p:sp>
      <p:sp>
        <p:nvSpPr>
          <p:cNvPr id="4" name="Stat card"/>
          <p:cNvSpPr/>
          <p:nvPr/>
        </p:nvSpPr>
        <p:spPr>
          <a:xfrm>
            <a:off x="621792" y="137160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3B3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5" name="Stat value"/>
          <p:cNvSpPr txBox="1"/>
          <p:nvPr/>
        </p:nvSpPr>
        <p:spPr>
          <a:xfrm>
            <a:off x="804672" y="160020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Open Sans"/>
              </a:rPr>
              <a:t>Since 1989</a:t>
            </a:r>
          </a:p>
        </p:txBody>
      </p:sp>
      <p:sp>
        <p:nvSpPr>
          <p:cNvPr id="6" name="Stat label"/>
          <p:cNvSpPr txBox="1"/>
          <p:nvPr/>
        </p:nvSpPr>
        <p:spPr>
          <a:xfrm>
            <a:off x="804672" y="242316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Open Sans"/>
              </a:rPr>
              <a:t>SGS in Vietnam: independent testing, inspection and certification.</a:t>
            </a:r>
          </a:p>
        </p:txBody>
      </p:sp>
      <p:sp>
        <p:nvSpPr>
          <p:cNvPr id="7" name="Pill"/>
          <p:cNvSpPr/>
          <p:nvPr/>
        </p:nvSpPr>
        <p:spPr>
          <a:xfrm>
            <a:off x="3931920" y="1417320"/>
            <a:ext cx="1188720" cy="329184"/>
          </a:xfrm>
          <a:prstGeom prst="roundRect">
            <a:avLst>
              <a:gd name="adj" fmla="val 20000"/>
            </a:avLst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Quality</a:t>
            </a:r>
          </a:p>
        </p:txBody>
      </p:sp>
      <p:sp>
        <p:nvSpPr>
          <p:cNvPr id="8" name="Item text"/>
          <p:cNvSpPr txBox="1"/>
          <p:nvPr/>
        </p:nvSpPr>
        <p:spPr>
          <a:xfrm>
            <a:off x="5303520" y="141732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3B3678"/>
                </a:solidFill>
                <a:latin typeface="Open Sans"/>
              </a:rPr>
              <a:t>ISO 9001 certification</a:t>
            </a:r>
          </a:p>
        </p:txBody>
      </p:sp>
      <p:sp>
        <p:nvSpPr>
          <p:cNvPr id="9" name="Pill"/>
          <p:cNvSpPr/>
          <p:nvPr/>
        </p:nvSpPr>
        <p:spPr>
          <a:xfrm>
            <a:off x="3931920" y="1965960"/>
            <a:ext cx="1188720" cy="329184"/>
          </a:xfrm>
          <a:prstGeom prst="roundRect">
            <a:avLst>
              <a:gd name="adj" fmla="val 20000"/>
            </a:avLst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Cybersecurity</a:t>
            </a:r>
          </a:p>
        </p:txBody>
      </p:sp>
      <p:sp>
        <p:nvSpPr>
          <p:cNvPr id="10" name="Item text"/>
          <p:cNvSpPr txBox="1"/>
          <p:nvPr/>
        </p:nvSpPr>
        <p:spPr>
          <a:xfrm>
            <a:off x="5303520" y="196596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3B3678"/>
                </a:solidFill>
                <a:latin typeface="Open Sans"/>
              </a:rPr>
              <a:t>ISO/IEC 27001 and privacy ISO/IEC 27701</a:t>
            </a:r>
          </a:p>
        </p:txBody>
      </p:sp>
      <p:sp>
        <p:nvSpPr>
          <p:cNvPr id="11" name="Pill"/>
          <p:cNvSpPr/>
          <p:nvPr/>
        </p:nvSpPr>
        <p:spPr>
          <a:xfrm>
            <a:off x="3931920" y="2514600"/>
            <a:ext cx="1188720" cy="329184"/>
          </a:xfrm>
          <a:prstGeom prst="roundRect">
            <a:avLst>
              <a:gd name="adj" fmla="val 20000"/>
            </a:avLst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AI</a:t>
            </a:r>
          </a:p>
        </p:txBody>
      </p:sp>
      <p:sp>
        <p:nvSpPr>
          <p:cNvPr id="12" name="Item text"/>
          <p:cNvSpPr txBox="1"/>
          <p:nvPr/>
        </p:nvSpPr>
        <p:spPr>
          <a:xfrm>
            <a:off x="5303520" y="251460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3B3678"/>
                </a:solidFill>
                <a:latin typeface="Open Sans"/>
              </a:rPr>
              <a:t>ISO/IEC 42001 AI management system</a:t>
            </a:r>
          </a:p>
        </p:txBody>
      </p:sp>
      <p:sp>
        <p:nvSpPr>
          <p:cNvPr id="13" name="Pill"/>
          <p:cNvSpPr/>
          <p:nvPr/>
        </p:nvSpPr>
        <p:spPr>
          <a:xfrm>
            <a:off x="3931920" y="3063240"/>
            <a:ext cx="1188720" cy="329184"/>
          </a:xfrm>
          <a:prstGeom prst="roundRect">
            <a:avLst>
              <a:gd name="adj" fmla="val 20000"/>
            </a:avLst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ESG</a:t>
            </a:r>
          </a:p>
        </p:txBody>
      </p:sp>
      <p:sp>
        <p:nvSpPr>
          <p:cNvPr id="14" name="Item text"/>
          <p:cNvSpPr txBox="1"/>
          <p:nvPr/>
        </p:nvSpPr>
        <p:spPr>
          <a:xfrm>
            <a:off x="5303520" y="306324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3B3678"/>
                </a:solidFill>
                <a:latin typeface="Open Sans"/>
              </a:rPr>
              <a:t>Risk evaluation, data and report assurance</a:t>
            </a:r>
          </a:p>
        </p:txBody>
      </p:sp>
      <p:sp>
        <p:nvSpPr>
          <p:cNvPr id="15" name="Pill"/>
          <p:cNvSpPr/>
          <p:nvPr/>
        </p:nvSpPr>
        <p:spPr>
          <a:xfrm>
            <a:off x="3931920" y="3611880"/>
            <a:ext cx="1188720" cy="329184"/>
          </a:xfrm>
          <a:prstGeom prst="roundRect">
            <a:avLst>
              <a:gd name="adj" fmla="val 20000"/>
            </a:avLst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Carbon</a:t>
            </a:r>
          </a:p>
        </p:txBody>
      </p:sp>
      <p:sp>
        <p:nvSpPr>
          <p:cNvPr id="16" name="Item text"/>
          <p:cNvSpPr txBox="1"/>
          <p:nvPr/>
        </p:nvSpPr>
        <p:spPr>
          <a:xfrm>
            <a:off x="5303520" y="361188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3B3678"/>
                </a:solidFill>
                <a:latin typeface="Open Sans"/>
              </a:rPr>
              <a:t>ISO 14064-1, 14067, 14068-1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621792" y="4343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3B3678"/>
                </a:solidFill>
                <a:latin typeface="Open Sans"/>
              </a:rPr>
              <a:t>Global portfolio. We would like to learn what is delivered locally.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We Fit Together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21792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3B3678"/>
                </a:solidFill>
                <a:latin typeface="Open Sans"/>
              </a:rPr>
              <a:t>Four steps from first gap to lasting compliance. Each has a clear owner.</a:t>
            </a:r>
          </a:p>
        </p:txBody>
      </p:sp>
      <p:sp>
        <p:nvSpPr>
          <p:cNvPr id="4" name="Step"/>
          <p:cNvSpPr/>
          <p:nvPr/>
        </p:nvSpPr>
        <p:spPr>
          <a:xfrm>
            <a:off x="621792" y="1371600"/>
            <a:ext cx="1965960" cy="594360"/>
          </a:xfrm>
          <a:prstGeom prst="homePlat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</a:rPr>
              <a:t>1  Assess</a:t>
            </a:r>
          </a:p>
        </p:txBody>
      </p:sp>
      <p:sp>
        <p:nvSpPr>
          <p:cNvPr id="5" name="Owner pill"/>
          <p:cNvSpPr/>
          <p:nvPr/>
        </p:nvSpPr>
        <p:spPr>
          <a:xfrm>
            <a:off x="667512" y="2194560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SGH Asia</a:t>
            </a:r>
          </a:p>
        </p:txBody>
      </p:sp>
      <p:sp>
        <p:nvSpPr>
          <p:cNvPr id="6" name="Step text"/>
          <p:cNvSpPr txBox="1"/>
          <p:nvPr/>
        </p:nvSpPr>
        <p:spPr>
          <a:xfrm>
            <a:off x="667512" y="2651760"/>
            <a:ext cx="1783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B3678"/>
                </a:solidFill>
                <a:latin typeface="Open Sans"/>
              </a:rPr>
              <a:t>Gap analysis against ISO 27001, PDPL and AI governance</a:t>
            </a:r>
          </a:p>
        </p:txBody>
      </p:sp>
      <p:sp>
        <p:nvSpPr>
          <p:cNvPr id="7" name="Step"/>
          <p:cNvSpPr/>
          <p:nvPr/>
        </p:nvSpPr>
        <p:spPr>
          <a:xfrm>
            <a:off x="2615184" y="1371600"/>
            <a:ext cx="1965960" cy="594360"/>
          </a:xfrm>
          <a:prstGeom prst="homePlat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</a:rPr>
              <a:t>2  Implement</a:t>
            </a:r>
          </a:p>
        </p:txBody>
      </p:sp>
      <p:sp>
        <p:nvSpPr>
          <p:cNvPr id="8" name="Owner pill"/>
          <p:cNvSpPr/>
          <p:nvPr/>
        </p:nvSpPr>
        <p:spPr>
          <a:xfrm>
            <a:off x="2660904" y="2194560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SGH Asia</a:t>
            </a:r>
          </a:p>
        </p:txBody>
      </p:sp>
      <p:sp>
        <p:nvSpPr>
          <p:cNvPr id="9" name="Step text"/>
          <p:cNvSpPr txBox="1"/>
          <p:nvPr/>
        </p:nvSpPr>
        <p:spPr>
          <a:xfrm>
            <a:off x="2660904" y="2651760"/>
            <a:ext cx="1783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B3678"/>
                </a:solidFill>
                <a:latin typeface="Open Sans"/>
              </a:rPr>
              <a:t>Policies, controls, DPO setup, system configuration</a:t>
            </a:r>
          </a:p>
        </p:txBody>
      </p:sp>
      <p:sp>
        <p:nvSpPr>
          <p:cNvPr id="10" name="Step"/>
          <p:cNvSpPr/>
          <p:nvPr/>
        </p:nvSpPr>
        <p:spPr>
          <a:xfrm>
            <a:off x="4608576" y="1371600"/>
            <a:ext cx="1965960" cy="594360"/>
          </a:xfrm>
          <a:prstGeom prst="homePlate">
            <a:avLst/>
          </a:prstGeom>
          <a:solidFill>
            <a:srgbClr val="3B3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</a:rPr>
              <a:t>3  Certify</a:t>
            </a:r>
          </a:p>
        </p:txBody>
      </p:sp>
      <p:sp>
        <p:nvSpPr>
          <p:cNvPr id="11" name="Owner pill"/>
          <p:cNvSpPr/>
          <p:nvPr/>
        </p:nvSpPr>
        <p:spPr>
          <a:xfrm>
            <a:off x="4654296" y="2194560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3B3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SGS</a:t>
            </a:r>
          </a:p>
        </p:txBody>
      </p:sp>
      <p:sp>
        <p:nvSpPr>
          <p:cNvPr id="12" name="Step text"/>
          <p:cNvSpPr txBox="1"/>
          <p:nvPr/>
        </p:nvSpPr>
        <p:spPr>
          <a:xfrm>
            <a:off x="4654296" y="2651760"/>
            <a:ext cx="1783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B3678"/>
                </a:solidFill>
                <a:latin typeface="Open Sans"/>
              </a:rPr>
              <a:t>Independent audits and certificate</a:t>
            </a:r>
          </a:p>
        </p:txBody>
      </p:sp>
      <p:sp>
        <p:nvSpPr>
          <p:cNvPr id="13" name="Step"/>
          <p:cNvSpPr/>
          <p:nvPr/>
        </p:nvSpPr>
        <p:spPr>
          <a:xfrm>
            <a:off x="6601968" y="1371600"/>
            <a:ext cx="1965960" cy="594360"/>
          </a:xfrm>
          <a:prstGeom prst="homePlat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</a:rPr>
              <a:t>4  Sustain</a:t>
            </a:r>
          </a:p>
        </p:txBody>
      </p:sp>
      <p:sp>
        <p:nvSpPr>
          <p:cNvPr id="14" name="Owner pill"/>
          <p:cNvSpPr/>
          <p:nvPr/>
        </p:nvSpPr>
        <p:spPr>
          <a:xfrm>
            <a:off x="6647688" y="2194560"/>
            <a:ext cx="1005840" cy="274320"/>
          </a:xfrm>
          <a:prstGeom prst="roundRect">
            <a:avLst>
              <a:gd name="adj" fmla="val 20000"/>
            </a:avLst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SGH Asia</a:t>
            </a:r>
          </a:p>
        </p:txBody>
      </p:sp>
      <p:sp>
        <p:nvSpPr>
          <p:cNvPr id="15" name="Step text"/>
          <p:cNvSpPr txBox="1"/>
          <p:nvPr/>
        </p:nvSpPr>
        <p:spPr>
          <a:xfrm>
            <a:off x="6647688" y="2651760"/>
            <a:ext cx="1783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B3678"/>
                </a:solidFill>
                <a:latin typeface="Open Sans"/>
              </a:rPr>
              <a:t>DPO service, internal audits, surveillance-audit readiness</a:t>
            </a:r>
          </a:p>
        </p:txBody>
      </p:sp>
      <p:sp>
        <p:nvSpPr>
          <p:cNvPr id="16" name="Callout"/>
          <p:cNvSpPr/>
          <p:nvPr/>
        </p:nvSpPr>
        <p:spPr>
          <a:xfrm>
            <a:off x="621792" y="3794760"/>
            <a:ext cx="7882127" cy="685800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17" name="Callout text"/>
          <p:cNvSpPr txBox="1"/>
          <p:nvPr/>
        </p:nvSpPr>
        <p:spPr>
          <a:xfrm>
            <a:off x="822960" y="3794760"/>
            <a:ext cx="749807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3B3678"/>
                </a:solidFill>
                <a:latin typeface="Open Sans"/>
              </a:rPr>
              <a:t>Certification bodies must stay impartial, so they do not design the systems they audit. A consulting partner fills that gap.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Starting Points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21792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3B3678"/>
                </a:solidFill>
                <a:latin typeface="Open Sans"/>
              </a:rPr>
              <a:t>We would value your view on which one to pilot first.</a:t>
            </a:r>
          </a:p>
        </p:txBody>
      </p:sp>
      <p:graphicFrame>
        <p:nvGraphicFramePr>
          <p:cNvPr id="4" name="Ideas table"/>
          <p:cNvGraphicFramePr>
            <a:graphicFrameLocks noGrp="1"/>
          </p:cNvGraphicFramePr>
          <p:nvPr/>
        </p:nvGraphicFramePr>
        <p:xfrm>
          <a:off x="621792" y="1371600"/>
          <a:ext cx="7863840" cy="2926080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2743200"/>
                <a:gridCol w="2743200"/>
              </a:tblGrid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"/>
                        </a:rPr>
                        <a:t>Starting point</a:t>
                      </a:r>
                    </a:p>
                  </a:txBody>
                  <a:tcPr anchor="ctr" marL="137160" marR="137160">
                    <a:solidFill>
                      <a:srgbClr val="3B36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"/>
                        </a:rPr>
                        <a:t>SGH Asia brings</a:t>
                      </a:r>
                    </a:p>
                  </a:txBody>
                  <a:tcPr anchor="ctr" marL="137160" marR="137160">
                    <a:solidFill>
                      <a:srgbClr val="3B36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"/>
                        </a:rPr>
                        <a:t>SGS brings</a:t>
                      </a:r>
                    </a:p>
                  </a:txBody>
                  <a:tcPr anchor="ctr" marL="137160" marR="137160">
                    <a:solidFill>
                      <a:srgbClr val="3B367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3678"/>
                          </a:solidFill>
                          <a:latin typeface="Open Sans"/>
                        </a:rPr>
                        <a:t>ISO 27001 + PDPL bundle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B3678"/>
                          </a:solidFill>
                          <a:latin typeface="Open Sans"/>
                        </a:rPr>
                        <a:t>Readiness, DPO setup, PDPL documents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B3678"/>
                          </a:solidFill>
                          <a:latin typeface="Open Sans"/>
                        </a:rPr>
                        <a:t>ISO/IEC 27001 and 27701 certification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3678"/>
                          </a:solidFill>
                          <a:latin typeface="Open Sans"/>
                        </a:rPr>
                        <a:t>ISO 42001 AI governance</a:t>
                      </a:r>
                    </a:p>
                  </a:txBody>
                  <a:tcPr anchor="ctr" marL="137160" marR="137160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B3678"/>
                          </a:solidFill>
                          <a:latin typeface="Open Sans"/>
                        </a:rPr>
                        <a:t>AI policy, risk assessment, controls</a:t>
                      </a:r>
                    </a:p>
                  </a:txBody>
                  <a:tcPr anchor="ctr" marL="137160" marR="137160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B3678"/>
                          </a:solidFill>
                          <a:latin typeface="Open Sans"/>
                        </a:rPr>
                        <a:t>ISO/IEC 42001 certification audit</a:t>
                      </a:r>
                    </a:p>
                  </a:txBody>
                  <a:tcPr anchor="ctr" marL="137160" marR="137160">
                    <a:solidFill>
                      <a:srgbClr val="F3F3F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3678"/>
                          </a:solidFill>
                          <a:latin typeface="Open Sans"/>
                        </a:rPr>
                        <a:t>Joint EuroCham briefings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B3678"/>
                          </a:solidFill>
                          <a:latin typeface="Open Sans"/>
                        </a:rPr>
                        <a:t>Digital Sector Committee and member network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B3678"/>
                          </a:solidFill>
                          <a:latin typeface="Open Sans"/>
                        </a:rPr>
                        <a:t>Assurance expertise as speaker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B3678"/>
                          </a:solidFill>
                          <a:latin typeface="Open Sans"/>
                        </a:rPr>
                        <a:t>ESG and carbon data</a:t>
                      </a:r>
                    </a:p>
                  </a:txBody>
                  <a:tcPr anchor="ctr" marL="137160" marR="137160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B3678"/>
                          </a:solidFill>
                          <a:latin typeface="Open Sans"/>
                        </a:rPr>
                        <a:t>Systems that capture and report the data</a:t>
                      </a:r>
                    </a:p>
                  </a:txBody>
                  <a:tcPr anchor="ctr" marL="137160" marR="137160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B3678"/>
                          </a:solidFill>
                          <a:latin typeface="Open Sans"/>
                        </a:rPr>
                        <a:t>ESG and carbon verification</a:t>
                      </a:r>
                    </a:p>
                  </a:txBody>
                  <a:tcPr anchor="ctr" marL="137160" marR="137160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 and Questions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21792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3B3678"/>
                </a:solidFill>
                <a:latin typeface="Open Sans"/>
              </a:rPr>
              <a:t>A light start: one pilot, one contact on each side.</a:t>
            </a:r>
          </a:p>
        </p:txBody>
      </p:sp>
      <p:sp>
        <p:nvSpPr>
          <p:cNvPr id="4" name="Left header"/>
          <p:cNvSpPr txBox="1"/>
          <p:nvPr/>
        </p:nvSpPr>
        <p:spPr>
          <a:xfrm>
            <a:off x="621792" y="1371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B3678"/>
                </a:solidFill>
                <a:latin typeface="Open Sans"/>
              </a:rPr>
              <a:t>Proposed next steps</a:t>
            </a:r>
          </a:p>
        </p:txBody>
      </p:sp>
      <p:sp>
        <p:nvSpPr>
          <p:cNvPr id="5" name="Number"/>
          <p:cNvSpPr/>
          <p:nvPr/>
        </p:nvSpPr>
        <p:spPr>
          <a:xfrm>
            <a:off x="621792" y="1828800"/>
            <a:ext cx="384048" cy="384048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6" name="Step text"/>
          <p:cNvSpPr txBox="1"/>
          <p:nvPr/>
        </p:nvSpPr>
        <p:spPr>
          <a:xfrm>
            <a:off x="1188720" y="1828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B3678"/>
                </a:solidFill>
                <a:latin typeface="Open Sans"/>
              </a:rPr>
              <a:t>This week: share service overviews both ways</a:t>
            </a:r>
          </a:p>
        </p:txBody>
      </p:sp>
      <p:sp>
        <p:nvSpPr>
          <p:cNvPr id="7" name="Number"/>
          <p:cNvSpPr/>
          <p:nvPr/>
        </p:nvSpPr>
        <p:spPr>
          <a:xfrm>
            <a:off x="621792" y="2651760"/>
            <a:ext cx="384048" cy="384048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8" name="Step text"/>
          <p:cNvSpPr txBox="1"/>
          <p:nvPr/>
        </p:nvSpPr>
        <p:spPr>
          <a:xfrm>
            <a:off x="1188720" y="26517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B3678"/>
                </a:solidFill>
                <a:latin typeface="Open Sans"/>
              </a:rPr>
              <a:t>Within 30 days: choose one pilot, name one contact each</a:t>
            </a:r>
          </a:p>
        </p:txBody>
      </p:sp>
      <p:sp>
        <p:nvSpPr>
          <p:cNvPr id="9" name="Number"/>
          <p:cNvSpPr/>
          <p:nvPr/>
        </p:nvSpPr>
        <p:spPr>
          <a:xfrm>
            <a:off x="621792" y="3474720"/>
            <a:ext cx="384048" cy="384048"/>
          </a:xfrm>
          <a:prstGeom prst="ellipse">
            <a:avLst/>
          </a:prstGeom>
          <a:solidFill>
            <a:srgbClr val="3FB1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0" name="Step text"/>
          <p:cNvSpPr txBox="1"/>
          <p:nvPr/>
        </p:nvSpPr>
        <p:spPr>
          <a:xfrm>
            <a:off x="1188720" y="34747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B3678"/>
                </a:solidFill>
                <a:latin typeface="Open Sans"/>
              </a:rPr>
              <a:t>By year end: first joint client conversation or briefing</a:t>
            </a:r>
          </a:p>
        </p:txBody>
      </p:sp>
      <p:sp>
        <p:nvSpPr>
          <p:cNvPr id="11" name="Question card"/>
          <p:cNvSpPr/>
          <p:nvPr/>
        </p:nvSpPr>
        <p:spPr>
          <a:xfrm>
            <a:off x="4754880" y="1371600"/>
            <a:ext cx="3749039" cy="283464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/>
          <a:lstStyle/>
          <a:p>
            <a:pPr algn="ctr"/>
          </a:p>
        </p:txBody>
      </p:sp>
      <p:sp>
        <p:nvSpPr>
          <p:cNvPr id="12" name="Right header"/>
          <p:cNvSpPr txBox="1"/>
          <p:nvPr/>
        </p:nvSpPr>
        <p:spPr>
          <a:xfrm>
            <a:off x="4983480" y="1554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B3678"/>
                </a:solidFill>
                <a:latin typeface="Open Sans"/>
              </a:rPr>
              <a:t>Questions for you</a:t>
            </a:r>
          </a:p>
        </p:txBody>
      </p:sp>
      <p:sp>
        <p:nvSpPr>
          <p:cNvPr id="13" name="Questions"/>
          <p:cNvSpPr txBox="1"/>
          <p:nvPr/>
        </p:nvSpPr>
        <p:spPr>
          <a:xfrm>
            <a:off x="4983480" y="201168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1000"/>
              </a:spcAft>
              <a:buFont typeface="Arial"/>
              <a:buChar char="•"/>
            </a:pPr>
            <a:r>
              <a:rPr sz="1200" b="0" i="0">
                <a:solidFill>
                  <a:srgbClr val="3B3678"/>
                </a:solidFill>
                <a:latin typeface="Open Sans"/>
              </a:rPr>
              <a:t>Which client requests do you see most: ISO 27001, PDPL, AI?</a:t>
            </a:r>
          </a:p>
          <a:p>
            <a:pPr algn="l" marL="228600" indent="-228600">
              <a:spcAft>
                <a:spcPts val="1000"/>
              </a:spcAft>
              <a:buFont typeface="Arial"/>
              <a:buChar char="•"/>
            </a:pPr>
            <a:r>
              <a:rPr sz="1200" b="0" i="0">
                <a:solidFill>
                  <a:srgbClr val="3B3678"/>
                </a:solidFill>
                <a:latin typeface="Open Sans"/>
              </a:rPr>
              <a:t>How do you work with advisory partners today?</a:t>
            </a:r>
          </a:p>
          <a:p>
            <a:pPr algn="l" marL="228600" indent="-228600">
              <a:spcAft>
                <a:spcPts val="1000"/>
              </a:spcAft>
              <a:buFont typeface="Arial"/>
              <a:buChar char="•"/>
            </a:pPr>
            <a:r>
              <a:rPr sz="1200" b="0" i="0">
                <a:solidFill>
                  <a:srgbClr val="3B3678"/>
                </a:solidFill>
                <a:latin typeface="Open Sans"/>
              </a:rPr>
              <a:t>What does your Vietnam team deliver locally?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0"/>
            <a:ext cx="9172991" cy="51455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2" y="0"/>
            <a:ext cx="9201152" cy="5145543"/>
          </a:xfrm>
          <a:prstGeom prst="rect">
            <a:avLst/>
          </a:prstGeom>
          <a:solidFill>
            <a:srgbClr val="3B3678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19" y="469845"/>
            <a:ext cx="1970166" cy="7240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0260" y="466210"/>
            <a:ext cx="6046969" cy="2597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3F3F3"/>
                </a:solidFill>
                <a:latin typeface="Open Sans"/>
              </a:rPr>
              <a:t>SGH ASIA AND SGS VIETNAM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6" y="1270000"/>
            <a:ext cx="8917388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dirty="0">
                <a:solidFill>
                  <a:srgbClr val="F3F3F3"/>
                </a:solidFill>
                <a:latin typeface="Open Sans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8058" y="2603500"/>
            <a:ext cx="5947884" cy="381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>
                <a:solidFill>
                  <a:srgbClr val="A6A2D5"/>
                </a:solidFill>
                <a:latin typeface="Open Sans"/>
              </a:rPr>
              <a:t>Questions and discussion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93143" y="3175000"/>
            <a:ext cx="1071128" cy="0"/>
          </a:xfrm>
          <a:prstGeom prst="line">
            <a:avLst/>
          </a:prstGeom>
          <a:ln w="9525">
            <a:solidFill>
              <a:srgbClr val="F3F3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8000" y="4318000"/>
            <a:ext cx="431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3F3F3"/>
                </a:solidFill>
                <a:latin typeface="Open Sans"/>
              </a:rPr>
              <a:t>Pavel Poskakukhin and Tran My Phuc, SGH Asia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0" y="4318000"/>
            <a:ext cx="3302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>
                <a:solidFill>
                  <a:srgbClr val="F3F3F3"/>
                </a:solidFill>
                <a:latin typeface="Open Sans"/>
              </a:rPr>
              <a:t>7 October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Design [1785474042749]">
  <a:themeElements>
    <a:clrScheme name="Office-Design">
      <a:dk1>
        <a:srgbClr val="1D1E23"/>
      </a:dk1>
      <a:lt1>
        <a:srgbClr val="F3F3F3"/>
      </a:lt1>
      <a:dk2>
        <a:srgbClr val="A7A7A7"/>
      </a:dk2>
      <a:lt2>
        <a:srgbClr val="535353"/>
      </a:lt2>
      <a:accent1>
        <a:srgbClr val="2CBE9A"/>
      </a:accent1>
      <a:accent2>
        <a:srgbClr val="8E9ED1"/>
      </a:accent2>
      <a:accent3>
        <a:srgbClr val="196A56"/>
      </a:accent3>
      <a:accent4>
        <a:srgbClr val="135242"/>
      </a:accent4>
      <a:accent5>
        <a:srgbClr val="0D392E"/>
      </a:accent5>
      <a:accent6>
        <a:srgbClr val="07201A"/>
      </a:accent6>
      <a:hlink>
        <a:srgbClr val="0000FF"/>
      </a:hlink>
      <a:folHlink>
        <a:srgbClr val="FF00FF"/>
      </a:folHlink>
    </a:clrScheme>
    <a:fontScheme name="Office-Design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3F3F3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1D1E23"/>
            </a:solidFill>
            <a:effectLst/>
            <a:uFillTx/>
            <a:latin typeface="Century Gothic"/>
            <a:ea typeface="Century Gothic"/>
            <a:cs typeface="Century Gothic"/>
            <a:sym typeface="Century Gothic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1D1E23"/>
            </a:solidFill>
            <a:effectLst/>
            <a:uFillTx/>
            <a:latin typeface="Century Gothic"/>
            <a:ea typeface="Century Gothic"/>
            <a:cs typeface="Century Gothic"/>
            <a:sym typeface="Century Gothic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-Design">
  <a:themeElements>
    <a:clrScheme name="Office-Design">
      <a:dk1>
        <a:srgbClr val="1D1E23"/>
      </a:dk1>
      <a:lt1>
        <a:srgbClr val="F3F3F3"/>
      </a:lt1>
      <a:dk2>
        <a:srgbClr val="A7A7A7"/>
      </a:dk2>
      <a:lt2>
        <a:srgbClr val="535353"/>
      </a:lt2>
      <a:accent1>
        <a:srgbClr val="2CBE9A"/>
      </a:accent1>
      <a:accent2>
        <a:srgbClr val="8E9ED1"/>
      </a:accent2>
      <a:accent3>
        <a:srgbClr val="196A56"/>
      </a:accent3>
      <a:accent4>
        <a:srgbClr val="135242"/>
      </a:accent4>
      <a:accent5>
        <a:srgbClr val="0D392E"/>
      </a:accent5>
      <a:accent6>
        <a:srgbClr val="07201A"/>
      </a:accent6>
      <a:hlink>
        <a:srgbClr val="0000FF"/>
      </a:hlink>
      <a:folHlink>
        <a:srgbClr val="FF00FF"/>
      </a:folHlink>
    </a:clrScheme>
    <a:fontScheme name="Office-Design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3F3F3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1D1E23"/>
            </a:solidFill>
            <a:effectLst/>
            <a:uFillTx/>
            <a:latin typeface="Century Gothic"/>
            <a:ea typeface="Century Gothic"/>
            <a:cs typeface="Century Gothic"/>
            <a:sym typeface="Century Gothic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1D1E23"/>
            </a:solidFill>
            <a:effectLst/>
            <a:uFillTx/>
            <a:latin typeface="Century Gothic"/>
            <a:ea typeface="Century Gothic"/>
            <a:cs typeface="Century Gothic"/>
            <a:sym typeface="Century Gothic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-Design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2CBE9A"/>
      </a:accent1>
      <a:accent2>
        <a:srgbClr val="8E9ED1"/>
      </a:accent2>
      <a:accent3>
        <a:srgbClr val="196A56"/>
      </a:accent3>
      <a:accent4>
        <a:srgbClr val="135242"/>
      </a:accent4>
      <a:accent5>
        <a:srgbClr val="0D392E"/>
      </a:accent5>
      <a:accent6>
        <a:srgbClr val="07201A"/>
      </a:accent6>
      <a:hlink>
        <a:srgbClr val="0000FF"/>
      </a:hlink>
      <a:folHlink>
        <a:srgbClr val="FF00FF"/>
      </a:folHlink>
    </a:clrScheme>
    <a:fontScheme name="Office-Design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3F3F3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1D1E23"/>
            </a:solidFill>
            <a:effectLst/>
            <a:uFillTx/>
            <a:latin typeface="Century Gothic"/>
            <a:ea typeface="Century Gothic"/>
            <a:cs typeface="Century Gothic"/>
            <a:sym typeface="Century Gothic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1D1E23"/>
            </a:solidFill>
            <a:effectLst/>
            <a:uFillTx/>
            <a:latin typeface="Century Gothic"/>
            <a:ea typeface="Century Gothic"/>
            <a:cs typeface="Century Gothic"/>
            <a:sym typeface="Century Gothic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24D64FE-7E0F-4DA4-BE29-48850A53A6A5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ee4aa688-273b-47ea-8fa0-72448550ebfe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3139cc-e737-45a1-a6fa-7f795a019ca8" xsi:nil="true"/>
    <PersonorGroup xmlns="9c04146f-2111-426b-898f-cd95fe9ba01a">
      <UserInfo>
        <DisplayName/>
        <AccountId xsi:nil="true"/>
        <AccountType/>
      </UserInfo>
    </PersonorGroup>
    <lcf76f155ced4ddcb4097134ff3c332f xmlns="9c04146f-2111-426b-898f-cd95fe9ba01a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ài liệu" ma:contentTypeID="0x0101007BBE3561B3C54741B60DE2B33D507E08" ma:contentTypeVersion="19" ma:contentTypeDescription="Tạo tài liệu mới." ma:contentTypeScope="" ma:versionID="795a078cf0f620a2a16b285326b79686">
  <xsd:schema xmlns:xsd="http://www.w3.org/2001/XMLSchema" xmlns:xs="http://www.w3.org/2001/XMLSchema" xmlns:p="http://schemas.microsoft.com/office/2006/metadata/properties" xmlns:ns2="663139cc-e737-45a1-a6fa-7f795a019ca8" xmlns:ns3="9c04146f-2111-426b-898f-cd95fe9ba01a" targetNamespace="http://schemas.microsoft.com/office/2006/metadata/properties" ma:root="true" ma:fieldsID="59601f184b926582e016404db0e52049" ns2:_="" ns3:_="">
    <xsd:import namespace="663139cc-e737-45a1-a6fa-7f795a019ca8"/>
    <xsd:import namespace="9c04146f-2111-426b-898f-cd95fe9ba01a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PersonorGroup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3139cc-e737-45a1-a6fa-7f795a019ca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hia sẻ Với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Chia sẻ Có Chi tiết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5c7e9638-eed0-482f-9330-13bba9644b76}" ma:internalName="TaxCatchAll" ma:showField="CatchAllData" ma:web="663139cc-e737-45a1-a6fa-7f795a019c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04146f-2111-426b-898f-cd95fe9ba01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PersonorGroup" ma:index="20" nillable="true" ma:displayName="Person or Group" ma:format="Dropdown" ma:list="UserInfo" ma:SharePointGroup="0" ma:internalName="PersonorGroup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Thẻ Hình ảnh" ma:readOnly="false" ma:fieldId="{5cf76f15-5ced-4ddc-b409-7134ff3c332f}" ma:taxonomyMulti="true" ma:sspId="e021e5a0-84a4-4b81-bf0e-ab9933ea469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Loại Nội dung"/>
        <xsd:element ref="dc:title" minOccurs="0" maxOccurs="1" ma:index="4" ma:displayName="Tiêu đề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713963-8E69-49D5-A9F6-179FAAC0DEC5}">
  <ds:schemaRefs>
    <ds:schemaRef ds:uri="663139cc-e737-45a1-a6fa-7f795a019ca8"/>
    <ds:schemaRef ds:uri="9c04146f-2111-426b-898f-cd95fe9ba01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8DF7108-AC4E-43E5-85F3-8FDCD959D4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42DC39A-247C-40C3-AF46-76B4784CFAE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63139cc-e737-45a1-a6fa-7f795a019ca8"/>
    <ds:schemaRef ds:uri="9c04146f-2111-426b-898f-cd95fe9ba0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1451</TotalTime>
  <Words>839</Words>
  <Application>Microsoft Office PowerPoint</Application>
  <PresentationFormat>On-screen Show (16:9)</PresentationFormat>
  <Paragraphs>130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Calibri</vt:lpstr>
      <vt:lpstr>Century Gothic</vt:lpstr>
      <vt:lpstr>CooperHewitt-Light</vt:lpstr>
      <vt:lpstr>Montserrat Thin Regular</vt:lpstr>
      <vt:lpstr>Open Sans</vt:lpstr>
      <vt:lpstr>PT Sans</vt:lpstr>
      <vt:lpstr>Office-Design [1785474042749]</vt:lpstr>
      <vt:lpstr>Office-Design</vt:lpstr>
      <vt:lpstr>PowerPoint Presentation</vt:lpstr>
      <vt:lpstr>PowerPoint Presentation</vt:lpstr>
      <vt:lpstr>PowerPoint Presentation</vt:lpstr>
      <vt:lpstr>How It Came to Be</vt:lpstr>
      <vt:lpstr>The Numbers Behind the Speed</vt:lpstr>
      <vt:lpstr>PowerPoint Presentation</vt:lpstr>
      <vt:lpstr>AI as a Digital Partner — the Working Rhythm</vt:lpstr>
      <vt:lpstr>Same Discipline, Smaller Team</vt:lpstr>
      <vt:lpstr>Case Example: 26-29 July</vt:lpstr>
      <vt:lpstr>PowerPoint Presentation</vt:lpstr>
      <vt:lpstr>Where to Look, How to Read It</vt:lpstr>
      <vt:lpstr>How This Aligns With the Three Pillars</vt:lpstr>
      <vt:lpstr>PowerPoint Presentation</vt:lpstr>
      <vt:lpstr>Status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Tỉnh Xỉn</dc:creator>
  <cp:lastModifiedBy>Phuc Tran</cp:lastModifiedBy>
  <cp:revision>26</cp:revision>
  <dcterms:modified xsi:type="dcterms:W3CDTF">2026-07-31T07:20:48Z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0x0101007BBE3561B3C54741B60DE2B33D507E08</vt:lpwstr>
  </property>
  <property fmtid="{D5CDD505-2E9C-101B-9397-08002B2CF9AE}" pid="3" name="MediaServiceImageTags">
    <vt:lpwstr/>
  </property>
</Properties>
</file>