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6" r:id="rId4"/>
    <p:sldMasterId id="2147483648" r:id="rId5"/>
  </p:sldMasterIdLst>
  <p:notesMasterIdLst>
    <p:notesMasterId r:id="rId20"/>
  </p:notesMasterIdLst>
  <p:sldIdLst>
    <p:sldId id="420" r:id="rId25"/>
    <p:sldId id="435" r:id="rId19"/>
    <p:sldId id="436" r:id="rId18"/>
    <p:sldId id="437" r:id="rId17"/>
    <p:sldId id="438" r:id="rId16"/>
    <p:sldId id="439" r:id="rId15"/>
    <p:sldId id="440" r:id="rId14"/>
    <p:sldId id="441" r:id="rId13"/>
    <p:sldId id="442" r:id="rId12"/>
    <p:sldId id="443" r:id="rId11"/>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3F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7B018BB-80A7-4F77-B60F-C8B233D01FF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EEE7283C-3CF3-47DC-8721-378D4A62B22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F821DB8-F4EB-4A41-A1BA-3FCAFE7338EE}" styleName="">
    <a:tblBg/>
    <a:wholeTbl>
      <a:tcTxStyle b="off"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rgbClr val="F3F3F3"/>
          </a:solidFill>
        </a:fill>
      </a:tcStyle>
    </a:band2H>
    <a:firstCol>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508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rgbClr val="F3F3F3"/>
          </a:solidFill>
        </a:fill>
      </a:tcStyle>
    </a:lastRow>
    <a:firstRow>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254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CBCB"/>
          </a:solidFill>
        </a:fill>
      </a:tcStyle>
    </a:wholeTbl>
    <a:band2H>
      <a:tcTxStyle/>
      <a:tcStyle>
        <a:tcBdr/>
        <a:fill>
          <a:solidFill>
            <a:srgbClr val="E7E7E7"/>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Row>
  </a:tblStyle>
  <a:tblStyle styleId="{2708684C-4D16-4618-839F-0558EEFCDFE6}" styleName="">
    <a:tblBg/>
    <a:wholeTbl>
      <a:tcTxStyle b="off"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wholeTbl>
    <a:band2H>
      <a:tcTxStyle/>
      <a:tcStyle>
        <a:tcBdr/>
        <a:fill>
          <a:solidFill>
            <a:srgbClr val="FFFFFF"/>
          </a:solidFill>
        </a:fill>
      </a:tcStyle>
    </a:band2H>
    <a:firstCol>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firstCol>
    <a:la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508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lastRow>
    <a:fir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254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94660"/>
  </p:normalViewPr>
  <p:slideViewPr>
    <p:cSldViewPr snapToGrid="0">
      <p:cViewPr varScale="1">
        <p:scale>
          <a:sx n="185" d="100"/>
          <a:sy n="185" d="100"/>
        </p:scale>
        <p:origin x="14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1" Type="http://schemas.openxmlformats.org/officeDocument/2006/relationships/slide" Target="slides/slide24.xml"/><Relationship Id="rId12" Type="http://schemas.openxmlformats.org/officeDocument/2006/relationships/slide" Target="slides/slide23.xml"/><Relationship Id="rId13" Type="http://schemas.openxmlformats.org/officeDocument/2006/relationships/slide" Target="slides/slide22.xml"/><Relationship Id="rId14" Type="http://schemas.openxmlformats.org/officeDocument/2006/relationships/slide" Target="slides/slide21.xml"/><Relationship Id="rId15" Type="http://schemas.openxmlformats.org/officeDocument/2006/relationships/slide" Target="slides/slide20.xml"/><Relationship Id="rId16" Type="http://schemas.openxmlformats.org/officeDocument/2006/relationships/slide" Target="slides/slide19.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DPO Team</c:v>
                </c:pt>
              </c:strCache>
            </c:strRef>
          </c:tx>
          <c:spPr>
            <a:solidFill>
              <a:srgbClr val="3FB1A0"/>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Sheet1!$B$2:$B$5</c:f>
              <c:numCache>
                <c:formatCode>General</c:formatCode>
                <c:ptCount val="4"/>
                <c:pt idx="0">
                  <c:v>3.5</c:v>
                </c:pt>
                <c:pt idx="1">
                  <c:v>6</c:v>
                </c:pt>
                <c:pt idx="2">
                  <c:v>5</c:v>
                </c:pt>
                <c:pt idx="3">
                  <c:v>6.5</c:v>
                </c:pt>
              </c:numCache>
            </c:numRef>
          </c:val>
        </c:ser>
        <c:ser>
          <c:idx val="1"/>
          <c:order val="1"/>
          <c:tx>
            <c:strRef>
              <c:f>Sheet1!$C$1</c:f>
              <c:strCache>
                <c:ptCount val="1"/>
                <c:pt idx="0">
                  <c:v>IT-Security</c:v>
                </c:pt>
              </c:strCache>
            </c:strRef>
          </c:tx>
          <c:spPr>
            <a:solidFill>
              <a:srgbClr val="3B3678"/>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Sheet1!$C$2:$C$5</c:f>
              <c:numCache>
                <c:formatCode>General</c:formatCode>
                <c:ptCount val="4"/>
                <c:pt idx="0">
                  <c:v>0</c:v>
                </c:pt>
                <c:pt idx="1">
                  <c:v>3.5</c:v>
                </c:pt>
                <c:pt idx="2">
                  <c:v>2</c:v>
                </c:pt>
                <c:pt idx="3">
                  <c:v>2.5</c:v>
                </c:pt>
              </c:numCache>
            </c:numRef>
          </c:val>
        </c:ser>
        <c:ser>
          <c:idx val="2"/>
          <c:order val="2"/>
          <c:tx>
            <c:strRef>
              <c:f>Sheet1!$D$1</c:f>
              <c:strCache>
                <c:ptCount val="1"/>
                <c:pt idx="0">
                  <c:v>HR &amp; OP</c:v>
                </c:pt>
              </c:strCache>
            </c:strRef>
          </c:tx>
          <c:spPr>
            <a:solidFill>
              <a:srgbClr val="D98A1F"/>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Sheet1!$D$2:$D$5</c:f>
              <c:numCache>
                <c:formatCode>General</c:formatCode>
                <c:ptCount val="4"/>
                <c:pt idx="0">
                  <c:v>0</c:v>
                </c:pt>
                <c:pt idx="1">
                  <c:v>1</c:v>
                </c:pt>
                <c:pt idx="2">
                  <c:v>1</c:v>
                </c:pt>
                <c:pt idx="3">
                  <c:v>1</c:v>
                </c:pt>
              </c:numCache>
            </c:numRef>
          </c:val>
        </c:ser>
        <c:ser>
          <c:idx val="3"/>
          <c:order val="3"/>
          <c:tx>
            <c:strRef>
              <c:f>Sheet1!$E$1</c:f>
              <c:strCache>
                <c:ptCount val="1"/>
                <c:pt idx="0">
                  <c:v>Management</c:v>
                </c:pt>
              </c:strCache>
            </c:strRef>
          </c:tx>
          <c:spPr>
            <a:solidFill>
              <a:srgbClr val="A7A7A7"/>
            </a:solidFill>
          </c:spPr>
          <c:cat>
            <c:strRef>
              <c:f>Sheet1!$A$2:$A$5</c:f>
              <c:strCache>
                <c:ptCount val="4"/>
                <c:pt idx="0">
                  <c:v>Phase 0</c:v>
                </c:pt>
                <c:pt idx="1">
                  <c:v>Phase 1</c:v>
                </c:pt>
                <c:pt idx="2">
                  <c:v>Phase 2</c:v>
                </c:pt>
                <c:pt idx="3">
                  <c:v>Phase 3</c:v>
                </c:pt>
              </c:strCache>
            </c:strRef>
          </c:cat>
          <c:val>
            <c:numRef>
              <c:f>Sheet1!$E$2:$E$5</c:f>
              <c:numCache>
                <c:formatCode>General</c:formatCode>
                <c:ptCount val="4"/>
                <c:pt idx="0">
                  <c:v>0.25</c:v>
                </c:pt>
                <c:pt idx="1">
                  <c:v>0</c:v>
                </c:pt>
                <c:pt idx="2">
                  <c:v>0</c:v>
                </c:pt>
                <c:pt idx="3">
                  <c:v>0.5</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A7A7A7"/>
            </a:solidFill>
          </a:ln>
        </c:spPr>
        <c:txPr>
          <a:bodyPr/>
          <a:lstStyle/>
          <a:p>
            <a:pPr>
              <a:defRPr sz="1200">
                <a:solidFill>
                  <a:srgbClr val="3B367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DDDDDD"/>
              </a:solidFill>
            </a:ln>
          </c:spPr>
        </c:majorGridlines>
        <c:majorTickMark val="out"/>
        <c:minorTickMark val="none"/>
        <c:tickLblPos val="nextTo"/>
        <c:spPr>
          <a:ln>
            <a:noFill/>
          </a:ln>
        </c:spPr>
        <c:txPr>
          <a:bodyPr/>
          <a:lstStyle/>
          <a:p>
            <a:pPr>
              <a:defRPr sz="1100">
                <a:solidFill>
                  <a:srgbClr val="6B6B6B"/>
                </a:solidFill>
              </a:defRPr>
            </a:pPr>
          </a:p>
        </c:txPr>
        <c:crossAx val="-2068027336"/>
        <c:crosses val="autoZero"/>
      </c:valAx>
    </c:plotArea>
    <c:legend>
      <c:legendPos val="b"/>
      <c:overlay val="0"/>
      <c:txPr>
        <a:bodyPr/>
        <a:lstStyle/>
        <a:p>
          <a:pPr>
            <a:defRPr sz="1100">
              <a:solidFill>
                <a:srgbClr val="3B3678"/>
              </a:solidFill>
              <a:latin typeface="Open Sans"/>
            </a:defRPr>
          </a:pPr>
        </a:p>
      </c:txPr>
    </c:legend>
    <c:dispBlanksAs val="gap"/>
  </c:chart>
  <c:txPr>
    <a:bodyPr/>
    <a:lstStyle/>
    <a:p>
      <a:pPr>
        <a:defRPr sz="1100">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7" name="Shape 147"/>
          <p:cNvSpPr>
            <a:spLocks noGrp="1" noRot="1" noChangeAspect="1"/>
          </p:cNvSpPr>
          <p:nvPr>
            <p:ph type="sldImg"/>
          </p:nvPr>
        </p:nvSpPr>
        <p:spPr>
          <a:xfrm>
            <a:off x="1143000" y="685800"/>
            <a:ext cx="4572000" cy="3429000"/>
          </a:xfrm>
          <a:prstGeom prst="rect">
            <a:avLst/>
          </a:prstGeom>
        </p:spPr>
        <p:txBody>
          <a:bodyPr/>
          <a:lstStyle/>
          <a:p>
            <a:endParaRPr/>
          </a:p>
        </p:txBody>
      </p:sp>
      <p:sp>
        <p:nvSpPr>
          <p:cNvPr id="148" name="Shape 14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Purpose: ask the Board to note and support the PDPL compliance plan that the General Manager is asked to approve. Open with the answer: Option A, start 05 Oct 2026, about $440 cash.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 27 tasks, 4 phases, 05 Oct 2026 to 03 Feb 2027 (Option A, recommended). Cost: only the AI tool has a figure, about $440 including an indicative 10% foreign contractor tax; it may fall to $0 if shared with the invoice automation project subscription. Legal review needs a separate quote. Three asks: approve Option A, approve the budget, confirm the task owners flagged for GM confirmation. Open items to track: LTT legal quote, Finance tax confirmation, invoice automation project cost sharing. Prepared by Tran My Phuc (DPO / IT &amp; ISMS Manager); reviewed by: to be completed; approved by Pavel Poskakukhin (General Manager).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Law 91/2025 has been in force since 01/01/2026. Two in-scope streams: (1) SGH Asia as a data controller for its own data subjects (employees, candidates, vendor and client contacts), covered by the 27-task plan; (2) commercial client contracts where SGH Asia acts as Data Processor, to be added as Phase 2b. Phase 0 issues a classification memo that settles whether SGH Asia is treated under the advisory articles (Decree 356/2025 Art. 15-16) or as a processor (Art. 20-27). Earliest filing reduces the exposure window under Decree 330/2026.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Dates are Option A from the detailed plan. Phase 0 and Phase 1 start together on 05/10/2026. Phase 3 ends with the internal readiness audit and go-live sign-off on 03/02/2027. Milestones: DPO appointment notification to the A05 Department on 13/01/2027 (highest-priority filing), go-live sign-off 03/02/2027.</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Option A is a full 34-day shift of the Sep-Dec 2026 plan and is recommended. Option B is contingency only: use it if completion in December 2026 becomes a hard requirement. Dates are the task deadlines in the detailed plan. External legal turnaround (LTT &amp; Lawyers, Phase 2) is independent of internal capacity under either option.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Only the AI tool line has a figure: $100 per month for 4 months = $400, plus an indicative 10% Vietnam foreign contractor tax (about $40) = about $440, roughly $110 per month effective. The 10% rate is a planning assumption: Man Thi Loc (Finance) must confirm VAT and CIT treatment. The subscription may be shared with the invoice automation project, in which case the net incremental cost could be $0; not yet confirmed. External legal: LTT &amp; Lawyers rate card outside the signed Appendix (Partner VND 5,000,000/hr, Associate VND 3,500,000/hr, Paralegal VND 2,500,000/hr); Agreement 25.12.08.LTT01 covers only the Topicus A05 dossier, so a new quote is needed for Phase 2 items 15 and 17. Translation, training and M365 need no cash.</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Planning-level estimates derived from the 27-task plan, not measured actuals. DPO Team 21, IT-Security 8, HR &amp; OP 3, Management 0.75. By phase: 3.75, 10.5, 8, 10.5. Hoang Le Viet Ha and Le Duc Tam hold dual capacity (DPO Team + IT-Security): about 14.5 man-days each over the 4 months; do not sum their rows independently. The estimates should be sanity-checked by Tran My Phuc, Hoang Le Viet Ha and Le Duc Tam against real bandwidth.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Three items need attention. External legal: items 15 and 17 depend on LTT turnaround and a new quote; this is the one dependency not solved by freed-up internal capacity, because the Topicus engagement concluded in May 2026. People: some Person in Charge entries are highlighted yellow in the plan and need GM confirmation; two staff hold dual capacity. Cost: the AI tool cost may be shared with the invoice automation project subscription; tax treatment needs Finance confirmation.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Scope extension: contracts SGH Asia sells to clients (Odoo implementation, ISO 27001/42001 advisory, AI governance consulting, DPO outsourcing), where SGH Asia is a Data Processor. Names, titles and signatures of signatories and project members are personal data, but processing them to form the contract rests on Art. 19.1(d) and does not trigger Art. 37. The real risk: Odoo implementation gives SGH Asia access to client personal data (Art. 2.8, 37.2(a)). Next: add a Phase 2b "Commercial Client Contract PDPL Review" to the plan once the three inputs arrive.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Close. Invite questions; restate the three decisions: approve Option A, approve the budget, confirm the flagged task owners.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1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85435174"/>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2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258312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2638F-2473-B18E-B91A-269BE44C9AE1}"/>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59EFDF05-CC5F-F294-36DA-C8082AA2A116}"/>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395857276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elfolie">
    <p:spTree>
      <p:nvGrpSpPr>
        <p:cNvPr id="1" name=""/>
        <p:cNvGrpSpPr/>
        <p:nvPr/>
      </p:nvGrpSpPr>
      <p:grpSpPr>
        <a:xfrm>
          <a:off x="0" y="0"/>
          <a:ext cx="0" cy="0"/>
          <a:chOff x="0" y="0"/>
          <a:chExt cx="0" cy="0"/>
        </a:xfrm>
      </p:grpSpPr>
      <p:sp>
        <p:nvSpPr>
          <p:cNvPr id="24"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25"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ustom Layout">
    <p:spTree>
      <p:nvGrpSpPr>
        <p:cNvPr id="1" name=""/>
        <p:cNvGrpSpPr/>
        <p:nvPr/>
      </p:nvGrpSpPr>
      <p:grpSpPr>
        <a:xfrm>
          <a:off x="0" y="0"/>
          <a:ext cx="0" cy="0"/>
          <a:chOff x="0" y="0"/>
          <a:chExt cx="0" cy="0"/>
        </a:xfrm>
      </p:grpSpPr>
      <p:sp>
        <p:nvSpPr>
          <p:cNvPr id="3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33"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34"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1_Titelfolie">
    <p:spTree>
      <p:nvGrpSpPr>
        <p:cNvPr id="1" name=""/>
        <p:cNvGrpSpPr/>
        <p:nvPr/>
      </p:nvGrpSpPr>
      <p:grpSpPr>
        <a:xfrm>
          <a:off x="0" y="0"/>
          <a:ext cx="0" cy="0"/>
          <a:chOff x="0" y="0"/>
          <a:chExt cx="0" cy="0"/>
        </a:xfrm>
      </p:grpSpPr>
      <p:sp>
        <p:nvSpPr>
          <p:cNvPr id="41"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42"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43"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2_Titelfolie">
    <p:spTree>
      <p:nvGrpSpPr>
        <p:cNvPr id="1" name=""/>
        <p:cNvGrpSpPr/>
        <p:nvPr/>
      </p:nvGrpSpPr>
      <p:grpSpPr>
        <a:xfrm>
          <a:off x="0" y="0"/>
          <a:ext cx="0" cy="0"/>
          <a:chOff x="0" y="0"/>
          <a:chExt cx="0" cy="0"/>
        </a:xfrm>
      </p:grpSpPr>
      <p:sp>
        <p:nvSpPr>
          <p:cNvPr id="50"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51"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52"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3_Titelfolie">
    <p:spTree>
      <p:nvGrpSpPr>
        <p:cNvPr id="1" name=""/>
        <p:cNvGrpSpPr/>
        <p:nvPr/>
      </p:nvGrpSpPr>
      <p:grpSpPr>
        <a:xfrm>
          <a:off x="0" y="0"/>
          <a:ext cx="0" cy="0"/>
          <a:chOff x="0" y="0"/>
          <a:chExt cx="0" cy="0"/>
        </a:xfrm>
      </p:grpSpPr>
      <p:sp>
        <p:nvSpPr>
          <p:cNvPr id="59"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0"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61"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Inhalt mit Beschriftung">
    <p:spTree>
      <p:nvGrpSpPr>
        <p:cNvPr id="1" name=""/>
        <p:cNvGrpSpPr/>
        <p:nvPr/>
      </p:nvGrpSpPr>
      <p:grpSpPr>
        <a:xfrm>
          <a:off x="0" y="0"/>
          <a:ext cx="0" cy="0"/>
          <a:chOff x="0" y="0"/>
          <a:chExt cx="0" cy="0"/>
        </a:xfrm>
      </p:grpSpPr>
      <p:sp>
        <p:nvSpPr>
          <p:cNvPr id="137"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138" name="Title Text"/>
          <p:cNvSpPr txBox="1">
            <a:spLocks noGrp="1"/>
          </p:cNvSpPr>
          <p:nvPr>
            <p:ph type="title"/>
          </p:nvPr>
        </p:nvSpPr>
        <p:spPr>
          <a:xfrm>
            <a:off x="457201" y="204786"/>
            <a:ext cx="3008314" cy="871539"/>
          </a:xfrm>
          <a:prstGeom prst="rect">
            <a:avLst/>
          </a:prstGeom>
        </p:spPr>
        <p:txBody>
          <a:bodyPr anchor="b"/>
          <a:lstStyle>
            <a:lvl1pPr>
              <a:defRPr sz="2000" spc="79">
                <a:solidFill>
                  <a:srgbClr val="1D1E23"/>
                </a:solidFill>
              </a:defRPr>
            </a:lvl1pPr>
          </a:lstStyle>
          <a:p>
            <a:r>
              <a:t>Title Text</a:t>
            </a:r>
          </a:p>
        </p:txBody>
      </p:sp>
      <p:sp>
        <p:nvSpPr>
          <p:cNvPr id="139" name="Body Level One…"/>
          <p:cNvSpPr txBox="1">
            <a:spLocks noGrp="1"/>
          </p:cNvSpPr>
          <p:nvPr>
            <p:ph type="body" idx="1"/>
          </p:nvPr>
        </p:nvSpPr>
        <p:spPr>
          <a:xfrm>
            <a:off x="3575050" y="204788"/>
            <a:ext cx="5111750" cy="43898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40" name="Textplatzhalter 3"/>
          <p:cNvSpPr>
            <a:spLocks noGrp="1"/>
          </p:cNvSpPr>
          <p:nvPr>
            <p:ph type="body" sz="half" idx="21"/>
          </p:nvPr>
        </p:nvSpPr>
        <p:spPr>
          <a:xfrm>
            <a:off x="457200" y="1076326"/>
            <a:ext cx="3008315" cy="3518297"/>
          </a:xfrm>
          <a:prstGeom prst="rect">
            <a:avLst/>
          </a:prstGeom>
        </p:spPr>
        <p:txBody>
          <a:bodyPr/>
          <a:lstStyle/>
          <a:p>
            <a:pPr marL="0" indent="0">
              <a:spcBef>
                <a:spcPts val="300"/>
              </a:spcBef>
              <a:buClrTx/>
              <a:buSzTx/>
              <a:buNone/>
              <a:defRPr sz="1400" spc="0"/>
            </a:pPr>
            <a:endParaRPr/>
          </a:p>
        </p:txBody>
      </p:sp>
      <p:sp>
        <p:nvSpPr>
          <p:cNvPr id="141" name="Slide Number"/>
          <p:cNvSpPr txBox="1">
            <a:spLocks noGrp="1"/>
          </p:cNvSpPr>
          <p:nvPr>
            <p:ph type="sldNum" sz="quarter" idx="2"/>
          </p:nvPr>
        </p:nvSpPr>
        <p:spPr>
          <a:xfrm>
            <a:off x="8413144" y="4769564"/>
            <a:ext cx="273657" cy="26924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4_Titelfolie">
    <p:spTree>
      <p:nvGrpSpPr>
        <p:cNvPr id="1" name=""/>
        <p:cNvGrpSpPr/>
        <p:nvPr/>
      </p:nvGrpSpPr>
      <p:grpSpPr>
        <a:xfrm>
          <a:off x="0" y="0"/>
          <a:ext cx="0" cy="0"/>
          <a:chOff x="0" y="0"/>
          <a:chExt cx="0" cy="0"/>
        </a:xfrm>
      </p:grpSpPr>
      <p:sp>
        <p:nvSpPr>
          <p:cNvPr id="68"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9" name="Picture 2" descr="Picture 2"/>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70"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pic>
        <p:nvPicPr>
          <p:cNvPr id="77"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80" name="Group"/>
          <p:cNvGrpSpPr/>
          <p:nvPr/>
        </p:nvGrpSpPr>
        <p:grpSpPr>
          <a:xfrm>
            <a:off x="8497951" y="1"/>
            <a:ext cx="663915" cy="5143501"/>
            <a:chOff x="0" y="0"/>
            <a:chExt cx="663914" cy="5143500"/>
          </a:xfrm>
        </p:grpSpPr>
        <p:sp>
          <p:nvSpPr>
            <p:cNvPr id="78"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79"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81" name="Picture 2" descr="Picture 2"/>
          <p:cNvPicPr>
            <a:picLocks noChangeAspect="1"/>
          </p:cNvPicPr>
          <p:nvPr/>
        </p:nvPicPr>
        <p:blipFill>
          <a:blip r:embed="rId4"/>
          <a:stretch>
            <a:fillRect/>
          </a:stretch>
        </p:blipFill>
        <p:spPr>
          <a:xfrm>
            <a:off x="728420" y="1491470"/>
            <a:ext cx="2162015" cy="2160560"/>
          </a:xfrm>
          <a:prstGeom prst="rect">
            <a:avLst/>
          </a:prstGeom>
          <a:ln w="12700">
            <a:miter lim="400000"/>
          </a:ln>
        </p:spPr>
      </p:pic>
      <p:sp>
        <p:nvSpPr>
          <p:cNvPr id="82"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pic>
        <p:nvPicPr>
          <p:cNvPr id="89" name="Picture 6" descr="Picture 6"/>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92" name="Group"/>
          <p:cNvGrpSpPr/>
          <p:nvPr/>
        </p:nvGrpSpPr>
        <p:grpSpPr>
          <a:xfrm>
            <a:off x="8497951" y="1"/>
            <a:ext cx="663915" cy="5143501"/>
            <a:chOff x="0" y="0"/>
            <a:chExt cx="663914" cy="5143500"/>
          </a:xfrm>
        </p:grpSpPr>
        <p:sp>
          <p:nvSpPr>
            <p:cNvPr id="90"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91"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93" name="Picture 2" descr="Picture 2"/>
          <p:cNvPicPr>
            <a:picLocks noChangeAspect="1"/>
          </p:cNvPicPr>
          <p:nvPr/>
        </p:nvPicPr>
        <p:blipFill>
          <a:blip r:embed="rId4"/>
          <a:stretch>
            <a:fillRect/>
          </a:stretch>
        </p:blipFill>
        <p:spPr>
          <a:xfrm>
            <a:off x="716796" y="1491470"/>
            <a:ext cx="2158140" cy="2160560"/>
          </a:xfrm>
          <a:prstGeom prst="rect">
            <a:avLst/>
          </a:prstGeom>
          <a:ln w="12700">
            <a:miter lim="400000"/>
          </a:ln>
        </p:spPr>
      </p:pic>
      <p:sp>
        <p:nvSpPr>
          <p:cNvPr id="94"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6_Titelfolie">
    <p:spTree>
      <p:nvGrpSpPr>
        <p:cNvPr id="1" name=""/>
        <p:cNvGrpSpPr/>
        <p:nvPr/>
      </p:nvGrpSpPr>
      <p:grpSpPr>
        <a:xfrm>
          <a:off x="0" y="0"/>
          <a:ext cx="0" cy="0"/>
          <a:chOff x="0" y="0"/>
          <a:chExt cx="0" cy="0"/>
        </a:xfrm>
      </p:grpSpPr>
      <p:pic>
        <p:nvPicPr>
          <p:cNvPr id="101" name="Picture 7" descr="Picture 7"/>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104" name="Group"/>
          <p:cNvGrpSpPr/>
          <p:nvPr/>
        </p:nvGrpSpPr>
        <p:grpSpPr>
          <a:xfrm>
            <a:off x="8497951" y="1"/>
            <a:ext cx="663915" cy="5143501"/>
            <a:chOff x="0" y="0"/>
            <a:chExt cx="663914" cy="5143500"/>
          </a:xfrm>
        </p:grpSpPr>
        <p:sp>
          <p:nvSpPr>
            <p:cNvPr id="102"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03"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05" name="Picture 3" descr="Picture 3"/>
          <p:cNvPicPr>
            <a:picLocks noChangeAspect="1"/>
          </p:cNvPicPr>
          <p:nvPr/>
        </p:nvPicPr>
        <p:blipFill>
          <a:blip r:embed="rId4"/>
          <a:stretch>
            <a:fillRect/>
          </a:stretch>
        </p:blipFill>
        <p:spPr>
          <a:xfrm>
            <a:off x="724547" y="1491470"/>
            <a:ext cx="2165888" cy="2160560"/>
          </a:xfrm>
          <a:prstGeom prst="rect">
            <a:avLst/>
          </a:prstGeom>
          <a:ln w="12700">
            <a:miter lim="400000"/>
          </a:ln>
        </p:spPr>
      </p:pic>
      <p:sp>
        <p:nvSpPr>
          <p:cNvPr id="106"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7_Titelfolie">
    <p:spTree>
      <p:nvGrpSpPr>
        <p:cNvPr id="1" name=""/>
        <p:cNvGrpSpPr/>
        <p:nvPr/>
      </p:nvGrpSpPr>
      <p:grpSpPr>
        <a:xfrm>
          <a:off x="0" y="0"/>
          <a:ext cx="0" cy="0"/>
          <a:chOff x="0" y="0"/>
          <a:chExt cx="0" cy="0"/>
        </a:xfrm>
      </p:grpSpPr>
      <p:pic>
        <p:nvPicPr>
          <p:cNvPr id="113"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116" name="Group"/>
          <p:cNvGrpSpPr/>
          <p:nvPr/>
        </p:nvGrpSpPr>
        <p:grpSpPr>
          <a:xfrm>
            <a:off x="8497951" y="1"/>
            <a:ext cx="663915" cy="5143501"/>
            <a:chOff x="0" y="0"/>
            <a:chExt cx="663914" cy="5143500"/>
          </a:xfrm>
        </p:grpSpPr>
        <p:sp>
          <p:nvSpPr>
            <p:cNvPr id="114"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15"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17" name="Picture 3" descr="Picture 3"/>
          <p:cNvPicPr>
            <a:picLocks noChangeAspect="1"/>
          </p:cNvPicPr>
          <p:nvPr/>
        </p:nvPicPr>
        <p:blipFill>
          <a:blip r:embed="rId4"/>
          <a:stretch>
            <a:fillRect/>
          </a:stretch>
        </p:blipFill>
        <p:spPr>
          <a:xfrm>
            <a:off x="720673" y="1491470"/>
            <a:ext cx="2162014" cy="2160560"/>
          </a:xfrm>
          <a:prstGeom prst="rect">
            <a:avLst/>
          </a:prstGeom>
          <a:ln w="12700">
            <a:miter lim="400000"/>
          </a:ln>
        </p:spPr>
      </p:pic>
      <p:sp>
        <p:nvSpPr>
          <p:cNvPr id="118"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2.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BOARD OF DIRECTORS BRIEFING</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PDPL Compliance Project: Plan, Budget, Approval</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The plan, the cost and the approvals we need under Law 91/2025.</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 Answer and Decisions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Approve Option A: start 05 October 2026, about $440 in cash.</a:t>
            </a:r>
          </a:p>
        </p:txBody>
      </p:sp>
      <p:sp>
        <p:nvSpPr>
          <p:cNvPr id="4" name="Number"/>
          <p:cNvSpPr/>
          <p:nvPr/>
        </p:nvSpPr>
        <p:spPr>
          <a:xfrm>
            <a:off x="62179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1</a:t>
            </a:r>
          </a:p>
        </p:txBody>
      </p:sp>
      <p:sp>
        <p:nvSpPr>
          <p:cNvPr id="5" name="Column header"/>
          <p:cNvSpPr txBox="1"/>
          <p:nvPr/>
        </p:nvSpPr>
        <p:spPr>
          <a:xfrm>
            <a:off x="112471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Plan</a:t>
            </a:r>
          </a:p>
        </p:txBody>
      </p:sp>
      <p:sp>
        <p:nvSpPr>
          <p:cNvPr id="6" name="Column body"/>
          <p:cNvSpPr txBox="1"/>
          <p:nvPr/>
        </p:nvSpPr>
        <p:spPr>
          <a:xfrm>
            <a:off x="62179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27 tasks in 4 phases</a:t>
            </a:r>
          </a:p>
          <a:p>
            <a:pPr algn="l" marL="228600" indent="-228600">
              <a:spcAft>
                <a:spcPts val="800"/>
              </a:spcAft>
              <a:buFont typeface="Arial"/>
              <a:buChar char="•"/>
            </a:pPr>
            <a:r>
              <a:rPr sz="1300" b="0" i="0">
                <a:solidFill>
                  <a:srgbClr val="3B3678"/>
                </a:solidFill>
                <a:latin typeface="Open Sans"/>
              </a:rPr>
              <a:t>05 Oct 2026 to 03 Feb 2027 (Option A)</a:t>
            </a:r>
          </a:p>
        </p:txBody>
      </p:sp>
      <p:cxnSp>
        <p:nvCxnSpPr>
          <p:cNvPr id="7" name="Connector 6"/>
          <p:cNvCxnSpPr/>
          <p:nvPr/>
        </p:nvCxnSpPr>
        <p:spPr>
          <a:xfrm>
            <a:off x="313639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8" name="Number"/>
          <p:cNvSpPr/>
          <p:nvPr/>
        </p:nvSpPr>
        <p:spPr>
          <a:xfrm>
            <a:off x="331927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2</a:t>
            </a:r>
          </a:p>
        </p:txBody>
      </p:sp>
      <p:sp>
        <p:nvSpPr>
          <p:cNvPr id="9" name="Column header"/>
          <p:cNvSpPr txBox="1"/>
          <p:nvPr/>
        </p:nvSpPr>
        <p:spPr>
          <a:xfrm>
            <a:off x="382219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Cost</a:t>
            </a:r>
          </a:p>
        </p:txBody>
      </p:sp>
      <p:sp>
        <p:nvSpPr>
          <p:cNvPr id="10" name="Column body"/>
          <p:cNvSpPr txBox="1"/>
          <p:nvPr/>
        </p:nvSpPr>
        <p:spPr>
          <a:xfrm>
            <a:off x="331927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About $440 cash: AI tool, with tax</a:t>
            </a:r>
          </a:p>
          <a:p>
            <a:pPr algn="l" marL="228600" indent="-228600">
              <a:spcAft>
                <a:spcPts val="800"/>
              </a:spcAft>
              <a:buFont typeface="Arial"/>
              <a:buChar char="•"/>
            </a:pPr>
            <a:r>
              <a:rPr sz="1300" b="0" i="0">
                <a:solidFill>
                  <a:srgbClr val="3B3678"/>
                </a:solidFill>
                <a:latin typeface="Open Sans"/>
              </a:rPr>
              <a:t>Could be $0 if shared; legal quote pending</a:t>
            </a:r>
          </a:p>
        </p:txBody>
      </p:sp>
      <p:cxnSp>
        <p:nvCxnSpPr>
          <p:cNvPr id="11" name="Connector 10"/>
          <p:cNvCxnSpPr/>
          <p:nvPr/>
        </p:nvCxnSpPr>
        <p:spPr>
          <a:xfrm>
            <a:off x="583387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2" name="Number"/>
          <p:cNvSpPr/>
          <p:nvPr/>
        </p:nvSpPr>
        <p:spPr>
          <a:xfrm>
            <a:off x="601675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3</a:t>
            </a:r>
          </a:p>
        </p:txBody>
      </p:sp>
      <p:sp>
        <p:nvSpPr>
          <p:cNvPr id="13" name="Column header"/>
          <p:cNvSpPr txBox="1"/>
          <p:nvPr/>
        </p:nvSpPr>
        <p:spPr>
          <a:xfrm>
            <a:off x="651967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Decisions</a:t>
            </a:r>
          </a:p>
        </p:txBody>
      </p:sp>
      <p:sp>
        <p:nvSpPr>
          <p:cNvPr id="14" name="Column body"/>
          <p:cNvSpPr txBox="1"/>
          <p:nvPr/>
        </p:nvSpPr>
        <p:spPr>
          <a:xfrm>
            <a:off x="601675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Approve Option A</a:t>
            </a:r>
          </a:p>
          <a:p>
            <a:pPr algn="l" marL="228600" indent="-228600">
              <a:spcAft>
                <a:spcPts val="800"/>
              </a:spcAft>
              <a:buFont typeface="Arial"/>
              <a:buChar char="•"/>
            </a:pPr>
            <a:r>
              <a:rPr sz="1300" b="0" i="0">
                <a:solidFill>
                  <a:srgbClr val="3B3678"/>
                </a:solidFill>
                <a:latin typeface="Open Sans"/>
              </a:rPr>
              <a:t>Approve the $440 budget</a:t>
            </a:r>
          </a:p>
          <a:p>
            <a:pPr algn="l" marL="228600" indent="-228600">
              <a:spcAft>
                <a:spcPts val="800"/>
              </a:spcAft>
              <a:buFont typeface="Arial"/>
              <a:buChar char="•"/>
            </a:pPr>
            <a:r>
              <a:rPr sz="1300" b="0" i="0">
                <a:solidFill>
                  <a:srgbClr val="3B3678"/>
                </a:solidFill>
                <a:latin typeface="Open Sans"/>
              </a:rPr>
              <a:t>GM confirms flagged task owners</a:t>
            </a:r>
          </a:p>
        </p:txBody>
      </p:sp>
      <p:sp>
        <p:nvSpPr>
          <p:cNvPr id="15" name="Sign card"/>
          <p:cNvSpPr/>
          <p:nvPr/>
        </p:nvSpPr>
        <p:spPr>
          <a:xfrm>
            <a:off x="62179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6" name="Sign role"/>
          <p:cNvSpPr txBox="1"/>
          <p:nvPr/>
        </p:nvSpPr>
        <p:spPr>
          <a:xfrm>
            <a:off x="80467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Prepared by</a:t>
            </a:r>
          </a:p>
        </p:txBody>
      </p:sp>
      <p:sp>
        <p:nvSpPr>
          <p:cNvPr id="17" name="Sign name"/>
          <p:cNvSpPr txBox="1"/>
          <p:nvPr/>
        </p:nvSpPr>
        <p:spPr>
          <a:xfrm>
            <a:off x="80467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Tran My Phuc</a:t>
            </a:r>
          </a:p>
        </p:txBody>
      </p:sp>
      <p:sp>
        <p:nvSpPr>
          <p:cNvPr id="18" name="Sign title"/>
          <p:cNvSpPr txBox="1"/>
          <p:nvPr/>
        </p:nvSpPr>
        <p:spPr>
          <a:xfrm>
            <a:off x="80467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DPO / IT &amp; ISMS Manager</a:t>
            </a:r>
          </a:p>
        </p:txBody>
      </p:sp>
      <p:sp>
        <p:nvSpPr>
          <p:cNvPr id="19" name="Sign line"/>
          <p:cNvSpPr txBox="1"/>
          <p:nvPr/>
        </p:nvSpPr>
        <p:spPr>
          <a:xfrm>
            <a:off x="80467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0" name="Sign card"/>
          <p:cNvSpPr/>
          <p:nvPr/>
        </p:nvSpPr>
        <p:spPr>
          <a:xfrm>
            <a:off x="329641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Sign role"/>
          <p:cNvSpPr txBox="1"/>
          <p:nvPr/>
        </p:nvSpPr>
        <p:spPr>
          <a:xfrm>
            <a:off x="347929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Reviewed by</a:t>
            </a:r>
          </a:p>
        </p:txBody>
      </p:sp>
      <p:sp>
        <p:nvSpPr>
          <p:cNvPr id="22" name="Sign name"/>
          <p:cNvSpPr txBox="1"/>
          <p:nvPr/>
        </p:nvSpPr>
        <p:spPr>
          <a:xfrm>
            <a:off x="347929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 </a:t>
            </a:r>
          </a:p>
        </p:txBody>
      </p:sp>
      <p:sp>
        <p:nvSpPr>
          <p:cNvPr id="23" name="Sign title"/>
          <p:cNvSpPr txBox="1"/>
          <p:nvPr/>
        </p:nvSpPr>
        <p:spPr>
          <a:xfrm>
            <a:off x="347929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To be completed</a:t>
            </a:r>
          </a:p>
        </p:txBody>
      </p:sp>
      <p:sp>
        <p:nvSpPr>
          <p:cNvPr id="24" name="Sign line"/>
          <p:cNvSpPr txBox="1"/>
          <p:nvPr/>
        </p:nvSpPr>
        <p:spPr>
          <a:xfrm>
            <a:off x="347929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5" name="Sign card"/>
          <p:cNvSpPr/>
          <p:nvPr/>
        </p:nvSpPr>
        <p:spPr>
          <a:xfrm>
            <a:off x="5971031"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6" name="Sign role"/>
          <p:cNvSpPr txBox="1"/>
          <p:nvPr/>
        </p:nvSpPr>
        <p:spPr>
          <a:xfrm>
            <a:off x="615391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Approved by</a:t>
            </a:r>
          </a:p>
        </p:txBody>
      </p:sp>
      <p:sp>
        <p:nvSpPr>
          <p:cNvPr id="27" name="Sign name"/>
          <p:cNvSpPr txBox="1"/>
          <p:nvPr/>
        </p:nvSpPr>
        <p:spPr>
          <a:xfrm>
            <a:off x="615391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Pavel Poskakukhin</a:t>
            </a:r>
          </a:p>
        </p:txBody>
      </p:sp>
      <p:sp>
        <p:nvSpPr>
          <p:cNvPr id="28" name="Sign title"/>
          <p:cNvSpPr txBox="1"/>
          <p:nvPr/>
        </p:nvSpPr>
        <p:spPr>
          <a:xfrm>
            <a:off x="615391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General Manager</a:t>
            </a:r>
          </a:p>
        </p:txBody>
      </p:sp>
      <p:sp>
        <p:nvSpPr>
          <p:cNvPr id="29" name="Sign line"/>
          <p:cNvSpPr txBox="1"/>
          <p:nvPr/>
        </p:nvSpPr>
        <p:spPr>
          <a:xfrm>
            <a:off x="615391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 and What Is in Scope</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Two streams: our own data, and client contracts where we are the Data Processor.</a:t>
            </a:r>
          </a:p>
        </p:txBody>
      </p:sp>
      <p:sp>
        <p:nvSpPr>
          <p:cNvPr id="4" name="Stat card"/>
          <p:cNvSpPr/>
          <p:nvPr/>
        </p:nvSpPr>
        <p:spPr>
          <a:xfrm>
            <a:off x="621792" y="1371600"/>
            <a:ext cx="25603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45920"/>
            <a:ext cx="2194560" cy="822960"/>
          </a:xfrm>
          <a:prstGeom prst="rect">
            <a:avLst/>
          </a:prstGeom>
          <a:noFill/>
        </p:spPr>
        <p:txBody>
          <a:bodyPr wrap="square" lIns="0" rIns="0" tIns="0" bIns="0" anchor="t">
            <a:spAutoFit/>
          </a:bodyPr>
          <a:lstStyle/>
          <a:p>
            <a:pPr algn="l"/>
            <a:r>
              <a:rPr sz="2600" b="1" i="0">
                <a:solidFill>
                  <a:srgbClr val="FFFFFF"/>
                </a:solidFill>
                <a:latin typeface="Open Sans"/>
              </a:rPr>
              <a:t>01 Jan 2026</a:t>
            </a:r>
          </a:p>
        </p:txBody>
      </p:sp>
      <p:sp>
        <p:nvSpPr>
          <p:cNvPr id="6" name="Stat label"/>
          <p:cNvSpPr txBox="1"/>
          <p:nvPr/>
        </p:nvSpPr>
        <p:spPr>
          <a:xfrm>
            <a:off x="804672" y="2423160"/>
            <a:ext cx="2194560" cy="822960"/>
          </a:xfrm>
          <a:prstGeom prst="rect">
            <a:avLst/>
          </a:prstGeom>
          <a:noFill/>
        </p:spPr>
        <p:txBody>
          <a:bodyPr wrap="square" lIns="0" rIns="0" tIns="0" bIns="0" anchor="t">
            <a:spAutoFit/>
          </a:bodyPr>
          <a:lstStyle/>
          <a:p>
            <a:pPr algn="l"/>
            <a:r>
              <a:rPr sz="1300" b="0" i="0">
                <a:solidFill>
                  <a:srgbClr val="FFFFFF"/>
                </a:solidFill>
                <a:latin typeface="Open Sans"/>
              </a:rPr>
              <a:t>Law 91/2025 is in force. Earlier filing reduces exposure under Decree 330/2026.</a:t>
            </a:r>
          </a:p>
        </p:txBody>
      </p:sp>
      <p:sp>
        <p:nvSpPr>
          <p:cNvPr id="7" name="Scope card"/>
          <p:cNvSpPr/>
          <p:nvPr/>
        </p:nvSpPr>
        <p:spPr>
          <a:xfrm>
            <a:off x="3456432" y="13716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8" name="Pill"/>
          <p:cNvSpPr/>
          <p:nvPr/>
        </p:nvSpPr>
        <p:spPr>
          <a:xfrm>
            <a:off x="3639312" y="15544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9" name="Card title"/>
          <p:cNvSpPr txBox="1"/>
          <p:nvPr/>
        </p:nvSpPr>
        <p:spPr>
          <a:xfrm>
            <a:off x="4873752" y="15544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SGH Asia's own data</a:t>
            </a:r>
          </a:p>
        </p:txBody>
      </p:sp>
      <p:sp>
        <p:nvSpPr>
          <p:cNvPr id="10" name="Card body"/>
          <p:cNvSpPr txBox="1"/>
          <p:nvPr/>
        </p:nvSpPr>
        <p:spPr>
          <a:xfrm>
            <a:off x="3639312" y="1965960"/>
            <a:ext cx="4663440" cy="548640"/>
          </a:xfrm>
          <a:prstGeom prst="rect">
            <a:avLst/>
          </a:prstGeom>
          <a:noFill/>
        </p:spPr>
        <p:txBody>
          <a:bodyPr wrap="square" lIns="0" rIns="0" tIns="0" bIns="0" anchor="t">
            <a:spAutoFit/>
          </a:bodyPr>
          <a:lstStyle/>
          <a:p>
            <a:pPr algn="l"/>
            <a:r>
              <a:rPr sz="1200" b="0" i="0">
                <a:solidFill>
                  <a:srgbClr val="3B3678"/>
                </a:solidFill>
                <a:latin typeface="Open Sans"/>
              </a:rPr>
              <a:t>Employees, candidates, vendor and client contacts: HR, payroll, CRM, marketing.</a:t>
            </a:r>
          </a:p>
        </p:txBody>
      </p:sp>
      <p:sp>
        <p:nvSpPr>
          <p:cNvPr id="11" name="Scope card"/>
          <p:cNvSpPr/>
          <p:nvPr/>
        </p:nvSpPr>
        <p:spPr>
          <a:xfrm>
            <a:off x="3456432" y="27432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2" name="Pill"/>
          <p:cNvSpPr/>
          <p:nvPr/>
        </p:nvSpPr>
        <p:spPr>
          <a:xfrm>
            <a:off x="3639312" y="29260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13" name="Card title"/>
          <p:cNvSpPr txBox="1"/>
          <p:nvPr/>
        </p:nvSpPr>
        <p:spPr>
          <a:xfrm>
            <a:off x="4873752" y="29260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Client contract data</a:t>
            </a:r>
          </a:p>
        </p:txBody>
      </p:sp>
      <p:sp>
        <p:nvSpPr>
          <p:cNvPr id="14" name="Card body"/>
          <p:cNvSpPr txBox="1"/>
          <p:nvPr/>
        </p:nvSpPr>
        <p:spPr>
          <a:xfrm>
            <a:off x="3639312" y="3337560"/>
            <a:ext cx="4663440" cy="548640"/>
          </a:xfrm>
          <a:prstGeom prst="rect">
            <a:avLst/>
          </a:prstGeom>
          <a:noFill/>
        </p:spPr>
        <p:txBody>
          <a:bodyPr wrap="square" lIns="0" rIns="0" tIns="0" bIns="0" anchor="t">
            <a:spAutoFit/>
          </a:bodyPr>
          <a:lstStyle/>
          <a:p>
            <a:pPr algn="l"/>
            <a:r>
              <a:rPr sz="1200" b="0" i="0">
                <a:solidFill>
                  <a:srgbClr val="3B3678"/>
                </a:solidFill>
                <a:latin typeface="Open Sans"/>
              </a:rPr>
              <a:t>Odoo implementation, ISO 27001/42001 and AI governance advisory, DPO outsourcing. Added as Phase 2b (slide 9).</a:t>
            </a:r>
          </a:p>
        </p:txBody>
      </p:sp>
      <p:sp>
        <p:nvSpPr>
          <p:cNvPr id="15" name="Footnote"/>
          <p:cNvSpPr txBox="1"/>
          <p:nvPr/>
        </p:nvSpPr>
        <p:spPr>
          <a:xfrm>
            <a:off x="621792" y="4343400"/>
            <a:ext cx="7863840" cy="274320"/>
          </a:xfrm>
          <a:prstGeom prst="rect">
            <a:avLst/>
          </a:prstGeom>
          <a:noFill/>
        </p:spPr>
        <p:txBody>
          <a:bodyPr wrap="square" lIns="0" rIns="0" tIns="0" bIns="0" anchor="t">
            <a:spAutoFit/>
          </a:bodyPr>
          <a:lstStyle/>
          <a:p>
            <a:pPr algn="l"/>
            <a:r>
              <a:rPr sz="1200" b="0" i="1">
                <a:solidFill>
                  <a:srgbClr val="3B3678"/>
                </a:solidFill>
                <a:latin typeface="Open Sans"/>
              </a:rPr>
              <a:t>Phase 0 settles SGH Asia's classification: advisory (Art. 15-16) or processor (Art.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4 Phases, 27 Tasks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05 Oct 2026 to 03 Feb 2027.</a:t>
            </a:r>
          </a:p>
        </p:txBody>
      </p:sp>
      <p:sp>
        <p:nvSpPr>
          <p:cNvPr id="4" name="Month"/>
          <p:cNvSpPr txBox="1"/>
          <p:nvPr/>
        </p:nvSpPr>
        <p:spPr>
          <a:xfrm>
            <a:off x="2871216"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Oct</a:t>
            </a:r>
          </a:p>
        </p:txBody>
      </p:sp>
      <p:sp>
        <p:nvSpPr>
          <p:cNvPr id="5" name="Month"/>
          <p:cNvSpPr txBox="1"/>
          <p:nvPr/>
        </p:nvSpPr>
        <p:spPr>
          <a:xfrm>
            <a:off x="4136261"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Nov</a:t>
            </a:r>
          </a:p>
        </p:txBody>
      </p:sp>
      <p:cxnSp>
        <p:nvCxnSpPr>
          <p:cNvPr id="6" name="Connector 5"/>
          <p:cNvCxnSpPr/>
          <p:nvPr/>
        </p:nvCxnSpPr>
        <p:spPr>
          <a:xfrm>
            <a:off x="4099685"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Month"/>
          <p:cNvSpPr txBox="1"/>
          <p:nvPr/>
        </p:nvSpPr>
        <p:spPr>
          <a:xfrm>
            <a:off x="554186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Dec</a:t>
            </a:r>
          </a:p>
        </p:txBody>
      </p:sp>
      <p:cxnSp>
        <p:nvCxnSpPr>
          <p:cNvPr id="8" name="Connector 7"/>
          <p:cNvCxnSpPr/>
          <p:nvPr/>
        </p:nvCxnSpPr>
        <p:spPr>
          <a:xfrm>
            <a:off x="550529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Month"/>
          <p:cNvSpPr txBox="1"/>
          <p:nvPr/>
        </p:nvSpPr>
        <p:spPr>
          <a:xfrm>
            <a:off x="699432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Jan</a:t>
            </a:r>
          </a:p>
        </p:txBody>
      </p:sp>
      <p:cxnSp>
        <p:nvCxnSpPr>
          <p:cNvPr id="10" name="Connector 9"/>
          <p:cNvCxnSpPr/>
          <p:nvPr/>
        </p:nvCxnSpPr>
        <p:spPr>
          <a:xfrm>
            <a:off x="695775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Month"/>
          <p:cNvSpPr txBox="1"/>
          <p:nvPr/>
        </p:nvSpPr>
        <p:spPr>
          <a:xfrm>
            <a:off x="844678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Feb</a:t>
            </a:r>
          </a:p>
        </p:txBody>
      </p:sp>
      <p:cxnSp>
        <p:nvCxnSpPr>
          <p:cNvPr id="12" name="Connector 11"/>
          <p:cNvCxnSpPr/>
          <p:nvPr/>
        </p:nvCxnSpPr>
        <p:spPr>
          <a:xfrm>
            <a:off x="841021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Phase label"/>
          <p:cNvSpPr txBox="1"/>
          <p:nvPr/>
        </p:nvSpPr>
        <p:spPr>
          <a:xfrm>
            <a:off x="621792" y="1691640"/>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0</a:t>
            </a:r>
          </a:p>
          <a:p>
            <a:pPr algn="l"/>
            <a:r>
              <a:rPr sz="1000" b="0" i="0">
                <a:solidFill>
                  <a:srgbClr val="3B3678"/>
                </a:solidFill>
                <a:latin typeface="Open Sans"/>
              </a:rPr>
              <a:t>Governance &amp; Kickoff</a:t>
            </a:r>
          </a:p>
          <a:p>
            <a:pPr algn="l"/>
            <a:r>
              <a:rPr sz="1000" b="0" i="0">
                <a:solidFill>
                  <a:srgbClr val="3B3678"/>
                </a:solidFill>
                <a:latin typeface="Open Sans"/>
              </a:rPr>
              <a:t>05 Oct – 18 Oct · 6 tasks</a:t>
            </a:r>
          </a:p>
        </p:txBody>
      </p:sp>
      <p:sp>
        <p:nvSpPr>
          <p:cNvPr id="14" name="Phase bar"/>
          <p:cNvSpPr/>
          <p:nvPr/>
        </p:nvSpPr>
        <p:spPr>
          <a:xfrm>
            <a:off x="2834640" y="1783080"/>
            <a:ext cx="609096"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5" name="Phase label"/>
          <p:cNvSpPr txBox="1"/>
          <p:nvPr/>
        </p:nvSpPr>
        <p:spPr>
          <a:xfrm>
            <a:off x="621792" y="2313432"/>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1</a:t>
            </a:r>
          </a:p>
          <a:p>
            <a:pPr algn="l"/>
            <a:r>
              <a:rPr sz="1000" b="0" i="0">
                <a:solidFill>
                  <a:srgbClr val="3B3678"/>
                </a:solidFill>
                <a:latin typeface="Open Sans"/>
              </a:rPr>
              <a:t>Discovery &amp; Risk Assessment</a:t>
            </a:r>
          </a:p>
          <a:p>
            <a:pPr algn="l"/>
            <a:r>
              <a:rPr sz="1000" b="0" i="0">
                <a:solidFill>
                  <a:srgbClr val="3B3678"/>
                </a:solidFill>
                <a:latin typeface="Open Sans"/>
              </a:rPr>
              <a:t>05 Oct – 18 Nov · 6 tasks</a:t>
            </a:r>
          </a:p>
        </p:txBody>
      </p:sp>
      <p:sp>
        <p:nvSpPr>
          <p:cNvPr id="16" name="Phase bar"/>
          <p:cNvSpPr/>
          <p:nvPr/>
        </p:nvSpPr>
        <p:spPr>
          <a:xfrm>
            <a:off x="2834640" y="2404872"/>
            <a:ext cx="2061556" cy="329184"/>
          </a:xfrm>
          <a:prstGeom prst="roundRect">
            <a:avLst>
              <a:gd name="adj" fmla="val 3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7" name="Phase label"/>
          <p:cNvSpPr txBox="1"/>
          <p:nvPr/>
        </p:nvSpPr>
        <p:spPr>
          <a:xfrm>
            <a:off x="621792" y="2935224"/>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2</a:t>
            </a:r>
          </a:p>
          <a:p>
            <a:pPr algn="l"/>
            <a:r>
              <a:rPr sz="1000" b="0" i="0">
                <a:solidFill>
                  <a:srgbClr val="3B3678"/>
                </a:solidFill>
                <a:latin typeface="Open Sans"/>
              </a:rPr>
              <a:t>Documentation &amp; Contracts</a:t>
            </a:r>
          </a:p>
          <a:p>
            <a:pPr algn="l"/>
            <a:r>
              <a:rPr sz="1000" b="0" i="0">
                <a:solidFill>
                  <a:srgbClr val="3B3678"/>
                </a:solidFill>
                <a:latin typeface="Open Sans"/>
              </a:rPr>
              <a:t>18 Nov – 29 Dec · 5 tasks</a:t>
            </a:r>
          </a:p>
        </p:txBody>
      </p:sp>
      <p:sp>
        <p:nvSpPr>
          <p:cNvPr id="18" name="Phase bar"/>
          <p:cNvSpPr/>
          <p:nvPr/>
        </p:nvSpPr>
        <p:spPr>
          <a:xfrm>
            <a:off x="4896196" y="3026664"/>
            <a:ext cx="1920995" cy="329184"/>
          </a:xfrm>
          <a:prstGeom prst="roundRect">
            <a:avLst>
              <a:gd name="adj" fmla="val 3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9" name="Phase label"/>
          <p:cNvSpPr txBox="1"/>
          <p:nvPr/>
        </p:nvSpPr>
        <p:spPr>
          <a:xfrm>
            <a:off x="621792" y="3557016"/>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3</a:t>
            </a:r>
          </a:p>
          <a:p>
            <a:pPr algn="l"/>
            <a:r>
              <a:rPr sz="1000" b="0" i="0">
                <a:solidFill>
                  <a:srgbClr val="3B3678"/>
                </a:solidFill>
                <a:latin typeface="Open Sans"/>
              </a:rPr>
              <a:t>Technical Measures &amp; Filing</a:t>
            </a:r>
          </a:p>
          <a:p>
            <a:pPr algn="l"/>
            <a:r>
              <a:rPr sz="1000" b="0" i="0">
                <a:solidFill>
                  <a:srgbClr val="3B3678"/>
                </a:solidFill>
                <a:latin typeface="Open Sans"/>
              </a:rPr>
              <a:t>14 Dec – 03 Feb · 10 tasks</a:t>
            </a:r>
          </a:p>
        </p:txBody>
      </p:sp>
      <p:sp>
        <p:nvSpPr>
          <p:cNvPr id="20" name="Phase bar"/>
          <p:cNvSpPr/>
          <p:nvPr/>
        </p:nvSpPr>
        <p:spPr>
          <a:xfrm>
            <a:off x="6114388" y="3648456"/>
            <a:ext cx="2389531"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Milestone"/>
          <p:cNvSpPr/>
          <p:nvPr/>
        </p:nvSpPr>
        <p:spPr>
          <a:xfrm>
            <a:off x="7401123"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2" name="Milestone"/>
          <p:cNvSpPr/>
          <p:nvPr/>
        </p:nvSpPr>
        <p:spPr>
          <a:xfrm>
            <a:off x="8385048"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3" name="Legend mark"/>
          <p:cNvSpPr/>
          <p:nvPr/>
        </p:nvSpPr>
        <p:spPr>
          <a:xfrm>
            <a:off x="621792" y="4315968"/>
            <a:ext cx="201168" cy="201168"/>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4" name="Legend text"/>
          <p:cNvSpPr txBox="1"/>
          <p:nvPr/>
        </p:nvSpPr>
        <p:spPr>
          <a:xfrm>
            <a:off x="914400" y="4297680"/>
            <a:ext cx="7589520" cy="237744"/>
          </a:xfrm>
          <a:prstGeom prst="rect">
            <a:avLst/>
          </a:prstGeom>
          <a:noFill/>
        </p:spPr>
        <p:txBody>
          <a:bodyPr wrap="square" lIns="0" rIns="0" tIns="0" bIns="0" anchor="ctr">
            <a:spAutoFit/>
          </a:bodyPr>
          <a:lstStyle/>
          <a:p>
            <a:pPr algn="l"/>
            <a:r>
              <a:rPr sz="1100" b="0" i="0">
                <a:solidFill>
                  <a:srgbClr val="3B3678"/>
                </a:solidFill>
                <a:latin typeface="Open Sans"/>
              </a:rPr>
              <a:t>13 Jan 2027: DPO appointment filed with A05 Department.   03 Feb 2027: go-live sign-off.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Schedule Options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is recommended; Option B only if Dec 2026 becomes a hard deadline.</a:t>
            </a:r>
          </a:p>
        </p:txBody>
      </p:sp>
      <p:graphicFrame>
        <p:nvGraphicFramePr>
          <p:cNvPr id="4" name="Options table"/>
          <p:cNvGraphicFramePr>
            <a:graphicFrameLocks noGrp="1"/>
          </p:cNvGraphicFramePr>
          <p:nvPr/>
        </p:nvGraphicFramePr>
        <p:xfrm>
          <a:off x="621792" y="1371600"/>
          <a:ext cx="7863840" cy="2377440"/>
        </p:xfrm>
        <a:graphic>
          <a:graphicData uri="http://schemas.openxmlformats.org/drawingml/2006/table">
            <a:tbl>
              <a:tblPr firstRow="0" bandRow="0"/>
              <a:tblGrid>
                <a:gridCol w="3108960"/>
                <a:gridCol w="2377440"/>
                <a:gridCol w="2377440"/>
              </a:tblGrid>
              <a:tr h="475488">
                <a:tc>
                  <a:txBody>
                    <a:bodyPr/>
                    <a:lstStyle/>
                    <a:p>
                      <a:pPr algn="l"/>
                      <a:r>
                        <a:rPr sz="1300" b="1">
                          <a:solidFill>
                            <a:srgbClr val="FFFFFF"/>
                          </a:solidFill>
                          <a:latin typeface="Open Sans"/>
                        </a:rPr>
                        <a:t>Milestone</a:t>
                      </a:r>
                    </a:p>
                  </a:txBody>
                  <a:tcPr anchor="ctr" marL="137160" marR="137160">
                    <a:solidFill>
                      <a:srgbClr val="3B3678"/>
                    </a:solidFill>
                  </a:tcPr>
                </a:tc>
                <a:tc>
                  <a:txBody>
                    <a:bodyPr/>
                    <a:lstStyle/>
                    <a:p>
                      <a:pPr algn="l"/>
                      <a:r>
                        <a:rPr sz="1300" b="1">
                          <a:solidFill>
                            <a:srgbClr val="FFFFFF"/>
                          </a:solidFill>
                          <a:latin typeface="Open Sans"/>
                        </a:rPr>
                        <a:t>Option A: shift 34 days</a:t>
                      </a:r>
                    </a:p>
                  </a:txBody>
                  <a:tcPr anchor="ctr" marL="137160" marR="137160">
                    <a:solidFill>
                      <a:srgbClr val="3B3678"/>
                    </a:solidFill>
                  </a:tcPr>
                </a:tc>
                <a:tc>
                  <a:txBody>
                    <a:bodyPr/>
                    <a:lstStyle/>
                    <a:p>
                      <a:pPr algn="l"/>
                      <a:r>
                        <a:rPr sz="1300" b="1">
                          <a:solidFill>
                            <a:srgbClr val="FFFFFF"/>
                          </a:solidFill>
                          <a:latin typeface="Open Sans"/>
                        </a:rPr>
                        <a:t>Option B: contingency</a:t>
                      </a:r>
                    </a:p>
                  </a:txBody>
                  <a:tcPr anchor="ctr" marL="137160" marR="137160">
                    <a:solidFill>
                      <a:srgbClr val="3B3678"/>
                    </a:solidFill>
                  </a:tcPr>
                </a:tc>
              </a:tr>
              <a:tr h="475488">
                <a:tc>
                  <a:txBody>
                    <a:bodyPr/>
                    <a:lstStyle/>
                    <a:p>
                      <a:pPr algn="l"/>
                      <a:r>
                        <a:rPr sz="1300" b="1">
                          <a:solidFill>
                            <a:srgbClr val="3B3678"/>
                          </a:solidFill>
                          <a:latin typeface="Open Sans"/>
                        </a:rPr>
                        <a:t>DPO appointment filed with A05</a:t>
                      </a:r>
                    </a:p>
                  </a:txBody>
                  <a:tcPr anchor="ctr" marL="137160" marR="137160">
                    <a:solidFill>
                      <a:srgbClr val="FFFFFF"/>
                    </a:solidFill>
                  </a:tcPr>
                </a:tc>
                <a:tc>
                  <a:txBody>
                    <a:bodyPr/>
                    <a:lstStyle/>
                    <a:p>
                      <a:pPr algn="l"/>
                      <a:r>
                        <a:rPr sz="1300" b="0">
                          <a:solidFill>
                            <a:srgbClr val="3B3678"/>
                          </a:solidFill>
                          <a:latin typeface="Open Sans"/>
                        </a:rPr>
                        <a:t>13 Jan 2027</a:t>
                      </a:r>
                    </a:p>
                  </a:txBody>
                  <a:tcPr anchor="ctr" marL="137160" marR="137160">
                    <a:solidFill>
                      <a:srgbClr val="FFFFFF"/>
                    </a:solidFill>
                  </a:tcPr>
                </a:tc>
                <a:tc>
                  <a:txBody>
                    <a:bodyPr/>
                    <a:lstStyle/>
                    <a:p>
                      <a:pPr algn="l"/>
                      <a:r>
                        <a:rPr sz="1300" b="0">
                          <a:solidFill>
                            <a:srgbClr val="3B3678"/>
                          </a:solidFill>
                          <a:latin typeface="Open Sans"/>
                        </a:rPr>
                        <a:t>16 Dec 2026</a:t>
                      </a:r>
                    </a:p>
                  </a:txBody>
                  <a:tcPr anchor="ctr" marL="137160" marR="137160">
                    <a:solidFill>
                      <a:srgbClr val="FFFFFF"/>
                    </a:solidFill>
                  </a:tcPr>
                </a:tc>
              </a:tr>
              <a:tr h="475488">
                <a:tc>
                  <a:txBody>
                    <a:bodyPr/>
                    <a:lstStyle/>
                    <a:p>
                      <a:pPr algn="l"/>
                      <a:r>
                        <a:rPr sz="1300" b="1">
                          <a:solidFill>
                            <a:srgbClr val="3B3678"/>
                          </a:solidFill>
                          <a:latin typeface="Open Sans"/>
                        </a:rPr>
                        <a:t>Company-wide PDPL training</a:t>
                      </a:r>
                    </a:p>
                  </a:txBody>
                  <a:tcPr anchor="ctr" marL="137160" marR="137160">
                    <a:solidFill>
                      <a:srgbClr val="F3F3F3"/>
                    </a:solidFill>
                  </a:tcPr>
                </a:tc>
                <a:tc>
                  <a:txBody>
                    <a:bodyPr/>
                    <a:lstStyle/>
                    <a:p>
                      <a:pPr algn="l"/>
                      <a:r>
                        <a:rPr sz="1300" b="0">
                          <a:solidFill>
                            <a:srgbClr val="3B3678"/>
                          </a:solidFill>
                          <a:latin typeface="Open Sans"/>
                        </a:rPr>
                        <a:t>23 Jan 2027</a:t>
                      </a:r>
                    </a:p>
                  </a:txBody>
                  <a:tcPr anchor="ctr" marL="137160" marR="137160">
                    <a:solidFill>
                      <a:srgbClr val="F3F3F3"/>
                    </a:solidFill>
                  </a:tcPr>
                </a:tc>
                <a:tc>
                  <a:txBody>
                    <a:bodyPr/>
                    <a:lstStyle/>
                    <a:p>
                      <a:pPr algn="l"/>
                      <a:r>
                        <a:rPr sz="1300" b="0">
                          <a:solidFill>
                            <a:srgbClr val="3B3678"/>
                          </a:solidFill>
                          <a:latin typeface="Open Sans"/>
                        </a:rPr>
                        <a:t>23 Dec 2026</a:t>
                      </a:r>
                    </a:p>
                  </a:txBody>
                  <a:tcPr anchor="ctr" marL="137160" marR="137160">
                    <a:solidFill>
                      <a:srgbClr val="F3F3F3"/>
                    </a:solidFill>
                  </a:tcPr>
                </a:tc>
              </a:tr>
              <a:tr h="475488">
                <a:tc>
                  <a:txBody>
                    <a:bodyPr/>
                    <a:lstStyle/>
                    <a:p>
                      <a:pPr algn="l"/>
                      <a:r>
                        <a:rPr sz="1300" b="1">
                          <a:solidFill>
                            <a:srgbClr val="3B3678"/>
                          </a:solidFill>
                          <a:latin typeface="Open Sans"/>
                        </a:rPr>
                        <a:t>Go-live sign-off</a:t>
                      </a:r>
                    </a:p>
                  </a:txBody>
                  <a:tcPr anchor="ctr" marL="137160" marR="137160">
                    <a:solidFill>
                      <a:srgbClr val="FFFFFF"/>
                    </a:solidFill>
                  </a:tcPr>
                </a:tc>
                <a:tc>
                  <a:txBody>
                    <a:bodyPr/>
                    <a:lstStyle/>
                    <a:p>
                      <a:pPr algn="l"/>
                      <a:r>
                        <a:rPr sz="1300" b="0">
                          <a:solidFill>
                            <a:srgbClr val="3B3678"/>
                          </a:solidFill>
                          <a:latin typeface="Open Sans"/>
                        </a:rPr>
                        <a:t>03 Feb 2027</a:t>
                      </a:r>
                    </a:p>
                  </a:txBody>
                  <a:tcPr anchor="ctr" marL="137160" marR="137160">
                    <a:solidFill>
                      <a:srgbClr val="FFFFFF"/>
                    </a:solidFill>
                  </a:tcPr>
                </a:tc>
                <a:tc>
                  <a:txBody>
                    <a:bodyPr/>
                    <a:lstStyle/>
                    <a:p>
                      <a:pPr algn="l"/>
                      <a:r>
                        <a:rPr sz="1300" b="0">
                          <a:solidFill>
                            <a:srgbClr val="3B3678"/>
                          </a:solidFill>
                          <a:latin typeface="Open Sans"/>
                        </a:rPr>
                        <a:t>31 Dec 2026</a:t>
                      </a:r>
                    </a:p>
                  </a:txBody>
                  <a:tcPr anchor="ctr" marL="137160" marR="137160">
                    <a:solidFill>
                      <a:srgbClr val="FFFFFF"/>
                    </a:solidFill>
                  </a:tcPr>
                </a:tc>
              </a:tr>
              <a:tr h="475488">
                <a:tc>
                  <a:txBody>
                    <a:bodyPr/>
                    <a:lstStyle/>
                    <a:p>
                      <a:pPr algn="l"/>
                      <a:r>
                        <a:rPr sz="1300" b="1">
                          <a:solidFill>
                            <a:srgbClr val="3B3678"/>
                          </a:solidFill>
                          <a:latin typeface="Open Sans"/>
                        </a:rPr>
                        <a:t>Status</a:t>
                      </a:r>
                    </a:p>
                  </a:txBody>
                  <a:tcPr anchor="ctr" marL="137160" marR="137160">
                    <a:solidFill>
                      <a:srgbClr val="F3F3F3"/>
                    </a:solidFill>
                  </a:tcPr>
                </a:tc>
                <a:tc>
                  <a:txBody>
                    <a:bodyPr/>
                    <a:lstStyle/>
                    <a:p>
                      <a:pPr algn="l"/>
                      <a:r>
                        <a:rPr sz="1300" b="1">
                          <a:solidFill>
                            <a:srgbClr val="3FB1A0"/>
                          </a:solidFill>
                          <a:latin typeface="Open Sans"/>
                        </a:rPr>
                        <a:t>Recommended</a:t>
                      </a:r>
                    </a:p>
                  </a:txBody>
                  <a:tcPr anchor="ctr" marL="137160" marR="137160">
                    <a:solidFill>
                      <a:srgbClr val="F3F3F3"/>
                    </a:solidFill>
                  </a:tcPr>
                </a:tc>
                <a:tc>
                  <a:txBody>
                    <a:bodyPr/>
                    <a:lstStyle/>
                    <a:p>
                      <a:pPr algn="l"/>
                      <a:r>
                        <a:rPr sz="1300" b="0">
                          <a:solidFill>
                            <a:srgbClr val="3B3678"/>
                          </a:solidFill>
                          <a:latin typeface="Open Sans"/>
                        </a:rPr>
                        <a:t>Contingency only</a:t>
                      </a:r>
                    </a:p>
                  </a:txBody>
                  <a:tcPr anchor="ctr" marL="137160" marR="137160">
                    <a:solidFill>
                      <a:srgbClr val="F3F3F3"/>
                    </a:solidFill>
                  </a:tcPr>
                </a:tc>
              </a:tr>
            </a:tbl>
          </a:graphicData>
        </a:graphic>
      </p:graphicFrame>
      <p:sp>
        <p:nvSpPr>
          <p:cNvPr id="5" name="Footnote"/>
          <p:cNvSpPr txBox="1"/>
          <p:nvPr/>
        </p:nvSpPr>
        <p:spPr>
          <a:xfrm>
            <a:off x="621792" y="4023360"/>
            <a:ext cx="7863840" cy="457200"/>
          </a:xfrm>
          <a:prstGeom prst="rect">
            <a:avLst/>
          </a:prstGeom>
          <a:noFill/>
        </p:spPr>
        <p:txBody>
          <a:bodyPr wrap="square" lIns="0" rIns="0" tIns="0" bIns="0" anchor="t">
            <a:spAutoFit/>
          </a:bodyPr>
          <a:lstStyle/>
          <a:p>
            <a:pPr algn="l"/>
            <a:r>
              <a:rPr sz="1200" b="0" i="1">
                <a:solidFill>
                  <a:srgbClr val="3B3678"/>
                </a:solidFill>
                <a:latin typeface="Open Sans"/>
              </a:rPr>
              <a:t>External legal review (LTT &amp; Lawyers, Phase 2) runs on its own turnaround under either option.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About $440 in Cash</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One line has a figure. Everything else is no cash or waits for a quote.</a:t>
            </a:r>
          </a:p>
        </p:txBody>
      </p:sp>
      <p:sp>
        <p:nvSpPr>
          <p:cNvPr id="4" name="Stat card"/>
          <p:cNvSpPr/>
          <p:nvPr/>
        </p:nvSpPr>
        <p:spPr>
          <a:xfrm>
            <a:off x="621792" y="1371600"/>
            <a:ext cx="30175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00200"/>
            <a:ext cx="2651760" cy="731520"/>
          </a:xfrm>
          <a:prstGeom prst="rect">
            <a:avLst/>
          </a:prstGeom>
          <a:noFill/>
        </p:spPr>
        <p:txBody>
          <a:bodyPr wrap="square" lIns="0" rIns="0" tIns="0" bIns="0" anchor="t">
            <a:spAutoFit/>
          </a:bodyPr>
          <a:lstStyle/>
          <a:p>
            <a:pPr algn="l"/>
            <a:r>
              <a:rPr sz="4400" b="1" i="0">
                <a:solidFill>
                  <a:srgbClr val="FFFFFF"/>
                </a:solidFill>
                <a:latin typeface="Open Sans"/>
              </a:rPr>
              <a:t>$440</a:t>
            </a:r>
          </a:p>
        </p:txBody>
      </p:sp>
      <p:sp>
        <p:nvSpPr>
          <p:cNvPr id="6" name="Stat label"/>
          <p:cNvSpPr txBox="1"/>
          <p:nvPr/>
        </p:nvSpPr>
        <p:spPr>
          <a:xfrm>
            <a:off x="804672" y="2423160"/>
            <a:ext cx="2651760" cy="822960"/>
          </a:xfrm>
          <a:prstGeom prst="rect">
            <a:avLst/>
          </a:prstGeom>
          <a:noFill/>
        </p:spPr>
        <p:txBody>
          <a:bodyPr wrap="square" lIns="0" rIns="0" tIns="0" bIns="0" anchor="t">
            <a:spAutoFit/>
          </a:bodyPr>
          <a:lstStyle/>
          <a:p>
            <a:pPr algn="l"/>
            <a:r>
              <a:rPr sz="1200" b="0" i="0">
                <a:solidFill>
                  <a:srgbClr val="FFFFFF"/>
                </a:solidFill>
                <a:latin typeface="Open Sans"/>
              </a:rPr>
              <a:t>Estimated cash cost: AI tool, 4 months, including ~10% foreign contractor tax.</a:t>
            </a:r>
          </a:p>
        </p:txBody>
      </p:sp>
      <p:sp>
        <p:nvSpPr>
          <p:cNvPr id="7" name="Stat note"/>
          <p:cNvSpPr txBox="1"/>
          <p:nvPr/>
        </p:nvSpPr>
        <p:spPr>
          <a:xfrm>
            <a:off x="804672" y="3337560"/>
            <a:ext cx="2651760" cy="640080"/>
          </a:xfrm>
          <a:prstGeom prst="rect">
            <a:avLst/>
          </a:prstGeom>
          <a:noFill/>
        </p:spPr>
        <p:txBody>
          <a:bodyPr wrap="square" lIns="0" rIns="0" tIns="0" bIns="0" anchor="t">
            <a:spAutoFit/>
          </a:bodyPr>
          <a:lstStyle/>
          <a:p>
            <a:pPr algn="l"/>
            <a:r>
              <a:rPr sz="1200" b="0" i="1">
                <a:solidFill>
                  <a:srgbClr val="A6A2D5"/>
                </a:solidFill>
                <a:latin typeface="Open Sans"/>
              </a:rPr>
              <a:t>Could be $0 if shared with the invoice automation project subscription.</a:t>
            </a:r>
          </a:p>
        </p:txBody>
      </p:sp>
      <p:sp>
        <p:nvSpPr>
          <p:cNvPr id="8" name="Pill"/>
          <p:cNvSpPr/>
          <p:nvPr/>
        </p:nvSpPr>
        <p:spPr>
          <a:xfrm>
            <a:off x="3931920" y="1371600"/>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9" name="Item text"/>
          <p:cNvSpPr txBox="1"/>
          <p:nvPr/>
        </p:nvSpPr>
        <p:spPr>
          <a:xfrm>
            <a:off x="5303520" y="1371600"/>
            <a:ext cx="3200400" cy="329184"/>
          </a:xfrm>
          <a:prstGeom prst="rect">
            <a:avLst/>
          </a:prstGeom>
          <a:noFill/>
        </p:spPr>
        <p:txBody>
          <a:bodyPr wrap="square" lIns="0" rIns="0" tIns="0" bIns="0" anchor="ctr">
            <a:spAutoFit/>
          </a:bodyPr>
          <a:lstStyle/>
          <a:p>
            <a:pPr algn="l"/>
            <a:r>
              <a:rPr sz="1200" b="0" i="0">
                <a:solidFill>
                  <a:srgbClr val="3B3678"/>
                </a:solidFill>
                <a:latin typeface="Open Sans"/>
              </a:rPr>
              <a:t>Internal effort: 32.75 man-days</a:t>
            </a:r>
          </a:p>
        </p:txBody>
      </p:sp>
      <p:sp>
        <p:nvSpPr>
          <p:cNvPr id="10" name="Pill"/>
          <p:cNvSpPr/>
          <p:nvPr/>
        </p:nvSpPr>
        <p:spPr>
          <a:xfrm>
            <a:off x="3931920" y="1847088"/>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1" name="Item text"/>
          <p:cNvSpPr txBox="1"/>
          <p:nvPr/>
        </p:nvSpPr>
        <p:spPr>
          <a:xfrm>
            <a:off x="5303520" y="1847088"/>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Translation: drafted in-house</a:t>
            </a:r>
          </a:p>
        </p:txBody>
      </p:sp>
      <p:sp>
        <p:nvSpPr>
          <p:cNvPr id="12" name="Pill"/>
          <p:cNvSpPr/>
          <p:nvPr/>
        </p:nvSpPr>
        <p:spPr>
          <a:xfrm>
            <a:off x="3931920" y="2322576"/>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3" name="Item text"/>
          <p:cNvSpPr txBox="1"/>
          <p:nvPr/>
        </p:nvSpPr>
        <p:spPr>
          <a:xfrm>
            <a:off x="5303520" y="2322576"/>
            <a:ext cx="3200400" cy="329184"/>
          </a:xfrm>
          <a:prstGeom prst="rect">
            <a:avLst/>
          </a:prstGeom>
          <a:noFill/>
        </p:spPr>
        <p:txBody>
          <a:bodyPr wrap="square" lIns="0" rIns="0" tIns="0" bIns="0" anchor="ctr">
            <a:spAutoFit/>
          </a:bodyPr>
          <a:lstStyle/>
          <a:p>
            <a:pPr algn="l"/>
            <a:r>
              <a:rPr sz="1200" b="0" i="0">
                <a:solidFill>
                  <a:srgbClr val="3B3678"/>
                </a:solidFill>
                <a:latin typeface="Open Sans"/>
              </a:rPr>
              <a:t>PDPL training: by the DPO team</a:t>
            </a:r>
          </a:p>
        </p:txBody>
      </p:sp>
      <p:sp>
        <p:nvSpPr>
          <p:cNvPr id="14" name="Pill"/>
          <p:cNvSpPr/>
          <p:nvPr/>
        </p:nvSpPr>
        <p:spPr>
          <a:xfrm>
            <a:off x="3931920" y="2798064"/>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5" name="Item text"/>
          <p:cNvSpPr txBox="1"/>
          <p:nvPr/>
        </p:nvSpPr>
        <p:spPr>
          <a:xfrm>
            <a:off x="5303520" y="2798064"/>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Tooling: M365 already in use</a:t>
            </a:r>
          </a:p>
        </p:txBody>
      </p:sp>
      <p:sp>
        <p:nvSpPr>
          <p:cNvPr id="16" name="Pill"/>
          <p:cNvSpPr/>
          <p:nvPr/>
        </p:nvSpPr>
        <p:spPr>
          <a:xfrm>
            <a:off x="3931920" y="3273552"/>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Finance</a:t>
            </a:r>
          </a:p>
        </p:txBody>
      </p:sp>
      <p:sp>
        <p:nvSpPr>
          <p:cNvPr id="17" name="Item text"/>
          <p:cNvSpPr txBox="1"/>
          <p:nvPr/>
        </p:nvSpPr>
        <p:spPr>
          <a:xfrm>
            <a:off x="5303520" y="3273552"/>
            <a:ext cx="3200400" cy="329184"/>
          </a:xfrm>
          <a:prstGeom prst="rect">
            <a:avLst/>
          </a:prstGeom>
          <a:noFill/>
        </p:spPr>
        <p:txBody>
          <a:bodyPr wrap="square" lIns="0" rIns="0" tIns="0" bIns="0" anchor="ctr">
            <a:spAutoFit/>
          </a:bodyPr>
          <a:lstStyle/>
          <a:p>
            <a:pPr algn="l"/>
            <a:r>
              <a:rPr sz="1200" b="0" i="0">
                <a:solidFill>
                  <a:srgbClr val="3B3678"/>
                </a:solidFill>
                <a:latin typeface="Open Sans"/>
              </a:rPr>
              <a:t>AI tool: $400 + ~$40 tax</a:t>
            </a:r>
          </a:p>
        </p:txBody>
      </p:sp>
      <p:sp>
        <p:nvSpPr>
          <p:cNvPr id="18" name="Pill"/>
          <p:cNvSpPr/>
          <p:nvPr/>
        </p:nvSpPr>
        <p:spPr>
          <a:xfrm>
            <a:off x="3931920" y="3749039"/>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Needs quote</a:t>
            </a:r>
          </a:p>
        </p:txBody>
      </p:sp>
      <p:sp>
        <p:nvSpPr>
          <p:cNvPr id="19" name="Item text"/>
          <p:cNvSpPr txBox="1"/>
          <p:nvPr/>
        </p:nvSpPr>
        <p:spPr>
          <a:xfrm>
            <a:off x="5303520" y="3749039"/>
            <a:ext cx="3200400" cy="329184"/>
          </a:xfrm>
          <a:prstGeom prst="rect">
            <a:avLst/>
          </a:prstGeom>
          <a:noFill/>
        </p:spPr>
        <p:txBody>
          <a:bodyPr wrap="square" lIns="0" rIns="0" tIns="0" bIns="0" anchor="ctr">
            <a:spAutoFit/>
          </a:bodyPr>
          <a:lstStyle/>
          <a:p>
            <a:pPr algn="l"/>
            <a:r>
              <a:rPr sz="1200" b="0" i="0">
                <a:solidFill>
                  <a:srgbClr val="3B3678"/>
                </a:solidFill>
                <a:latin typeface="Open Sans"/>
              </a:rPr>
              <a:t>External legal review (LTT)</a:t>
            </a:r>
          </a:p>
        </p:txBody>
      </p:sp>
      <p:sp>
        <p:nvSpPr>
          <p:cNvPr id="20" name="Footnote"/>
          <p:cNvSpPr txBox="1"/>
          <p:nvPr/>
        </p:nvSpPr>
        <p:spPr>
          <a:xfrm>
            <a:off x="621792" y="4370832"/>
            <a:ext cx="7863840" cy="274320"/>
          </a:xfrm>
          <a:prstGeom prst="rect">
            <a:avLst/>
          </a:prstGeom>
          <a:noFill/>
        </p:spPr>
        <p:txBody>
          <a:bodyPr wrap="square" lIns="0" rIns="0" tIns="0" bIns="0" anchor="t">
            <a:spAutoFit/>
          </a:bodyPr>
          <a:lstStyle/>
          <a:p>
            <a:pPr algn="l"/>
            <a:r>
              <a:rPr sz="1200" b="0" i="1">
                <a:solidFill>
                  <a:srgbClr val="3B3678"/>
                </a:solidFill>
                <a:latin typeface="Open Sans"/>
              </a:rPr>
              <a:t>Finance (Man Thi Loc) confirms the tax treatment before the figure is 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Effort: 32.75 Man-Days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Man-days by phase and department. No cash outlay.</a:t>
            </a:r>
          </a:p>
        </p:txBody>
      </p:sp>
      <p:graphicFrame>
        <p:nvGraphicFramePr>
          <p:cNvPr id="4" name="Effort chart"/>
          <p:cNvGraphicFramePr>
            <a:graphicFrameLocks noGrp="1"/>
          </p:cNvGraphicFramePr>
          <p:nvPr/>
        </p:nvGraphicFramePr>
        <p:xfrm>
          <a:off x="621792" y="1280160"/>
          <a:ext cx="4937760" cy="3200400"/>
        </p:xfrm>
        <a:graphic>
          <a:graphicData uri="http://schemas.openxmlformats.org/drawingml/2006/chart">
            <c:chart xmlns:c="http://schemas.openxmlformats.org/drawingml/2006/chart" r:id="rId3"/>
          </a:graphicData>
        </a:graphic>
      </p:graphicFrame>
      <p:sp>
        <p:nvSpPr>
          <p:cNvPr id="5" name="Stat value"/>
          <p:cNvSpPr txBox="1"/>
          <p:nvPr/>
        </p:nvSpPr>
        <p:spPr>
          <a:xfrm>
            <a:off x="5897880" y="1371600"/>
            <a:ext cx="2606040" cy="731520"/>
          </a:xfrm>
          <a:prstGeom prst="rect">
            <a:avLst/>
          </a:prstGeom>
          <a:noFill/>
        </p:spPr>
        <p:txBody>
          <a:bodyPr wrap="square" lIns="0" rIns="0" tIns="0" bIns="0" anchor="t">
            <a:spAutoFit/>
          </a:bodyPr>
          <a:lstStyle/>
          <a:p>
            <a:pPr algn="l"/>
            <a:r>
              <a:rPr sz="4000" b="1" i="0">
                <a:solidFill>
                  <a:srgbClr val="3FB1A0"/>
                </a:solidFill>
                <a:latin typeface="Open Sans"/>
              </a:rPr>
              <a:t>32.75</a:t>
            </a:r>
          </a:p>
        </p:txBody>
      </p:sp>
      <p:sp>
        <p:nvSpPr>
          <p:cNvPr id="6" name="Stat label"/>
          <p:cNvSpPr txBox="1"/>
          <p:nvPr/>
        </p:nvSpPr>
        <p:spPr>
          <a:xfrm>
            <a:off x="5897880" y="2103120"/>
            <a:ext cx="2606040" cy="274320"/>
          </a:xfrm>
          <a:prstGeom prst="rect">
            <a:avLst/>
          </a:prstGeom>
          <a:noFill/>
        </p:spPr>
        <p:txBody>
          <a:bodyPr wrap="square" lIns="0" rIns="0" tIns="0" bIns="0" anchor="t">
            <a:spAutoFit/>
          </a:bodyPr>
          <a:lstStyle/>
          <a:p>
            <a:pPr algn="l"/>
            <a:r>
              <a:rPr sz="1200" b="0" i="0">
                <a:solidFill>
                  <a:srgbClr val="3B3678"/>
                </a:solidFill>
                <a:latin typeface="Open Sans"/>
              </a:rPr>
              <a:t>man-days across 4 phases</a:t>
            </a:r>
          </a:p>
        </p:txBody>
      </p:sp>
      <p:sp>
        <p:nvSpPr>
          <p:cNvPr id="7" name="Callouts"/>
          <p:cNvSpPr txBox="1"/>
          <p:nvPr/>
        </p:nvSpPr>
        <p:spPr>
          <a:xfrm>
            <a:off x="5897880" y="2606040"/>
            <a:ext cx="2606040" cy="1828800"/>
          </a:xfrm>
          <a:prstGeom prst="rect">
            <a:avLst/>
          </a:prstGeom>
          <a:noFill/>
        </p:spPr>
        <p:txBody>
          <a:bodyPr wrap="square" lIns="0" rIns="0" tIns="0" bIns="0" anchor="t">
            <a:spAutoFit/>
          </a:bodyPr>
          <a:lstStyle/>
          <a:p>
            <a:pPr algn="l" marL="228600" indent="-228600">
              <a:spcAft>
                <a:spcPts val="800"/>
              </a:spcAft>
              <a:buFont typeface="Arial"/>
              <a:buChar char="•"/>
            </a:pPr>
            <a:r>
              <a:rPr sz="1200" b="0" i="0">
                <a:solidFill>
                  <a:srgbClr val="3B3678"/>
                </a:solidFill>
                <a:latin typeface="Open Sans"/>
              </a:rPr>
              <a:t>DPO Team carries 21 of 32.75.</a:t>
            </a:r>
          </a:p>
          <a:p>
            <a:pPr algn="l" marL="228600" indent="-228600">
              <a:spcAft>
                <a:spcPts val="800"/>
              </a:spcAft>
              <a:buFont typeface="Arial"/>
              <a:buChar char="•"/>
            </a:pPr>
            <a:r>
              <a:rPr sz="1200" b="0" i="0">
                <a:solidFill>
                  <a:srgbClr val="3B3678"/>
                </a:solidFill>
                <a:latin typeface="Open Sans"/>
              </a:rPr>
              <a:t>Peak load: Phase 1 and Phase 3, 10.5 each.</a:t>
            </a:r>
          </a:p>
          <a:p>
            <a:pPr algn="l" marL="228600" indent="-228600">
              <a:spcAft>
                <a:spcPts val="800"/>
              </a:spcAft>
              <a:buFont typeface="Arial"/>
              <a:buChar char="•"/>
            </a:pPr>
            <a:r>
              <a:rPr sz="1200" b="0" i="0">
                <a:solidFill>
                  <a:srgbClr val="3B3678"/>
                </a:solidFill>
                <a:latin typeface="Open Sans"/>
              </a:rPr>
              <a:t>Two staff hold DPO and IT roles: about 14.5 man-days 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We Are Managing</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Each risk has one owner action.</a:t>
            </a:r>
          </a:p>
        </p:txBody>
      </p:sp>
      <p:sp>
        <p:nvSpPr>
          <p:cNvPr id="4" name="Column header"/>
          <p:cNvSpPr txBox="1"/>
          <p:nvPr/>
        </p:nvSpPr>
        <p:spPr>
          <a:xfrm>
            <a:off x="62179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Legal turnaround</a:t>
            </a:r>
          </a:p>
        </p:txBody>
      </p:sp>
      <p:sp>
        <p:nvSpPr>
          <p:cNvPr id="5" name="Column body"/>
          <p:cNvSpPr txBox="1"/>
          <p:nvPr/>
        </p:nvSpPr>
        <p:spPr>
          <a:xfrm>
            <a:off x="62179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Items 15 and 17 depend on outside counsel (LTT &amp; Lawyers)</a:t>
            </a:r>
          </a:p>
          <a:p>
            <a:pPr algn="l" marL="228600" indent="-228600">
              <a:spcAft>
                <a:spcPts val="1000"/>
              </a:spcAft>
              <a:buFont typeface="Arial"/>
              <a:buChar char="•"/>
            </a:pPr>
            <a:r>
              <a:rPr sz="1300" b="0" i="0">
                <a:solidFill>
                  <a:srgbClr val="3B3678"/>
                </a:solidFill>
                <a:latin typeface="Open Sans"/>
              </a:rPr>
              <a:t>Existing legal agreement does not cover this work</a:t>
            </a:r>
          </a:p>
          <a:p>
            <a:pPr algn="l" marL="228600" indent="-228600">
              <a:spcAft>
                <a:spcPts val="1000"/>
              </a:spcAft>
              <a:buFont typeface="Arial"/>
              <a:buChar char="•"/>
            </a:pPr>
            <a:r>
              <a:rPr sz="1300" b="1" i="0">
                <a:solidFill>
                  <a:srgbClr val="3B3678"/>
                </a:solidFill>
                <a:latin typeface="Open Sans"/>
              </a:rPr>
              <a:t>Needed: a new quote</a:t>
            </a:r>
          </a:p>
        </p:txBody>
      </p:sp>
      <p:cxnSp>
        <p:nvCxnSpPr>
          <p:cNvPr id="6" name="Connector 5"/>
          <p:cNvCxnSpPr/>
          <p:nvPr/>
        </p:nvCxnSpPr>
        <p:spPr>
          <a:xfrm>
            <a:off x="313639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7" name="Column header"/>
          <p:cNvSpPr txBox="1"/>
          <p:nvPr/>
        </p:nvSpPr>
        <p:spPr>
          <a:xfrm>
            <a:off x="331927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People</a:t>
            </a:r>
          </a:p>
        </p:txBody>
      </p:sp>
      <p:sp>
        <p:nvSpPr>
          <p:cNvPr id="8" name="Column body"/>
          <p:cNvSpPr txBox="1"/>
          <p:nvPr/>
        </p:nvSpPr>
        <p:spPr>
          <a:xfrm>
            <a:off x="331927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Two staff hold both DPO and IT roles: about 14.5 man-days each</a:t>
            </a:r>
          </a:p>
          <a:p>
            <a:pPr algn="l" marL="228600" indent="-228600">
              <a:spcAft>
                <a:spcPts val="1000"/>
              </a:spcAft>
              <a:buFont typeface="Arial"/>
              <a:buChar char="•"/>
            </a:pPr>
            <a:r>
              <a:rPr sz="1300" b="0" i="0">
                <a:solidFill>
                  <a:srgbClr val="3B3678"/>
                </a:solidFill>
                <a:latin typeface="Open Sans"/>
              </a:rPr>
              <a:t>Some task owners still need GM confirmation</a:t>
            </a:r>
          </a:p>
          <a:p>
            <a:pPr algn="l" marL="228600" indent="-228600">
              <a:spcAft>
                <a:spcPts val="1000"/>
              </a:spcAft>
              <a:buFont typeface="Arial"/>
              <a:buChar char="•"/>
            </a:pPr>
            <a:r>
              <a:rPr sz="1300" b="1" i="0">
                <a:solidFill>
                  <a:srgbClr val="3B3678"/>
                </a:solidFill>
                <a:latin typeface="Open Sans"/>
              </a:rPr>
              <a:t>Needed: GM confirms owners</a:t>
            </a:r>
          </a:p>
        </p:txBody>
      </p:sp>
      <p:cxnSp>
        <p:nvCxnSpPr>
          <p:cNvPr id="9" name="Connector 8"/>
          <p:cNvCxnSpPr/>
          <p:nvPr/>
        </p:nvCxnSpPr>
        <p:spPr>
          <a:xfrm>
            <a:off x="583387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0" name="Column header"/>
          <p:cNvSpPr txBox="1"/>
          <p:nvPr/>
        </p:nvSpPr>
        <p:spPr>
          <a:xfrm>
            <a:off x="601675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Cost</a:t>
            </a:r>
          </a:p>
        </p:txBody>
      </p:sp>
      <p:sp>
        <p:nvSpPr>
          <p:cNvPr id="11" name="Column body"/>
          <p:cNvSpPr txBox="1"/>
          <p:nvPr/>
        </p:nvSpPr>
        <p:spPr>
          <a:xfrm>
            <a:off x="601675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AI tool may be shared with the invoice automation project</a:t>
            </a:r>
          </a:p>
          <a:p>
            <a:pPr algn="l" marL="228600" indent="-228600">
              <a:spcAft>
                <a:spcPts val="1000"/>
              </a:spcAft>
              <a:buFont typeface="Arial"/>
              <a:buChar char="•"/>
            </a:pPr>
            <a:r>
              <a:rPr sz="1300" b="0" i="0">
                <a:solidFill>
                  <a:srgbClr val="3B3678"/>
                </a:solidFill>
                <a:latin typeface="Open Sans"/>
              </a:rPr>
              <a:t>Tax treatment is a planning assumption</a:t>
            </a:r>
          </a:p>
          <a:p>
            <a:pPr algn="l" marL="228600" indent="-228600">
              <a:spcAft>
                <a:spcPts val="1000"/>
              </a:spcAft>
              <a:buFont typeface="Arial"/>
              <a:buChar char="•"/>
            </a:pPr>
            <a:r>
              <a:rPr sz="1300" b="1" i="0">
                <a:solidFill>
                  <a:srgbClr val="3B3678"/>
                </a:solidFill>
                <a:latin typeface="Open Sans"/>
              </a:rPr>
              <a:t>Needed: Finance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Contracts: When a DPA Applies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Scope: every client contract SGH Asia sells, where it acts as Data Processor (Law 91/2025/QH15).</a:t>
            </a:r>
          </a:p>
        </p:txBody>
      </p:sp>
      <p:sp>
        <p:nvSpPr>
          <p:cNvPr id="4" name="Card"/>
          <p:cNvSpPr/>
          <p:nvPr/>
        </p:nvSpPr>
        <p:spPr>
          <a:xfrm>
            <a:off x="621792" y="1371600"/>
            <a:ext cx="3703320" cy="1280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Pill"/>
          <p:cNvSpPr/>
          <p:nvPr/>
        </p:nvSpPr>
        <p:spPr>
          <a:xfrm>
            <a:off x="804672" y="1536192"/>
            <a:ext cx="114300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DPA</a:t>
            </a:r>
          </a:p>
        </p:txBody>
      </p:sp>
      <p:sp>
        <p:nvSpPr>
          <p:cNvPr id="6" name="Card title"/>
          <p:cNvSpPr txBox="1"/>
          <p:nvPr/>
        </p:nvSpPr>
        <p:spPr>
          <a:xfrm>
            <a:off x="2029968" y="153619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Signatory &amp; team names</a:t>
            </a:r>
          </a:p>
        </p:txBody>
      </p:sp>
      <p:sp>
        <p:nvSpPr>
          <p:cNvPr id="7" name="Card body"/>
          <p:cNvSpPr txBox="1"/>
          <p:nvPr/>
        </p:nvSpPr>
        <p:spPr>
          <a:xfrm>
            <a:off x="804672" y="1938528"/>
            <a:ext cx="3337560" cy="640080"/>
          </a:xfrm>
          <a:prstGeom prst="rect">
            <a:avLst/>
          </a:prstGeom>
          <a:noFill/>
        </p:spPr>
        <p:txBody>
          <a:bodyPr wrap="square" lIns="0" rIns="0" tIns="0" bIns="0" anchor="t">
            <a:spAutoFit/>
          </a:bodyPr>
          <a:lstStyle/>
          <a:p>
            <a:pPr algn="l"/>
            <a:r>
              <a:rPr sz="1100" b="0" i="0">
                <a:solidFill>
                  <a:srgbClr val="3B3678"/>
                </a:solidFill>
                <a:latin typeface="Open Sans"/>
              </a:rPr>
              <a:t>Name, title, signature, email, phone: personal data, but used only to form the contract. </a:t>
            </a:r>
            <a:r>
              <a:rPr sz="1100" b="1" i="0">
                <a:solidFill>
                  <a:srgbClr val="3B3678"/>
                </a:solidFill>
                <a:latin typeface="Open Sans"/>
              </a:rPr>
              <a:t>Art. 19.1(d): no consent; Art. 37 not triggered.</a:t>
            </a:r>
          </a:p>
        </p:txBody>
      </p:sp>
      <p:sp>
        <p:nvSpPr>
          <p:cNvPr id="8" name="Card"/>
          <p:cNvSpPr/>
          <p:nvPr/>
        </p:nvSpPr>
        <p:spPr>
          <a:xfrm>
            <a:off x="621792" y="2788920"/>
            <a:ext cx="3703320" cy="13258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9" name="Pill"/>
          <p:cNvSpPr/>
          <p:nvPr/>
        </p:nvSpPr>
        <p:spPr>
          <a:xfrm>
            <a:off x="804672" y="2953512"/>
            <a:ext cx="114300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DPA required</a:t>
            </a:r>
          </a:p>
        </p:txBody>
      </p:sp>
      <p:sp>
        <p:nvSpPr>
          <p:cNvPr id="10" name="Card title"/>
          <p:cNvSpPr txBox="1"/>
          <p:nvPr/>
        </p:nvSpPr>
        <p:spPr>
          <a:xfrm>
            <a:off x="2029968" y="295351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Data in client systems</a:t>
            </a:r>
          </a:p>
        </p:txBody>
      </p:sp>
      <p:sp>
        <p:nvSpPr>
          <p:cNvPr id="11" name="Card body"/>
          <p:cNvSpPr txBox="1"/>
          <p:nvPr/>
        </p:nvSpPr>
        <p:spPr>
          <a:xfrm>
            <a:off x="804672" y="3355848"/>
            <a:ext cx="3337560" cy="685800"/>
          </a:xfrm>
          <a:prstGeom prst="rect">
            <a:avLst/>
          </a:prstGeom>
          <a:noFill/>
        </p:spPr>
        <p:txBody>
          <a:bodyPr wrap="square" lIns="0" rIns="0" tIns="0" bIns="0" anchor="t">
            <a:spAutoFit/>
          </a:bodyPr>
          <a:lstStyle/>
          <a:p>
            <a:pPr algn="l"/>
            <a:r>
              <a:rPr sz="1100" b="0" i="0">
                <a:solidFill>
                  <a:srgbClr val="3B3678"/>
                </a:solidFill>
                <a:latin typeface="Open Sans"/>
              </a:rPr>
              <a:t>SGH Asia sees client data while delivering (HR, payroll, customers in Odoo). Agreement needed before access. </a:t>
            </a:r>
            <a:r>
              <a:rPr sz="1100" b="1" i="0">
                <a:solidFill>
                  <a:srgbClr val="3B3678"/>
                </a:solidFill>
                <a:latin typeface="Open Sans"/>
              </a:rPr>
              <a:t>Art. 2.8, 37.2(a).</a:t>
            </a:r>
          </a:p>
        </p:txBody>
      </p:sp>
      <p:sp>
        <p:nvSpPr>
          <p:cNvPr id="12" name="Checklist header"/>
          <p:cNvSpPr txBox="1"/>
          <p:nvPr/>
        </p:nvSpPr>
        <p:spPr>
          <a:xfrm>
            <a:off x="4572000" y="1371600"/>
            <a:ext cx="3931920" cy="274320"/>
          </a:xfrm>
          <a:prstGeom prst="rect">
            <a:avLst/>
          </a:prstGeom>
          <a:noFill/>
        </p:spPr>
        <p:txBody>
          <a:bodyPr wrap="square" lIns="0" rIns="0" tIns="0" bIns="0" anchor="t">
            <a:spAutoFit/>
          </a:bodyPr>
          <a:lstStyle/>
          <a:p>
            <a:pPr algn="l"/>
            <a:r>
              <a:rPr sz="1400" b="1" i="0">
                <a:solidFill>
                  <a:srgbClr val="3B3678"/>
                </a:solidFill>
                <a:latin typeface="Open Sans"/>
              </a:rPr>
              <a:t>DPA minimum content</a:t>
            </a:r>
          </a:p>
        </p:txBody>
      </p:sp>
      <p:sp>
        <p:nvSpPr>
          <p:cNvPr id="13" name="Checklist source"/>
          <p:cNvSpPr txBox="1"/>
          <p:nvPr/>
        </p:nvSpPr>
        <p:spPr>
          <a:xfrm>
            <a:off x="4572000" y="1645920"/>
            <a:ext cx="3931920" cy="201168"/>
          </a:xfrm>
          <a:prstGeom prst="rect">
            <a:avLst/>
          </a:prstGeom>
          <a:noFill/>
        </p:spPr>
        <p:txBody>
          <a:bodyPr wrap="square" lIns="0" rIns="0" tIns="0" bIns="0" anchor="t">
            <a:spAutoFit/>
          </a:bodyPr>
          <a:lstStyle/>
          <a:p>
            <a:pPr algn="l"/>
            <a:r>
              <a:rPr sz="1000" b="0" i="1">
                <a:solidFill>
                  <a:srgbClr val="3B3678"/>
                </a:solidFill>
                <a:latin typeface="Open Sans"/>
              </a:rPr>
              <a:t>Decree 356/2025/ND-CP, Art. 7</a:t>
            </a:r>
          </a:p>
        </p:txBody>
      </p:sp>
      <p:sp>
        <p:nvSpPr>
          <p:cNvPr id="14" name="Item mark"/>
          <p:cNvSpPr/>
          <p:nvPr/>
        </p:nvSpPr>
        <p:spPr>
          <a:xfrm>
            <a:off x="4572000" y="19385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1</a:t>
            </a:r>
          </a:p>
        </p:txBody>
      </p:sp>
      <p:sp>
        <p:nvSpPr>
          <p:cNvPr id="15" name="Item text"/>
          <p:cNvSpPr txBox="1"/>
          <p:nvPr/>
        </p:nvSpPr>
        <p:spPr>
          <a:xfrm>
            <a:off x="4937760" y="19385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Purpose of access</a:t>
            </a:r>
          </a:p>
        </p:txBody>
      </p:sp>
      <p:sp>
        <p:nvSpPr>
          <p:cNvPr id="16" name="Item mark"/>
          <p:cNvSpPr/>
          <p:nvPr/>
        </p:nvSpPr>
        <p:spPr>
          <a:xfrm>
            <a:off x="4572000" y="22585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2</a:t>
            </a:r>
          </a:p>
        </p:txBody>
      </p:sp>
      <p:sp>
        <p:nvSpPr>
          <p:cNvPr id="17" name="Item text"/>
          <p:cNvSpPr txBox="1"/>
          <p:nvPr/>
        </p:nvSpPr>
        <p:spPr>
          <a:xfrm>
            <a:off x="4937760" y="22585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types and data subjects</a:t>
            </a:r>
          </a:p>
        </p:txBody>
      </p:sp>
      <p:sp>
        <p:nvSpPr>
          <p:cNvPr id="18" name="Item mark"/>
          <p:cNvSpPr/>
          <p:nvPr/>
        </p:nvSpPr>
        <p:spPr>
          <a:xfrm>
            <a:off x="4572000" y="257860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3</a:t>
            </a:r>
          </a:p>
        </p:txBody>
      </p:sp>
      <p:sp>
        <p:nvSpPr>
          <p:cNvPr id="19" name="Item text"/>
          <p:cNvSpPr txBox="1"/>
          <p:nvPr/>
        </p:nvSpPr>
        <p:spPr>
          <a:xfrm>
            <a:off x="4937760" y="257860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Processing period; delete after project</a:t>
            </a:r>
          </a:p>
        </p:txBody>
      </p:sp>
      <p:sp>
        <p:nvSpPr>
          <p:cNvPr id="20" name="Item mark"/>
          <p:cNvSpPr/>
          <p:nvPr/>
        </p:nvSpPr>
        <p:spPr>
          <a:xfrm>
            <a:off x="4572000" y="289864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4</a:t>
            </a:r>
          </a:p>
        </p:txBody>
      </p:sp>
      <p:sp>
        <p:nvSpPr>
          <p:cNvPr id="21" name="Item text"/>
          <p:cNvSpPr txBox="1"/>
          <p:nvPr/>
        </p:nvSpPr>
        <p:spPr>
          <a:xfrm>
            <a:off x="4937760" y="289864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Legal basis</a:t>
            </a:r>
          </a:p>
        </p:txBody>
      </p:sp>
      <p:sp>
        <p:nvSpPr>
          <p:cNvPr id="22" name="Item mark"/>
          <p:cNvSpPr/>
          <p:nvPr/>
        </p:nvSpPr>
        <p:spPr>
          <a:xfrm>
            <a:off x="4572000" y="321868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5</a:t>
            </a:r>
          </a:p>
        </p:txBody>
      </p:sp>
      <p:sp>
        <p:nvSpPr>
          <p:cNvPr id="23" name="Item text"/>
          <p:cNvSpPr txBox="1"/>
          <p:nvPr/>
        </p:nvSpPr>
        <p:spPr>
          <a:xfrm>
            <a:off x="4937760" y="321868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protection duties</a:t>
            </a:r>
          </a:p>
        </p:txBody>
      </p:sp>
      <p:sp>
        <p:nvSpPr>
          <p:cNvPr id="24" name="Item mark"/>
          <p:cNvSpPr/>
          <p:nvPr/>
        </p:nvSpPr>
        <p:spPr>
          <a:xfrm>
            <a:off x="4572000" y="35387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6</a:t>
            </a:r>
          </a:p>
        </p:txBody>
      </p:sp>
      <p:sp>
        <p:nvSpPr>
          <p:cNvPr id="25" name="Item text"/>
          <p:cNvSpPr txBox="1"/>
          <p:nvPr/>
        </p:nvSpPr>
        <p:spPr>
          <a:xfrm>
            <a:off x="4937760" y="35387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subject rights handling</a:t>
            </a:r>
          </a:p>
        </p:txBody>
      </p:sp>
      <p:sp>
        <p:nvSpPr>
          <p:cNvPr id="26" name="Item mark"/>
          <p:cNvSpPr/>
          <p:nvPr/>
        </p:nvSpPr>
        <p:spPr>
          <a:xfrm>
            <a:off x="4572000" y="38587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7</a:t>
            </a:r>
          </a:p>
        </p:txBody>
      </p:sp>
      <p:sp>
        <p:nvSpPr>
          <p:cNvPr id="27" name="Item text"/>
          <p:cNvSpPr txBox="1"/>
          <p:nvPr/>
        </p:nvSpPr>
        <p:spPr>
          <a:xfrm>
            <a:off x="4937760" y="38587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Breach cooperation (72 h, Art. 23)</a:t>
            </a:r>
          </a:p>
        </p:txBody>
      </p:sp>
      <p:sp>
        <p:nvSpPr>
          <p:cNvPr id="28" name="Needs header"/>
          <p:cNvSpPr txBox="1"/>
          <p:nvPr/>
        </p:nvSpPr>
        <p:spPr>
          <a:xfrm>
            <a:off x="621792" y="4315968"/>
            <a:ext cx="1645920" cy="365760"/>
          </a:xfrm>
          <a:prstGeom prst="rect">
            <a:avLst/>
          </a:prstGeom>
          <a:noFill/>
        </p:spPr>
        <p:txBody>
          <a:bodyPr wrap="square" lIns="0" rIns="0" tIns="0" bIns="0" anchor="ctr">
            <a:spAutoFit/>
          </a:bodyPr>
          <a:lstStyle/>
          <a:p>
            <a:pPr algn="l"/>
            <a:r>
              <a:rPr sz="1300" b="1" i="0">
                <a:solidFill>
                  <a:srgbClr val="3B3678"/>
                </a:solidFill>
                <a:latin typeface="Open Sans"/>
              </a:rPr>
              <a:t>Next steps</a:t>
            </a:r>
          </a:p>
        </p:txBody>
      </p:sp>
      <p:sp>
        <p:nvSpPr>
          <p:cNvPr id="29" name="Need mark"/>
          <p:cNvSpPr/>
          <p:nvPr/>
        </p:nvSpPr>
        <p:spPr>
          <a:xfrm>
            <a:off x="233172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1</a:t>
            </a:r>
          </a:p>
        </p:txBody>
      </p:sp>
      <p:sp>
        <p:nvSpPr>
          <p:cNvPr id="30" name="Need text"/>
          <p:cNvSpPr txBox="1"/>
          <p:nvPr/>
        </p:nvSpPr>
        <p:spPr>
          <a:xfrm>
            <a:off x="2697479"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Odoo contract template</a:t>
            </a:r>
          </a:p>
        </p:txBody>
      </p:sp>
      <p:sp>
        <p:nvSpPr>
          <p:cNvPr id="31" name="Need mark"/>
          <p:cNvSpPr/>
          <p:nvPr/>
        </p:nvSpPr>
        <p:spPr>
          <a:xfrm>
            <a:off x="443484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2</a:t>
            </a:r>
          </a:p>
        </p:txBody>
      </p:sp>
      <p:sp>
        <p:nvSpPr>
          <p:cNvPr id="32" name="Need text"/>
          <p:cNvSpPr txBox="1"/>
          <p:nvPr/>
        </p:nvSpPr>
        <p:spPr>
          <a:xfrm>
            <a:off x="480060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ISO / AI advisory template</a:t>
            </a:r>
          </a:p>
        </p:txBody>
      </p:sp>
      <p:sp>
        <p:nvSpPr>
          <p:cNvPr id="33" name="Need mark"/>
          <p:cNvSpPr/>
          <p:nvPr/>
        </p:nvSpPr>
        <p:spPr>
          <a:xfrm>
            <a:off x="6537959"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3</a:t>
            </a:r>
          </a:p>
        </p:txBody>
      </p:sp>
      <p:sp>
        <p:nvSpPr>
          <p:cNvPr id="34" name="Need text"/>
          <p:cNvSpPr txBox="1"/>
          <p:nvPr/>
        </p:nvSpPr>
        <p:spPr>
          <a:xfrm>
            <a:off x="690372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Confirm live or test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PDPL COMPLIANCE PROJECT</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Thank you</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Questions and discussion</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theme/theme1.xml><?xml version="1.0" encoding="utf-8"?>
<a:theme xmlns:a="http://schemas.openxmlformats.org/drawingml/2006/main" name="Office-Design [1785474042749]">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Design">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Design">
  <a:themeElements>
    <a:clrScheme name="Office-Design">
      <a:dk1>
        <a:srgbClr val="000000"/>
      </a:dk1>
      <a:lt1>
        <a:srgbClr val="FFFFFF"/>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4D64FE-7E0F-4DA4-BE29-48850A53A6A5}">
  <we:reference id="WA200010001" version="1.0.0.1" store="Omex" storeType="OMEX"/>
  <we:alternateReferences>
    <we:reference id="WA200010001" version="1.0.0.1" store="WA200010001" storeType="OMEX"/>
  </we:alternateReferences>
  <we:properties>
    <we:property name="claude.fileId" value="&quot;ee4aa688-273b-47ea-8fa0-72448550ebf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63139cc-e737-45a1-a6fa-7f795a019ca8" xsi:nil="true"/>
    <PersonorGroup xmlns="9c04146f-2111-426b-898f-cd95fe9ba01a">
      <UserInfo>
        <DisplayName/>
        <AccountId xsi:nil="true"/>
        <AccountType/>
      </UserInfo>
    </PersonorGroup>
    <lcf76f155ced4ddcb4097134ff3c332f xmlns="9c04146f-2111-426b-898f-cd95fe9ba01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ài liệu" ma:contentTypeID="0x0101007BBE3561B3C54741B60DE2B33D507E08" ma:contentTypeVersion="19" ma:contentTypeDescription="Tạo tài liệu mới." ma:contentTypeScope="" ma:versionID="795a078cf0f620a2a16b285326b79686">
  <xsd:schema xmlns:xsd="http://www.w3.org/2001/XMLSchema" xmlns:xs="http://www.w3.org/2001/XMLSchema" xmlns:p="http://schemas.microsoft.com/office/2006/metadata/properties" xmlns:ns2="663139cc-e737-45a1-a6fa-7f795a019ca8" xmlns:ns3="9c04146f-2111-426b-898f-cd95fe9ba01a" targetNamespace="http://schemas.microsoft.com/office/2006/metadata/properties" ma:root="true" ma:fieldsID="59601f184b926582e016404db0e52049" ns2:_="" ns3:_="">
    <xsd:import namespace="663139cc-e737-45a1-a6fa-7f795a019ca8"/>
    <xsd:import namespace="9c04146f-2111-426b-898f-cd95fe9ba01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3:PersonorGroup"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3139cc-e737-45a1-a6fa-7f795a019ca8" elementFormDefault="qualified">
    <xsd:import namespace="http://schemas.microsoft.com/office/2006/documentManagement/types"/>
    <xsd:import namespace="http://schemas.microsoft.com/office/infopath/2007/PartnerControls"/>
    <xsd:element name="SharedWithUsers" ma:index="8" nillable="true" ma:displayName="Chia sẻ Với"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hia sẻ Có Chi tiết" ma:internalName="SharedWithDetails" ma:readOnly="true">
      <xsd:simpleType>
        <xsd:restriction base="dms:Note">
          <xsd:maxLength value="255"/>
        </xsd:restriction>
      </xsd:simpleType>
    </xsd:element>
    <xsd:element name="TaxCatchAll" ma:index="24" nillable="true" ma:displayName="Taxonomy Catch All Column" ma:hidden="true" ma:list="{5c7e9638-eed0-482f-9330-13bba9644b76}" ma:internalName="TaxCatchAll" ma:showField="CatchAllData" ma:web="663139cc-e737-45a1-a6fa-7f795a019ca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c04146f-2111-426b-898f-cd95fe9ba01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ersonorGroup" ma:index="20" nillable="true" ma:displayName="Person or Group" ma:format="Dropdown" ma:list="UserInfo" ma:SharePointGroup="0" ma:internalName="PersonorGroup">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Thẻ Hình ảnh" ma:readOnly="false" ma:fieldId="{5cf76f15-5ced-4ddc-b409-7134ff3c332f}" ma:taxonomyMulti="true" ma:sspId="e021e5a0-84a4-4b81-bf0e-ab9933ea469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Loại Nội dung"/>
        <xsd:element ref="dc:title" minOccurs="0" maxOccurs="1" ma:index="4" ma:displayName="Tiêu đề"/>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13963-8E69-49D5-A9F6-179FAAC0DEC5}">
  <ds:schemaRefs>
    <ds:schemaRef ds:uri="663139cc-e737-45a1-a6fa-7f795a019ca8"/>
    <ds:schemaRef ds:uri="9c04146f-2111-426b-898f-cd95fe9ba0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F7108-AC4E-43E5-85F3-8FDCD959D4CD}">
  <ds:schemaRefs>
    <ds:schemaRef ds:uri="http://schemas.microsoft.com/sharepoint/v3/contenttype/forms"/>
  </ds:schemaRefs>
</ds:datastoreItem>
</file>

<file path=customXml/itemProps3.xml><?xml version="1.0" encoding="utf-8"?>
<ds:datastoreItem xmlns:ds="http://schemas.openxmlformats.org/officeDocument/2006/customXml" ds:itemID="{742DC39A-247C-40C3-AF46-76B4784CFA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63139cc-e737-45a1-a6fa-7f795a019ca8"/>
    <ds:schemaRef ds:uri="9c04146f-2111-426b-898f-cd95fe9ba0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1451</TotalTime>
  <Words>839</Words>
  <Application>Microsoft Office PowerPoint</Application>
  <PresentationFormat>On-screen Show (16:9)</PresentationFormat>
  <Paragraphs>130</Paragraphs>
  <Slides>14</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14</vt:i4>
      </vt:variant>
    </vt:vector>
  </HeadingPairs>
  <TitlesOfParts>
    <vt:vector size="23" baseType="lpstr">
      <vt:lpstr>Arial</vt:lpstr>
      <vt:lpstr>Calibri</vt:lpstr>
      <vt:lpstr>Century Gothic</vt:lpstr>
      <vt:lpstr>CooperHewitt-Light</vt:lpstr>
      <vt:lpstr>Montserrat Thin Regular</vt:lpstr>
      <vt:lpstr>Open Sans</vt:lpstr>
      <vt:lpstr>PT Sans</vt:lpstr>
      <vt:lpstr>Office-Design [1785474042749]</vt:lpstr>
      <vt:lpstr>Office-Design</vt:lpstr>
      <vt:lpstr>PowerPoint Presentation</vt:lpstr>
      <vt:lpstr>PowerPoint Presentation</vt:lpstr>
      <vt:lpstr>PowerPoint Presentation</vt:lpstr>
      <vt:lpstr>How It Came to Be</vt:lpstr>
      <vt:lpstr>The Numbers Behind the Speed</vt:lpstr>
      <vt:lpstr>PowerPoint Presentation</vt:lpstr>
      <vt:lpstr>AI as a Digital Partner — the Working Rhythm</vt:lpstr>
      <vt:lpstr>Same Discipline, Smaller Team</vt:lpstr>
      <vt:lpstr>Case Example: 26-29 July</vt:lpstr>
      <vt:lpstr>PowerPoint Presentation</vt:lpstr>
      <vt:lpstr>Where to Look, How to Read It</vt:lpstr>
      <vt:lpstr>How This Aligns With the Three Pillars</vt:lpstr>
      <vt:lpstr>PowerPoint Presentation</vt:lpstr>
      <vt:lpstr>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Tỉnh Xỉn</dc:creator>
  <cp:lastModifiedBy>Phuc Tran</cp:lastModifiedBy>
  <cp:revision>26</cp:revision>
  <dcterms:modified xsi:type="dcterms:W3CDTF">2026-07-31T07:20:48Z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0x0101007BBE3561B3C54741B60DE2B33D507E08</vt:lpwstr>
  </property>
  <property fmtid="{D5CDD505-2E9C-101B-9397-08002B2CF9AE}" pid="3" name="MediaServiceImageTags">
    <vt:lpwstr/>
  </property>
</Properties>
</file>