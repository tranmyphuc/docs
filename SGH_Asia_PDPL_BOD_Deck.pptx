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6" r:id="rId4"/>
    <p:sldMasterId id="2147483648" r:id="rId5"/>
  </p:sldMasterIdLst>
  <p:notesMasterIdLst>
    <p:notesMasterId r:id="rId20"/>
  </p:notesMasterIdLst>
  <p:sldIdLst>
    <p:sldId id="420" r:id="rId25"/>
    <p:sldId id="435" r:id="rId19"/>
    <p:sldId id="436" r:id="rId18"/>
    <p:sldId id="437" r:id="rId17"/>
    <p:sldId id="438" r:id="rId16"/>
    <p:sldId id="439" r:id="rId15"/>
    <p:sldId id="440" r:id="rId14"/>
    <p:sldId id="441" r:id="rId13"/>
    <p:sldId id="442" r:id="rId12"/>
    <p:sldId id="443" r:id="rId11"/>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3F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C7B018BB-80A7-4F77-B60F-C8B233D01FF8}"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EEE7283C-3CF3-47DC-8721-378D4A62B228}"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CF821DB8-F4EB-4A41-A1BA-3FCAFE7338EE}" styleName="">
    <a:tblBg/>
    <a:wholeTbl>
      <a:tcTxStyle b="off" i="off">
        <a:font>
          <a:latin typeface="Century Gothic"/>
          <a:ea typeface="Century Gothic"/>
          <a:cs typeface="Century Gothic"/>
        </a:font>
        <a:srgbClr val="1D1E2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3F3F3"/>
          </a:solidFill>
        </a:fill>
      </a:tcStyle>
    </a:band2H>
    <a:firstCol>
      <a:tcTxStyle b="on" i="off">
        <a:font>
          <a:latin typeface="Century Gothic"/>
          <a:ea typeface="Century Gothic"/>
          <a:cs typeface="Century Gothic"/>
        </a:font>
        <a:srgbClr val="F3F3F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entury Gothic"/>
          <a:ea typeface="Century Gothic"/>
          <a:cs typeface="Century Gothic"/>
        </a:font>
        <a:srgbClr val="1D1E23"/>
      </a:tcTxStyle>
      <a:tcStyle>
        <a:tcBdr>
          <a:left>
            <a:ln w="12700" cap="flat">
              <a:noFill/>
              <a:miter lim="400000"/>
            </a:ln>
          </a:left>
          <a:right>
            <a:ln w="12700" cap="flat">
              <a:noFill/>
              <a:miter lim="400000"/>
            </a:ln>
          </a:right>
          <a:top>
            <a:ln w="50800" cap="flat">
              <a:solidFill>
                <a:srgbClr val="1D1E23"/>
              </a:solidFill>
              <a:prstDash val="solid"/>
              <a:round/>
            </a:ln>
          </a:top>
          <a:bottom>
            <a:ln w="25400" cap="flat">
              <a:solidFill>
                <a:srgbClr val="1D1E23"/>
              </a:solidFill>
              <a:prstDash val="solid"/>
              <a:round/>
            </a:ln>
          </a:bottom>
          <a:insideH>
            <a:ln w="12700" cap="flat">
              <a:noFill/>
              <a:miter lim="400000"/>
            </a:ln>
          </a:insideH>
          <a:insideV>
            <a:ln w="12700" cap="flat">
              <a:noFill/>
              <a:miter lim="400000"/>
            </a:ln>
          </a:insideV>
        </a:tcBdr>
        <a:fill>
          <a:solidFill>
            <a:srgbClr val="F3F3F3"/>
          </a:solidFill>
        </a:fill>
      </a:tcStyle>
    </a:lastRow>
    <a:firstRow>
      <a:tcTxStyle b="on" i="off">
        <a:font>
          <a:latin typeface="Century Gothic"/>
          <a:ea typeface="Century Gothic"/>
          <a:cs typeface="Century Gothic"/>
        </a:font>
        <a:srgbClr val="F3F3F3"/>
      </a:tcTxStyle>
      <a:tcStyle>
        <a:tcBdr>
          <a:left>
            <a:ln w="12700" cap="flat">
              <a:noFill/>
              <a:miter lim="400000"/>
            </a:ln>
          </a:left>
          <a:right>
            <a:ln w="12700" cap="flat">
              <a:noFill/>
              <a:miter lim="400000"/>
            </a:ln>
          </a:right>
          <a:top>
            <a:ln w="25400" cap="flat">
              <a:solidFill>
                <a:srgbClr val="1D1E23"/>
              </a:solidFill>
              <a:prstDash val="solid"/>
              <a:round/>
            </a:ln>
          </a:top>
          <a:bottom>
            <a:ln w="25400" cap="flat">
              <a:solidFill>
                <a:srgbClr val="1D1E2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CBCB"/>
          </a:solidFill>
        </a:fill>
      </a:tcStyle>
    </a:wholeTbl>
    <a:band2H>
      <a:tcTxStyle/>
      <a:tcStyle>
        <a:tcBdr/>
        <a:fill>
          <a:solidFill>
            <a:srgbClr val="E7E7E7"/>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firstRow>
  </a:tblStyle>
  <a:tblStyle styleId="{2708684C-4D16-4618-839F-0558EEFCDFE6}" styleName="">
    <a:tblBg/>
    <a:wholeTbl>
      <a:tcTxStyle b="off"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solidFill>
            <a:srgbClr val="1D1E23">
              <a:alpha val="20000"/>
            </a:srgbClr>
          </a:solidFill>
        </a:fill>
      </a:tcStyle>
    </a:wholeTbl>
    <a:band2H>
      <a:tcTxStyle/>
      <a:tcStyle>
        <a:tcBdr/>
        <a:fill>
          <a:solidFill>
            <a:srgbClr val="FFFFFF"/>
          </a:solidFill>
        </a:fill>
      </a:tcStyle>
    </a:band2H>
    <a:firstCol>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solidFill>
            <a:srgbClr val="1D1E23">
              <a:alpha val="20000"/>
            </a:srgbClr>
          </a:solidFill>
        </a:fill>
      </a:tcStyle>
    </a:firstCol>
    <a:lastRow>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508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noFill/>
        </a:fill>
      </a:tcStyle>
    </a:lastRow>
    <a:firstRow>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254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4660"/>
  </p:normalViewPr>
  <p:slideViewPr>
    <p:cSldViewPr snapToGrid="0">
      <p:cViewPr varScale="1">
        <p:scale>
          <a:sx n="185" d="100"/>
          <a:sy n="185" d="100"/>
        </p:scale>
        <p:origin x="14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1" Type="http://schemas.openxmlformats.org/officeDocument/2006/relationships/slide" Target="slides/slide24.xml"/><Relationship Id="rId12" Type="http://schemas.openxmlformats.org/officeDocument/2006/relationships/slide" Target="slides/slide23.xml"/><Relationship Id="rId13" Type="http://schemas.openxmlformats.org/officeDocument/2006/relationships/slide" Target="slides/slide22.xml"/><Relationship Id="rId14" Type="http://schemas.openxmlformats.org/officeDocument/2006/relationships/slide" Target="slides/slide21.xml"/><Relationship Id="rId15" Type="http://schemas.openxmlformats.org/officeDocument/2006/relationships/slide" Target="slides/slide20.xml"/><Relationship Id="rId16" Type="http://schemas.openxmlformats.org/officeDocument/2006/relationships/slide" Target="slides/slide19.xml"/><Relationship Id="rId17" Type="http://schemas.openxmlformats.org/officeDocument/2006/relationships/slide" Target="slides/slide18.xml"/><Relationship Id="rId18" Type="http://schemas.openxmlformats.org/officeDocument/2006/relationships/slide" Target="slides/slide17.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DPO Team</c:v>
                </c:pt>
              </c:strCache>
            </c:strRef>
          </c:tx>
          <c:spPr>
            <a:solidFill>
              <a:srgbClr val="3FB1A0"/>
            </a:solidFill>
          </c:spPr>
          <c:dLbls>
            <c:numFmt formatCode="0.##;;"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Phase 0</c:v>
                </c:pt>
                <c:pt idx="1">
                  <c:v>Phase 1</c:v>
                </c:pt>
                <c:pt idx="2">
                  <c:v>Phase 2</c:v>
                </c:pt>
                <c:pt idx="3">
                  <c:v>Phase 3</c:v>
                </c:pt>
              </c:strCache>
            </c:strRef>
          </c:cat>
          <c:val>
            <c:numRef>
              <c:f>Sheet1!$B$2:$B$5</c:f>
              <c:numCache>
                <c:formatCode>General</c:formatCode>
                <c:ptCount val="4"/>
                <c:pt idx="0">
                  <c:v>3.5</c:v>
                </c:pt>
                <c:pt idx="1">
                  <c:v>6</c:v>
                </c:pt>
                <c:pt idx="2">
                  <c:v>5</c:v>
                </c:pt>
                <c:pt idx="3">
                  <c:v>6.5</c:v>
                </c:pt>
              </c:numCache>
            </c:numRef>
          </c:val>
        </c:ser>
        <c:ser>
          <c:idx val="1"/>
          <c:order val="1"/>
          <c:tx>
            <c:strRef>
              <c:f>Sheet1!$C$1</c:f>
              <c:strCache>
                <c:ptCount val="1"/>
                <c:pt idx="0">
                  <c:v>IT-Security</c:v>
                </c:pt>
              </c:strCache>
            </c:strRef>
          </c:tx>
          <c:spPr>
            <a:solidFill>
              <a:srgbClr val="3B3678"/>
            </a:solidFill>
          </c:spPr>
          <c:dLbls>
            <c:numFmt formatCode="0.##;;"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Phase 0</c:v>
                </c:pt>
                <c:pt idx="1">
                  <c:v>Phase 1</c:v>
                </c:pt>
                <c:pt idx="2">
                  <c:v>Phase 2</c:v>
                </c:pt>
                <c:pt idx="3">
                  <c:v>Phase 3</c:v>
                </c:pt>
              </c:strCache>
            </c:strRef>
          </c:cat>
          <c:val>
            <c:numRef>
              <c:f>Sheet1!$C$2:$C$5</c:f>
              <c:numCache>
                <c:formatCode>General</c:formatCode>
                <c:ptCount val="4"/>
                <c:pt idx="0">
                  <c:v>0</c:v>
                </c:pt>
                <c:pt idx="1">
                  <c:v>3.5</c:v>
                </c:pt>
                <c:pt idx="2">
                  <c:v>2</c:v>
                </c:pt>
                <c:pt idx="3">
                  <c:v>2.5</c:v>
                </c:pt>
              </c:numCache>
            </c:numRef>
          </c:val>
        </c:ser>
        <c:ser>
          <c:idx val="2"/>
          <c:order val="2"/>
          <c:tx>
            <c:strRef>
              <c:f>Sheet1!$D$1</c:f>
              <c:strCache>
                <c:ptCount val="1"/>
                <c:pt idx="0">
                  <c:v>HR &amp; OP</c:v>
                </c:pt>
              </c:strCache>
            </c:strRef>
          </c:tx>
          <c:spPr>
            <a:solidFill>
              <a:srgbClr val="D98A1F"/>
            </a:solidFill>
          </c:spPr>
          <c:dLbls>
            <c:numFmt formatCode="0.##;;"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Phase 0</c:v>
                </c:pt>
                <c:pt idx="1">
                  <c:v>Phase 1</c:v>
                </c:pt>
                <c:pt idx="2">
                  <c:v>Phase 2</c:v>
                </c:pt>
                <c:pt idx="3">
                  <c:v>Phase 3</c:v>
                </c:pt>
              </c:strCache>
            </c:strRef>
          </c:cat>
          <c:val>
            <c:numRef>
              <c:f>Sheet1!$D$2:$D$5</c:f>
              <c:numCache>
                <c:formatCode>General</c:formatCode>
                <c:ptCount val="4"/>
                <c:pt idx="0">
                  <c:v>0</c:v>
                </c:pt>
                <c:pt idx="1">
                  <c:v>1</c:v>
                </c:pt>
                <c:pt idx="2">
                  <c:v>1</c:v>
                </c:pt>
                <c:pt idx="3">
                  <c:v>1</c:v>
                </c:pt>
              </c:numCache>
            </c:numRef>
          </c:val>
        </c:ser>
        <c:ser>
          <c:idx val="3"/>
          <c:order val="3"/>
          <c:tx>
            <c:strRef>
              <c:f>Sheet1!$E$1</c:f>
              <c:strCache>
                <c:ptCount val="1"/>
                <c:pt idx="0">
                  <c:v>Management</c:v>
                </c:pt>
              </c:strCache>
            </c:strRef>
          </c:tx>
          <c:spPr>
            <a:solidFill>
              <a:srgbClr val="A7A7A7"/>
            </a:solidFill>
          </c:spPr>
          <c:cat>
            <c:strRef>
              <c:f>Sheet1!$A$2:$A$5</c:f>
              <c:strCache>
                <c:ptCount val="4"/>
                <c:pt idx="0">
                  <c:v>Phase 0</c:v>
                </c:pt>
                <c:pt idx="1">
                  <c:v>Phase 1</c:v>
                </c:pt>
                <c:pt idx="2">
                  <c:v>Phase 2</c:v>
                </c:pt>
                <c:pt idx="3">
                  <c:v>Phase 3</c:v>
                </c:pt>
              </c:strCache>
            </c:strRef>
          </c:cat>
          <c:val>
            <c:numRef>
              <c:f>Sheet1!$E$2:$E$5</c:f>
              <c:numCache>
                <c:formatCode>General</c:formatCode>
                <c:ptCount val="4"/>
                <c:pt idx="0">
                  <c:v>0.25</c:v>
                </c:pt>
                <c:pt idx="1">
                  <c:v>0</c:v>
                </c:pt>
                <c:pt idx="2">
                  <c:v>0</c:v>
                </c:pt>
                <c:pt idx="3">
                  <c:v>0.5</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A7A7A7"/>
            </a:solidFill>
          </a:ln>
        </c:spPr>
        <c:txPr>
          <a:bodyPr/>
          <a:lstStyle/>
          <a:p>
            <a:pPr>
              <a:defRPr sz="1200">
                <a:solidFill>
                  <a:srgbClr val="3B3678"/>
                </a:solidFill>
              </a:defRPr>
            </a:pPr>
          </a:p>
        </c:txPr>
        <c:crossAx val="-2113994440"/>
        <c:crosses val="autoZero"/>
        <c:auto val="1"/>
        <c:lblAlgn val="ctr"/>
        <c:lblOffset val="100"/>
        <c:noMultiLvlLbl val="0"/>
      </c:catAx>
      <c:valAx>
        <c:axId val="-2113994440"/>
        <c:scaling>
          <c:max val="12.0"/>
        </c:scaling>
        <c:delete val="0"/>
        <c:axPos val="l"/>
        <c:majorGridlines>
          <c:spPr>
            <a:ln>
              <a:solidFill>
                <a:srgbClr val="DDDDDD"/>
              </a:solidFill>
            </a:ln>
          </c:spPr>
        </c:majorGridlines>
        <c:majorTickMark val="out"/>
        <c:minorTickMark val="none"/>
        <c:tickLblPos val="nextTo"/>
        <c:spPr>
          <a:ln>
            <a:noFill/>
          </a:ln>
        </c:spPr>
        <c:txPr>
          <a:bodyPr/>
          <a:lstStyle/>
          <a:p>
            <a:pPr>
              <a:defRPr sz="1100">
                <a:solidFill>
                  <a:srgbClr val="6B6B6B"/>
                </a:solidFill>
              </a:defRPr>
            </a:pPr>
          </a:p>
        </c:txPr>
        <c:crossAx val="-2068027336"/>
        <c:crosses val="autoZero"/>
      </c:valAx>
    </c:plotArea>
    <c:legend>
      <c:legendPos val="b"/>
      <c:overlay val="0"/>
      <c:txPr>
        <a:bodyPr/>
        <a:lstStyle/>
        <a:p>
          <a:pPr>
            <a:defRPr sz="1100">
              <a:solidFill>
                <a:srgbClr val="3B3678"/>
              </a:solidFill>
              <a:latin typeface="Open Sans"/>
            </a:defRPr>
          </a:pPr>
        </a:p>
      </c:txPr>
    </c:legend>
    <c:dispBlanksAs val="gap"/>
  </c:chart>
  <c:txPr>
    <a:bodyPr/>
    <a:lstStyle/>
    <a:p>
      <a:pPr>
        <a:defRPr sz="1100">
          <a:latin typeface="Open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7" name="Shape 147"/>
          <p:cNvSpPr>
            <a:spLocks noGrp="1" noRot="1" noChangeAspect="1"/>
          </p:cNvSpPr>
          <p:nvPr>
            <p:ph type="sldImg"/>
          </p:nvPr>
        </p:nvSpPr>
        <p:spPr>
          <a:xfrm>
            <a:off x="1143000" y="685800"/>
            <a:ext cx="4572000" cy="3429000"/>
          </a:xfrm>
          <a:prstGeom prst="rect">
            <a:avLst/>
          </a:prstGeom>
        </p:spPr>
        <p:txBody>
          <a:bodyPr/>
          <a:lstStyle/>
          <a:p>
            <a:endParaRPr/>
          </a:p>
        </p:txBody>
      </p:sp>
      <p:sp>
        <p:nvSpPr>
          <p:cNvPr id="148" name="Shape 1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Purpose: ask the Board to note and support the PDPL compliance plan that the General Manager is asked to approve. Open with the answer: Option A, start 05 Oct 2026, about $440 cash.</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slide for readers who see only one. Plan: 27 tasks, 4 phases, 05 Oct 2026 to 03 Feb 2027 (Option A, recommended). Cost: only the AI tool has a figure, about $440 including an indicative 10% foreign contractor tax; it may fall to $0 if shared with the Einvoices subscription. Legal review needs a separate quote. Decide: approve Option A and the budget, confirm the task owners flagged for GM confirmation.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Law 91/2025 has been in force since 01/01/2026. Scope is SGH Asia as a data controller for its own data subjects (employees, candidates, vendor and client contacts). Data processed for clients, for example the Topicus engagement, is excluded from this plan. Phase 0 issues a classification memo that settles whether SGH Asia is treated under the advisory articles (Decree 356/2025 Art. 15-16) or as a processor (Art. 20-27). Earliest filing reduces the exposure window under Decree 330/2026.</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Dates are Option A from the detailed plan. Phase 0 and Phase 1 start together on 05/10/2026. Phase 3 ends with the internal readiness audit and go-live sign-off on 03/02/2027. Milestones: DPO appointment notification to the A05 Department on 13/01/2027 (highest-priority filing), go-live sign-off 03/02/2027.</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Option A is a full 34-day shift of the Sep-Dec 2026 plan and is recommended. Option B is contingency only: use it if completion in December 2026 becomes a hard requirement. Dates are the task deadlines in the detailed plan. External legal turnaround (LTT &amp; Lawyers, Phase 2) is independent of internal capacity under either option.</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Only the AI tool line has a figure: $100 per month for 4 months = $400, plus an indicative 10% Vietnam foreign contractor tax (about $40) = about $440, roughly $110 per month effective. The 10% rate is a planning assumption: Man Thi Loc (Finance) must confirm VAT and CIT treatment. The subscription may be shared with the Einvoices project, in which case the net incremental cost could be $0; not yet confirmed. External legal: LTT &amp; Lawyers rate card outside the signed Appendix (Partner VND 5,000,000/hr, Associate VND 3,500,000/hr, Paralegal VND 2,500,000/hr); Agreement 25.12.08.LTT01 covers only the Topicus A05 dossier, so a new quote is needed for Phase 2 items 15 and 17. Translation, training and M365 need no cash.</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Planning-level estimates derived from the 27-task plan, not measured actuals. DPO Team 21, IT-Security 8, HR &amp; OP 3, Management 0.75. By phase: 3.75, 10.5, 8, 10.5. Hoang Le Viet Ha and Le Duc Tam hold dual capacity (DPO Team + IT-Security): about 14.5 man-days each over the 4 months; do not sum their rows independently. The estimates should be sanity-checked by Tran My Phuc, Hoang Le Viet Ha and Le Duc Tam against real bandwidth.</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items need attention. External legal: items 15 and 17 depend on LTT turnaround and a new quote; this is the one dependency not solved by freed-up internal capacity, because the Topicus engagement concluded in May 2026. People: some Person in Charge entries are highlighted yellow in the plan and need GM confirmation; two staff hold dual capacity. Cost: the AI tool cost may be shared with the Einvoices subscription; tax treatment needs Finance confirmation.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Scope extension: contracts SGH Asia sells to clients (Odoo implementation, ISO 27001/42001 advisory, AI governance consulting, DPO outsourcing), where SGH Asia is a Data Processor. Names, titles and signatures of signatories and project members are personal data, but processing them to form the contract rests on Art. 19.1(d) and does not trigger Art. 37. The real risk: Odoo implementation gives SGH Asia access to client personal data (Art. 2.8, 37.2(a)). Next: add a Phase 2b "Commercial Client Contract PDPL Review" to the plan once the three inputs arrive.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Close on three asks, then the approval block. Prepared by Tran My Phuc (DPO / IT &amp; ISMS Manager); reviewed by: to be completed; approved by Pavel Poskakukhin (General Manager). Open items to track: LTT legal quote, Finance tax confirmation, Einvoices cost sharing.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Abschnittsüberschrift">
    <p:spTree>
      <p:nvGrpSpPr>
        <p:cNvPr id="1" name=""/>
        <p:cNvGrpSpPr/>
        <p:nvPr/>
      </p:nvGrpSpPr>
      <p:grpSpPr>
        <a:xfrm>
          <a:off x="0" y="0"/>
          <a:ext cx="0" cy="0"/>
          <a:chOff x="0" y="0"/>
          <a:chExt cx="0" cy="0"/>
        </a:xfrm>
      </p:grpSpPr>
      <p:sp>
        <p:nvSpPr>
          <p:cNvPr id="16" name="Title Text"/>
          <p:cNvSpPr txBox="1">
            <a:spLocks noGrp="1"/>
          </p:cNvSpPr>
          <p:nvPr>
            <p:ph type="title"/>
          </p:nvPr>
        </p:nvSpPr>
        <p:spPr>
          <a:prstGeom prst="rect">
            <a:avLst/>
          </a:prstGeom>
        </p:spPr>
        <p:txBody>
          <a:bodyPr/>
          <a:lstStyle/>
          <a:p>
            <a:r>
              <a:t>Title Text</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8543517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2_Abschnittsüberschrift">
    <p:spTree>
      <p:nvGrpSpPr>
        <p:cNvPr id="1" name=""/>
        <p:cNvGrpSpPr/>
        <p:nvPr/>
      </p:nvGrpSpPr>
      <p:grpSpPr>
        <a:xfrm>
          <a:off x="0" y="0"/>
          <a:ext cx="0" cy="0"/>
          <a:chOff x="0" y="0"/>
          <a:chExt cx="0" cy="0"/>
        </a:xfrm>
      </p:grpSpPr>
      <p:sp>
        <p:nvSpPr>
          <p:cNvPr id="16" name="Title Text"/>
          <p:cNvSpPr txBox="1">
            <a:spLocks noGrp="1"/>
          </p:cNvSpPr>
          <p:nvPr>
            <p:ph type="title"/>
          </p:nvPr>
        </p:nvSpPr>
        <p:spPr>
          <a:prstGeom prst="rect">
            <a:avLst/>
          </a:prstGeom>
        </p:spPr>
        <p:txBody>
          <a:bodyPr/>
          <a:lstStyle/>
          <a:p>
            <a:r>
              <a:t>Title Text</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258312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638F-2473-B18E-B91A-269BE44C9AE1}"/>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9EFDF05-CC5F-F294-36DA-C8082AA2A116}"/>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5857276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elfolie">
    <p:spTree>
      <p:nvGrpSpPr>
        <p:cNvPr id="1" name=""/>
        <p:cNvGrpSpPr/>
        <p:nvPr/>
      </p:nvGrpSpPr>
      <p:grpSpPr>
        <a:xfrm>
          <a:off x="0" y="0"/>
          <a:ext cx="0" cy="0"/>
          <a:chOff x="0" y="0"/>
          <a:chExt cx="0" cy="0"/>
        </a:xfrm>
      </p:grpSpPr>
      <p:sp>
        <p:nvSpPr>
          <p:cNvPr id="24"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25"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ustom Layout">
    <p:spTree>
      <p:nvGrpSpPr>
        <p:cNvPr id="1" name=""/>
        <p:cNvGrpSpPr/>
        <p:nvPr/>
      </p:nvGrpSpPr>
      <p:grpSpPr>
        <a:xfrm>
          <a:off x="0" y="0"/>
          <a:ext cx="0" cy="0"/>
          <a:chOff x="0" y="0"/>
          <a:chExt cx="0" cy="0"/>
        </a:xfrm>
      </p:grpSpPr>
      <p:sp>
        <p:nvSpPr>
          <p:cNvPr id="3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33"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34"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1_Titelfolie">
    <p:spTree>
      <p:nvGrpSpPr>
        <p:cNvPr id="1" name=""/>
        <p:cNvGrpSpPr/>
        <p:nvPr/>
      </p:nvGrpSpPr>
      <p:grpSpPr>
        <a:xfrm>
          <a:off x="0" y="0"/>
          <a:ext cx="0" cy="0"/>
          <a:chOff x="0" y="0"/>
          <a:chExt cx="0" cy="0"/>
        </a:xfrm>
      </p:grpSpPr>
      <p:sp>
        <p:nvSpPr>
          <p:cNvPr id="41"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42"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43"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2_Titelfolie">
    <p:spTree>
      <p:nvGrpSpPr>
        <p:cNvPr id="1" name=""/>
        <p:cNvGrpSpPr/>
        <p:nvPr/>
      </p:nvGrpSpPr>
      <p:grpSpPr>
        <a:xfrm>
          <a:off x="0" y="0"/>
          <a:ext cx="0" cy="0"/>
          <a:chOff x="0" y="0"/>
          <a:chExt cx="0" cy="0"/>
        </a:xfrm>
      </p:grpSpPr>
      <p:sp>
        <p:nvSpPr>
          <p:cNvPr id="50"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51"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52"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3_Titelfolie">
    <p:spTree>
      <p:nvGrpSpPr>
        <p:cNvPr id="1" name=""/>
        <p:cNvGrpSpPr/>
        <p:nvPr/>
      </p:nvGrpSpPr>
      <p:grpSpPr>
        <a:xfrm>
          <a:off x="0" y="0"/>
          <a:ext cx="0" cy="0"/>
          <a:chOff x="0" y="0"/>
          <a:chExt cx="0" cy="0"/>
        </a:xfrm>
      </p:grpSpPr>
      <p:sp>
        <p:nvSpPr>
          <p:cNvPr id="59"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60"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61"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Inhalt mit Beschriftung">
    <p:spTree>
      <p:nvGrpSpPr>
        <p:cNvPr id="1" name=""/>
        <p:cNvGrpSpPr/>
        <p:nvPr/>
      </p:nvGrpSpPr>
      <p:grpSpPr>
        <a:xfrm>
          <a:off x="0" y="0"/>
          <a:ext cx="0" cy="0"/>
          <a:chOff x="0" y="0"/>
          <a:chExt cx="0" cy="0"/>
        </a:xfrm>
      </p:grpSpPr>
      <p:sp>
        <p:nvSpPr>
          <p:cNvPr id="137"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138" name="Title Text"/>
          <p:cNvSpPr txBox="1">
            <a:spLocks noGrp="1"/>
          </p:cNvSpPr>
          <p:nvPr>
            <p:ph type="title"/>
          </p:nvPr>
        </p:nvSpPr>
        <p:spPr>
          <a:xfrm>
            <a:off x="457201" y="204786"/>
            <a:ext cx="3008314" cy="871539"/>
          </a:xfrm>
          <a:prstGeom prst="rect">
            <a:avLst/>
          </a:prstGeom>
        </p:spPr>
        <p:txBody>
          <a:bodyPr anchor="b"/>
          <a:lstStyle>
            <a:lvl1pPr>
              <a:defRPr sz="2000" spc="79">
                <a:solidFill>
                  <a:srgbClr val="1D1E23"/>
                </a:solidFill>
              </a:defRPr>
            </a:lvl1pPr>
          </a:lstStyle>
          <a:p>
            <a:r>
              <a:t>Title Text</a:t>
            </a:r>
          </a:p>
        </p:txBody>
      </p:sp>
      <p:sp>
        <p:nvSpPr>
          <p:cNvPr id="139" name="Body Level One…"/>
          <p:cNvSpPr txBox="1">
            <a:spLocks noGrp="1"/>
          </p:cNvSpPr>
          <p:nvPr>
            <p:ph type="body" idx="1"/>
          </p:nvPr>
        </p:nvSpPr>
        <p:spPr>
          <a:xfrm>
            <a:off x="3575050" y="204788"/>
            <a:ext cx="5111750" cy="438983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0" name="Textplatzhalter 3"/>
          <p:cNvSpPr>
            <a:spLocks noGrp="1"/>
          </p:cNvSpPr>
          <p:nvPr>
            <p:ph type="body" sz="half" idx="21"/>
          </p:nvPr>
        </p:nvSpPr>
        <p:spPr>
          <a:xfrm>
            <a:off x="457200" y="1076326"/>
            <a:ext cx="3008315" cy="3518297"/>
          </a:xfrm>
          <a:prstGeom prst="rect">
            <a:avLst/>
          </a:prstGeom>
        </p:spPr>
        <p:txBody>
          <a:bodyPr/>
          <a:lstStyle/>
          <a:p>
            <a:pPr marL="0" indent="0">
              <a:spcBef>
                <a:spcPts val="300"/>
              </a:spcBef>
              <a:buClrTx/>
              <a:buSzTx/>
              <a:buNone/>
              <a:defRPr sz="1400" spc="0"/>
            </a:pPr>
            <a:endParaRPr/>
          </a:p>
        </p:txBody>
      </p:sp>
      <p:sp>
        <p:nvSpPr>
          <p:cNvPr id="141" name="Slide Number"/>
          <p:cNvSpPr txBox="1">
            <a:spLocks noGrp="1"/>
          </p:cNvSpPr>
          <p:nvPr>
            <p:ph type="sldNum" sz="quarter" idx="2"/>
          </p:nvPr>
        </p:nvSpPr>
        <p:spPr>
          <a:xfrm>
            <a:off x="8413144" y="4769564"/>
            <a:ext cx="273657" cy="26924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4_Titelfolie">
    <p:spTree>
      <p:nvGrpSpPr>
        <p:cNvPr id="1" name=""/>
        <p:cNvGrpSpPr/>
        <p:nvPr/>
      </p:nvGrpSpPr>
      <p:grpSpPr>
        <a:xfrm>
          <a:off x="0" y="0"/>
          <a:ext cx="0" cy="0"/>
          <a:chOff x="0" y="0"/>
          <a:chExt cx="0" cy="0"/>
        </a:xfrm>
      </p:grpSpPr>
      <p:sp>
        <p:nvSpPr>
          <p:cNvPr id="68"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69" name="Picture 2" descr="Picture 2"/>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70"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1_Custom Layout">
    <p:spTree>
      <p:nvGrpSpPr>
        <p:cNvPr id="1" name=""/>
        <p:cNvGrpSpPr/>
        <p:nvPr/>
      </p:nvGrpSpPr>
      <p:grpSpPr>
        <a:xfrm>
          <a:off x="0" y="0"/>
          <a:ext cx="0" cy="0"/>
          <a:chOff x="0" y="0"/>
          <a:chExt cx="0" cy="0"/>
        </a:xfrm>
      </p:grpSpPr>
      <p:pic>
        <p:nvPicPr>
          <p:cNvPr id="77"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grpSp>
        <p:nvGrpSpPr>
          <p:cNvPr id="80" name="Group"/>
          <p:cNvGrpSpPr/>
          <p:nvPr/>
        </p:nvGrpSpPr>
        <p:grpSpPr>
          <a:xfrm>
            <a:off x="8497951" y="1"/>
            <a:ext cx="663915" cy="5143501"/>
            <a:chOff x="0" y="0"/>
            <a:chExt cx="663914" cy="5143500"/>
          </a:xfrm>
        </p:grpSpPr>
        <p:sp>
          <p:nvSpPr>
            <p:cNvPr id="78"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79"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81" name="Picture 2" descr="Picture 2"/>
          <p:cNvPicPr>
            <a:picLocks noChangeAspect="1"/>
          </p:cNvPicPr>
          <p:nvPr/>
        </p:nvPicPr>
        <p:blipFill>
          <a:blip r:embed="rId4"/>
          <a:stretch>
            <a:fillRect/>
          </a:stretch>
        </p:blipFill>
        <p:spPr>
          <a:xfrm>
            <a:off x="728420" y="1491470"/>
            <a:ext cx="2162015" cy="2160560"/>
          </a:xfrm>
          <a:prstGeom prst="rect">
            <a:avLst/>
          </a:prstGeom>
          <a:ln w="12700">
            <a:miter lim="400000"/>
          </a:ln>
        </p:spPr>
      </p:pic>
      <p:sp>
        <p:nvSpPr>
          <p:cNvPr id="82"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2_Custom Layout">
    <p:spTree>
      <p:nvGrpSpPr>
        <p:cNvPr id="1" name=""/>
        <p:cNvGrpSpPr/>
        <p:nvPr/>
      </p:nvGrpSpPr>
      <p:grpSpPr>
        <a:xfrm>
          <a:off x="0" y="0"/>
          <a:ext cx="0" cy="0"/>
          <a:chOff x="0" y="0"/>
          <a:chExt cx="0" cy="0"/>
        </a:xfrm>
      </p:grpSpPr>
      <p:pic>
        <p:nvPicPr>
          <p:cNvPr id="89" name="Picture 6" descr="Picture 6"/>
          <p:cNvPicPr>
            <a:picLocks noChangeAspect="1"/>
          </p:cNvPicPr>
          <p:nvPr/>
        </p:nvPicPr>
        <p:blipFill>
          <a:blip r:embed="rId2"/>
          <a:stretch>
            <a:fillRect/>
          </a:stretch>
        </p:blipFill>
        <p:spPr>
          <a:xfrm>
            <a:off x="0" y="0"/>
            <a:ext cx="9161861" cy="5143500"/>
          </a:xfrm>
          <a:prstGeom prst="rect">
            <a:avLst/>
          </a:prstGeom>
          <a:ln w="12700">
            <a:miter lim="400000"/>
          </a:ln>
        </p:spPr>
      </p:pic>
      <p:grpSp>
        <p:nvGrpSpPr>
          <p:cNvPr id="92" name="Group"/>
          <p:cNvGrpSpPr/>
          <p:nvPr/>
        </p:nvGrpSpPr>
        <p:grpSpPr>
          <a:xfrm>
            <a:off x="8497951" y="1"/>
            <a:ext cx="663915" cy="5143501"/>
            <a:chOff x="0" y="0"/>
            <a:chExt cx="663914" cy="5143500"/>
          </a:xfrm>
        </p:grpSpPr>
        <p:sp>
          <p:nvSpPr>
            <p:cNvPr id="90"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91"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93" name="Picture 2" descr="Picture 2"/>
          <p:cNvPicPr>
            <a:picLocks noChangeAspect="1"/>
          </p:cNvPicPr>
          <p:nvPr/>
        </p:nvPicPr>
        <p:blipFill>
          <a:blip r:embed="rId4"/>
          <a:stretch>
            <a:fillRect/>
          </a:stretch>
        </p:blipFill>
        <p:spPr>
          <a:xfrm>
            <a:off x="716796" y="1491470"/>
            <a:ext cx="2158140" cy="2160560"/>
          </a:xfrm>
          <a:prstGeom prst="rect">
            <a:avLst/>
          </a:prstGeom>
          <a:ln w="12700">
            <a:miter lim="400000"/>
          </a:ln>
        </p:spPr>
      </p:pic>
      <p:sp>
        <p:nvSpPr>
          <p:cNvPr id="94"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6_Titelfolie">
    <p:spTree>
      <p:nvGrpSpPr>
        <p:cNvPr id="1" name=""/>
        <p:cNvGrpSpPr/>
        <p:nvPr/>
      </p:nvGrpSpPr>
      <p:grpSpPr>
        <a:xfrm>
          <a:off x="0" y="0"/>
          <a:ext cx="0" cy="0"/>
          <a:chOff x="0" y="0"/>
          <a:chExt cx="0" cy="0"/>
        </a:xfrm>
      </p:grpSpPr>
      <p:pic>
        <p:nvPicPr>
          <p:cNvPr id="101" name="Picture 7" descr="Picture 7"/>
          <p:cNvPicPr>
            <a:picLocks noChangeAspect="1"/>
          </p:cNvPicPr>
          <p:nvPr/>
        </p:nvPicPr>
        <p:blipFill>
          <a:blip r:embed="rId2"/>
          <a:stretch>
            <a:fillRect/>
          </a:stretch>
        </p:blipFill>
        <p:spPr>
          <a:xfrm>
            <a:off x="0" y="0"/>
            <a:ext cx="9161861" cy="5143500"/>
          </a:xfrm>
          <a:prstGeom prst="rect">
            <a:avLst/>
          </a:prstGeom>
          <a:ln w="12700">
            <a:miter lim="400000"/>
          </a:ln>
        </p:spPr>
      </p:pic>
      <p:grpSp>
        <p:nvGrpSpPr>
          <p:cNvPr id="104" name="Group"/>
          <p:cNvGrpSpPr/>
          <p:nvPr/>
        </p:nvGrpSpPr>
        <p:grpSpPr>
          <a:xfrm>
            <a:off x="8497951" y="1"/>
            <a:ext cx="663915" cy="5143501"/>
            <a:chOff x="0" y="0"/>
            <a:chExt cx="663914" cy="5143500"/>
          </a:xfrm>
        </p:grpSpPr>
        <p:sp>
          <p:nvSpPr>
            <p:cNvPr id="102"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103"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105" name="Picture 3" descr="Picture 3"/>
          <p:cNvPicPr>
            <a:picLocks noChangeAspect="1"/>
          </p:cNvPicPr>
          <p:nvPr/>
        </p:nvPicPr>
        <p:blipFill>
          <a:blip r:embed="rId4"/>
          <a:stretch>
            <a:fillRect/>
          </a:stretch>
        </p:blipFill>
        <p:spPr>
          <a:xfrm>
            <a:off x="724547" y="1491470"/>
            <a:ext cx="2165888" cy="2160560"/>
          </a:xfrm>
          <a:prstGeom prst="rect">
            <a:avLst/>
          </a:prstGeom>
          <a:ln w="12700">
            <a:miter lim="400000"/>
          </a:ln>
        </p:spPr>
      </p:pic>
      <p:sp>
        <p:nvSpPr>
          <p:cNvPr id="106"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7_Titelfolie">
    <p:spTree>
      <p:nvGrpSpPr>
        <p:cNvPr id="1" name=""/>
        <p:cNvGrpSpPr/>
        <p:nvPr/>
      </p:nvGrpSpPr>
      <p:grpSpPr>
        <a:xfrm>
          <a:off x="0" y="0"/>
          <a:ext cx="0" cy="0"/>
          <a:chOff x="0" y="0"/>
          <a:chExt cx="0" cy="0"/>
        </a:xfrm>
      </p:grpSpPr>
      <p:pic>
        <p:nvPicPr>
          <p:cNvPr id="113"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grpSp>
        <p:nvGrpSpPr>
          <p:cNvPr id="116" name="Group"/>
          <p:cNvGrpSpPr/>
          <p:nvPr/>
        </p:nvGrpSpPr>
        <p:grpSpPr>
          <a:xfrm>
            <a:off x="8497951" y="1"/>
            <a:ext cx="663915" cy="5143501"/>
            <a:chOff x="0" y="0"/>
            <a:chExt cx="663914" cy="5143500"/>
          </a:xfrm>
        </p:grpSpPr>
        <p:sp>
          <p:nvSpPr>
            <p:cNvPr id="114"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115"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117" name="Picture 3" descr="Picture 3"/>
          <p:cNvPicPr>
            <a:picLocks noChangeAspect="1"/>
          </p:cNvPicPr>
          <p:nvPr/>
        </p:nvPicPr>
        <p:blipFill>
          <a:blip r:embed="rId4"/>
          <a:stretch>
            <a:fillRect/>
          </a:stretch>
        </p:blipFill>
        <p:spPr>
          <a:xfrm>
            <a:off x="720673" y="1491470"/>
            <a:ext cx="2162014" cy="2160560"/>
          </a:xfrm>
          <a:prstGeom prst="rect">
            <a:avLst/>
          </a:prstGeom>
          <a:ln w="12700">
            <a:miter lim="400000"/>
          </a:ln>
        </p:spPr>
      </p:pic>
      <p:sp>
        <p:nvSpPr>
          <p:cNvPr id="118"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theme" Target="../theme/theme2.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3" name="Title Text"/>
          <p:cNvSpPr txBox="1">
            <a:spLocks noGrp="1"/>
          </p:cNvSpPr>
          <p:nvPr>
            <p:ph type="title"/>
          </p:nvPr>
        </p:nvSpPr>
        <p:spPr>
          <a:xfrm>
            <a:off x="535570" y="199209"/>
            <a:ext cx="7357752" cy="6639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4" name="Rectangle 11"/>
          <p:cNvSpPr/>
          <p:nvPr/>
        </p:nvSpPr>
        <p:spPr>
          <a:xfrm>
            <a:off x="8497951" y="1"/>
            <a:ext cx="663915" cy="5143501"/>
          </a:xfrm>
          <a:prstGeom prst="rect">
            <a:avLst/>
          </a:prstGeom>
          <a:solidFill>
            <a:srgbClr val="3B3678"/>
          </a:solidFill>
          <a:ln w="12700">
            <a:miter lim="400000"/>
          </a:ln>
        </p:spPr>
        <p:txBody>
          <a:bodyPr lIns="45719" rIns="45719" anchor="ctr"/>
          <a:lstStyle/>
          <a:p>
            <a:pPr algn="ctr">
              <a:defRPr>
                <a:solidFill>
                  <a:srgbClr val="F3F3F3"/>
                </a:solidFill>
              </a:defRPr>
            </a:pPr>
            <a:endParaRPr/>
          </a:p>
        </p:txBody>
      </p:sp>
      <p:sp>
        <p:nvSpPr>
          <p:cNvPr id="5" name="Slide Number Placeholder 5"/>
          <p:cNvSpPr txBox="1"/>
          <p:nvPr/>
        </p:nvSpPr>
        <p:spPr>
          <a:xfrm>
            <a:off x="8600075" y="4820860"/>
            <a:ext cx="460637" cy="252616"/>
          </a:xfrm>
          <a:prstGeom prst="rect">
            <a:avLst/>
          </a:prstGeom>
          <a:ln w="12700">
            <a:miter lim="400000"/>
          </a:ln>
        </p:spPr>
        <p:txBody>
          <a:bodyPr lIns="45719" rIns="45719" anchor="ctr">
            <a:spAutoFit/>
          </a:bodyPr>
          <a:lstStyle/>
          <a:p>
            <a:pPr algn="ctr">
              <a:defRPr sz="1100">
                <a:solidFill>
                  <a:srgbClr val="F3F3F3"/>
                </a:solidFill>
                <a:latin typeface="PT Sans"/>
                <a:ea typeface="PT Sans"/>
                <a:cs typeface="PT Sans"/>
                <a:sym typeface="PT Sans"/>
              </a:defRPr>
            </a:pPr>
            <a:endParaRPr/>
          </a:p>
        </p:txBody>
      </p:sp>
      <p:sp>
        <p:nvSpPr>
          <p:cNvPr id="6" name="Straight Connector 15"/>
          <p:cNvSpPr/>
          <p:nvPr/>
        </p:nvSpPr>
        <p:spPr>
          <a:xfrm>
            <a:off x="153823" y="811850"/>
            <a:ext cx="1051135" cy="1"/>
          </a:xfrm>
          <a:prstGeom prst="line">
            <a:avLst/>
          </a:prstGeom>
          <a:ln w="12700">
            <a:solidFill>
              <a:schemeClr val="accent1"/>
            </a:solidFill>
          </a:ln>
        </p:spPr>
        <p:txBody>
          <a:bodyPr lIns="45719" rIns="45719"/>
          <a:lstStyle/>
          <a:p>
            <a:endParaRPr/>
          </a:p>
        </p:txBody>
      </p:sp>
      <p:sp>
        <p:nvSpPr>
          <p:cNvPr id="8"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lide Number"/>
          <p:cNvSpPr txBox="1">
            <a:spLocks noGrp="1"/>
          </p:cNvSpPr>
          <p:nvPr>
            <p:ph type="sldNum" sz="quarter" idx="2"/>
          </p:nvPr>
        </p:nvSpPr>
        <p:spPr>
          <a:xfrm>
            <a:off x="10994391" y="6037580"/>
            <a:ext cx="260030" cy="281941"/>
          </a:xfrm>
          <a:prstGeom prst="rect">
            <a:avLst/>
          </a:prstGeom>
          <a:ln w="12700">
            <a:miter lim="400000"/>
          </a:ln>
        </p:spPr>
        <p:txBody>
          <a:bodyPr wrap="none" lIns="45719" rIns="45719" anchor="ctr">
            <a:spAutoFit/>
          </a:bodyPr>
          <a:lstStyle>
            <a:lvl1pPr algn="ctr">
              <a:defRPr sz="1200">
                <a:solidFill>
                  <a:srgbClr val="F3F3F3"/>
                </a:solidFill>
                <a:latin typeface="Montserrat Thin Regular"/>
                <a:ea typeface="Montserrat Thin Regular"/>
                <a:cs typeface="Montserrat Thin Regular"/>
                <a:sym typeface="Montserrat Thin Regular"/>
              </a:defRPr>
            </a:lvl1pPr>
          </a:lstStyle>
          <a:p>
            <a:fld id="{86CB4B4D-7CA3-9044-876B-883B54F8677D}" type="slidenum">
              <a:t>‹#›</a:t>
            </a:fld>
            <a:endParaRPr/>
          </a:p>
        </p:txBody>
      </p:sp>
      <p:pic>
        <p:nvPicPr>
          <p:cNvPr id="15" name="Picture 14">
            <a:extLst>
              <a:ext uri="{FF2B5EF4-FFF2-40B4-BE49-F238E27FC236}">
                <a16:creationId xmlns:a16="http://schemas.microsoft.com/office/drawing/2014/main" id="{91F89D20-AD04-C5B6-2ADA-4A310EB9D6F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564107" y="170244"/>
            <a:ext cx="535362" cy="535362"/>
          </a:xfrm>
          <a:prstGeom prst="rect">
            <a:avLst/>
          </a:prstGeom>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Lst>
  <p:transition spd="med"/>
  <p:txStyles>
    <p:titleStyle>
      <a:lvl1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1pPr>
      <a:lvl2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2pPr>
      <a:lvl3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3pPr>
      <a:lvl4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4pPr>
      <a:lvl5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5pPr>
      <a:lvl6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6pPr>
      <a:lvl7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7pPr>
      <a:lvl8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8pPr>
      <a:lvl9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9pPr>
    </p:titleStyle>
    <p:bodyStyle>
      <a:lvl1pPr marL="342900" marR="0" indent="-3429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1pPr>
      <a:lvl2pPr marL="783771" marR="0" indent="-326571"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2pPr>
      <a:lvl3pPr marL="1219200" marR="0" indent="-3048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3pPr>
      <a:lvl4pPr marL="17373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4pPr>
      <a:lvl5pPr marL="21945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5pPr>
      <a:lvl6pPr marL="26517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6pPr>
      <a:lvl7pPr marL="31089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7pPr>
      <a:lvl8pPr marL="35661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8pPr>
      <a:lvl9pPr marL="40233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9pPr>
    </p:bodyStyle>
    <p:otherStyle>
      <a:lvl1pPr marL="0" marR="0" indent="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1pPr>
      <a:lvl2pPr marL="0" marR="0" indent="457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2pPr>
      <a:lvl3pPr marL="0" marR="0" indent="914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3pPr>
      <a:lvl4pPr marL="0" marR="0" indent="1371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4pPr>
      <a:lvl5pPr marL="0" marR="0" indent="18288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5pPr>
      <a:lvl6pPr marL="0" marR="0" indent="22860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6pPr>
      <a:lvl7pPr marL="0" marR="0" indent="2743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7pPr>
      <a:lvl8pPr marL="0" marR="0" indent="3200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8pPr>
      <a:lvl9pPr marL="0" marR="0" indent="3657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3" name="Title Text"/>
          <p:cNvSpPr txBox="1">
            <a:spLocks noGrp="1"/>
          </p:cNvSpPr>
          <p:nvPr>
            <p:ph type="title"/>
          </p:nvPr>
        </p:nvSpPr>
        <p:spPr>
          <a:xfrm>
            <a:off x="535570" y="199209"/>
            <a:ext cx="7357752" cy="663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4" name="Rectangle 11"/>
          <p:cNvSpPr/>
          <p:nvPr/>
        </p:nvSpPr>
        <p:spPr>
          <a:xfrm>
            <a:off x="8497951" y="1"/>
            <a:ext cx="663915" cy="5143501"/>
          </a:xfrm>
          <a:prstGeom prst="rect">
            <a:avLst/>
          </a:prstGeom>
          <a:solidFill>
            <a:srgbClr val="3B3678"/>
          </a:solidFill>
          <a:ln w="12700">
            <a:miter lim="400000"/>
          </a:ln>
        </p:spPr>
        <p:txBody>
          <a:bodyPr lIns="45719" rIns="45719" anchor="ctr"/>
          <a:lstStyle/>
          <a:p>
            <a:pPr algn="ctr">
              <a:defRPr>
                <a:solidFill>
                  <a:srgbClr val="F3F3F3"/>
                </a:solidFill>
              </a:defRPr>
            </a:pPr>
            <a:endParaRPr/>
          </a:p>
        </p:txBody>
      </p:sp>
      <p:sp>
        <p:nvSpPr>
          <p:cNvPr id="5" name="Slide Number Placeholder 5"/>
          <p:cNvSpPr txBox="1"/>
          <p:nvPr/>
        </p:nvSpPr>
        <p:spPr>
          <a:xfrm>
            <a:off x="8600075" y="4820860"/>
            <a:ext cx="460637" cy="252616"/>
          </a:xfrm>
          <a:prstGeom prst="rect">
            <a:avLst/>
          </a:prstGeom>
          <a:ln w="12700">
            <a:miter lim="400000"/>
          </a:ln>
        </p:spPr>
        <p:txBody>
          <a:bodyPr lIns="45719" rIns="45719" anchor="ctr">
            <a:spAutoFit/>
          </a:bodyPr>
          <a:lstStyle/>
          <a:p>
            <a:pPr algn="ctr">
              <a:defRPr sz="1100">
                <a:solidFill>
                  <a:srgbClr val="F3F3F3"/>
                </a:solidFill>
                <a:latin typeface="PT Sans"/>
                <a:ea typeface="PT Sans"/>
                <a:cs typeface="PT Sans"/>
                <a:sym typeface="PT Sans"/>
              </a:defRPr>
            </a:pPr>
            <a:endParaRPr/>
          </a:p>
        </p:txBody>
      </p:sp>
      <p:sp>
        <p:nvSpPr>
          <p:cNvPr id="6" name="Straight Connector 15"/>
          <p:cNvSpPr/>
          <p:nvPr/>
        </p:nvSpPr>
        <p:spPr>
          <a:xfrm>
            <a:off x="153823" y="811850"/>
            <a:ext cx="1051135" cy="1"/>
          </a:xfrm>
          <a:prstGeom prst="line">
            <a:avLst/>
          </a:prstGeom>
          <a:ln w="12700">
            <a:solidFill>
              <a:schemeClr val="accent1"/>
            </a:solidFill>
          </a:ln>
        </p:spPr>
        <p:txBody>
          <a:bodyPr lIns="45719" rIns="45719"/>
          <a:lstStyle/>
          <a:p>
            <a:endParaRPr/>
          </a:p>
        </p:txBody>
      </p:sp>
      <p:sp>
        <p:nvSpPr>
          <p:cNvPr id="8"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lide Number"/>
          <p:cNvSpPr txBox="1">
            <a:spLocks noGrp="1"/>
          </p:cNvSpPr>
          <p:nvPr>
            <p:ph type="sldNum" sz="quarter" idx="2"/>
          </p:nvPr>
        </p:nvSpPr>
        <p:spPr>
          <a:xfrm>
            <a:off x="10994391" y="6037580"/>
            <a:ext cx="260030" cy="281941"/>
          </a:xfrm>
          <a:prstGeom prst="rect">
            <a:avLst/>
          </a:prstGeom>
          <a:ln w="12700">
            <a:miter lim="400000"/>
          </a:ln>
        </p:spPr>
        <p:txBody>
          <a:bodyPr wrap="none" lIns="45719" rIns="45719" anchor="ctr">
            <a:spAutoFit/>
          </a:bodyPr>
          <a:lstStyle>
            <a:lvl1pPr algn="ctr">
              <a:defRPr sz="1200">
                <a:solidFill>
                  <a:srgbClr val="F3F3F3"/>
                </a:solidFill>
                <a:latin typeface="Montserrat Thin Regular"/>
                <a:ea typeface="Montserrat Thin Regular"/>
                <a:cs typeface="Montserrat Thin Regular"/>
                <a:sym typeface="Montserrat Thin Regular"/>
              </a:defRPr>
            </a:lvl1pPr>
          </a:lstStyle>
          <a:p>
            <a:fld id="{86CB4B4D-7CA3-9044-876B-883B54F8677D}" type="slidenum">
              <a:t>‹#›</a:t>
            </a:fld>
            <a:endParaRPr/>
          </a:p>
        </p:txBody>
      </p:sp>
      <p:pic>
        <p:nvPicPr>
          <p:cNvPr id="15" name="Picture 14">
            <a:extLst>
              <a:ext uri="{FF2B5EF4-FFF2-40B4-BE49-F238E27FC236}">
                <a16:creationId xmlns:a16="http://schemas.microsoft.com/office/drawing/2014/main" id="{91F89D20-AD04-C5B6-2ADA-4A310EB9D6F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564107" y="170244"/>
            <a:ext cx="535362" cy="535362"/>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ransition spd="med"/>
  <p:txStyles>
    <p:titleStyle>
      <a:lvl1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1pPr>
      <a:lvl2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2pPr>
      <a:lvl3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3pPr>
      <a:lvl4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4pPr>
      <a:lvl5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5pPr>
      <a:lvl6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6pPr>
      <a:lvl7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7pPr>
      <a:lvl8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8pPr>
      <a:lvl9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9pPr>
    </p:titleStyle>
    <p:bodyStyle>
      <a:lvl1pPr marL="342900" marR="0" indent="-3429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1pPr>
      <a:lvl2pPr marL="783771" marR="0" indent="-326571"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2pPr>
      <a:lvl3pPr marL="1219200" marR="0" indent="-3048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3pPr>
      <a:lvl4pPr marL="17373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4pPr>
      <a:lvl5pPr marL="21945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5pPr>
      <a:lvl6pPr marL="26517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6pPr>
      <a:lvl7pPr marL="31089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7pPr>
      <a:lvl8pPr marL="35661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8pPr>
      <a:lvl9pPr marL="40233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9pPr>
    </p:bodyStyle>
    <p:otherStyle>
      <a:lvl1pPr marL="0" marR="0" indent="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1pPr>
      <a:lvl2pPr marL="0" marR="0" indent="457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2pPr>
      <a:lvl3pPr marL="0" marR="0" indent="914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3pPr>
      <a:lvl4pPr marL="0" marR="0" indent="1371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4pPr>
      <a:lvl5pPr marL="0" marR="0" indent="18288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5pPr>
      <a:lvl6pPr marL="0" marR="0" indent="22860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6pPr>
      <a:lvl7pPr marL="0" marR="0" indent="2743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7pPr>
      <a:lvl8pPr marL="0" marR="0" indent="3200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8pPr>
      <a:lvl9pPr marL="0" marR="0" indent="3657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3"/>
          <a:stretch>
            <a:fillRect/>
          </a:stretch>
        </p:blipFill>
        <p:spPr>
          <a:xfrm>
            <a:off x="-2" y="0"/>
            <a:ext cx="9172991" cy="5145543"/>
          </a:xfrm>
          <a:prstGeom prst="rect">
            <a:avLst/>
          </a:prstGeom>
        </p:spPr>
      </p:pic>
      <p:sp>
        <p:nvSpPr>
          <p:cNvPr id="3" name="Rectangle 2"/>
          <p:cNvSpPr/>
          <p:nvPr/>
        </p:nvSpPr>
        <p:spPr>
          <a:xfrm>
            <a:off x="-2" y="0"/>
            <a:ext cx="9201152" cy="5145543"/>
          </a:xfrm>
          <a:prstGeom prst="rect">
            <a:avLst/>
          </a:prstGeom>
          <a:solidFill>
            <a:srgbClr val="3B3678">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331019" y="469845"/>
            <a:ext cx="1970166" cy="724006"/>
          </a:xfrm>
          <a:prstGeom prst="rect">
            <a:avLst/>
          </a:prstGeom>
        </p:spPr>
      </p:pic>
      <p:sp>
        <p:nvSpPr>
          <p:cNvPr id="5" name="TextBox 4"/>
          <p:cNvSpPr txBox="1"/>
          <p:nvPr/>
        </p:nvSpPr>
        <p:spPr>
          <a:xfrm>
            <a:off x="1640260" y="466210"/>
            <a:ext cx="6046969" cy="259716"/>
          </a:xfrm>
          <a:prstGeom prst="rect">
            <a:avLst/>
          </a:prstGeom>
          <a:noFill/>
        </p:spPr>
        <p:txBody>
          <a:bodyPr wrap="none">
            <a:spAutoFit/>
          </a:bodyPr>
          <a:lstStyle/>
          <a:p>
            <a:pPr algn="ctr"/>
            <a:r>
              <a:rPr sz="1100" b="1">
                <a:solidFill>
                  <a:srgbClr val="F3F3F3"/>
                </a:solidFill>
                <a:latin typeface="Open Sans"/>
              </a:rPr>
              <a:t>BOARD OF DIRECTORS BRIEFING</a:t>
            </a:r>
          </a:p>
        </p:txBody>
      </p:sp>
      <p:sp>
        <p:nvSpPr>
          <p:cNvPr id="6" name="TextBox 5"/>
          <p:cNvSpPr txBox="1"/>
          <p:nvPr/>
        </p:nvSpPr>
        <p:spPr>
          <a:xfrm>
            <a:off x="113306" y="1270000"/>
            <a:ext cx="8917388" cy="1143000"/>
          </a:xfrm>
          <a:prstGeom prst="rect">
            <a:avLst/>
          </a:prstGeom>
          <a:noFill/>
        </p:spPr>
        <p:txBody>
          <a:bodyPr wrap="square" anchor="ctr">
            <a:spAutoFit/>
          </a:bodyPr>
          <a:lstStyle/>
          <a:p>
            <a:pPr algn="ctr"/>
            <a:r>
              <a:rPr sz="3400" b="1" dirty="0">
                <a:solidFill>
                  <a:srgbClr val="F3F3F3"/>
                </a:solidFill>
                <a:latin typeface="Open Sans"/>
              </a:rPr>
              <a:t>PDPL Compliance Project: Plan, Budget, Approval</a:t>
            </a:r>
          </a:p>
        </p:txBody>
      </p:sp>
      <p:sp>
        <p:nvSpPr>
          <p:cNvPr id="7" name="TextBox 6"/>
          <p:cNvSpPr txBox="1"/>
          <p:nvPr/>
        </p:nvSpPr>
        <p:spPr>
          <a:xfrm>
            <a:off x="1598058" y="2603500"/>
            <a:ext cx="5947884" cy="381000"/>
          </a:xfrm>
          <a:prstGeom prst="rect">
            <a:avLst/>
          </a:prstGeom>
          <a:noFill/>
        </p:spPr>
        <p:txBody>
          <a:bodyPr wrap="none" anchor="ctr">
            <a:spAutoFit/>
          </a:bodyPr>
          <a:lstStyle/>
          <a:p>
            <a:pPr algn="ctr"/>
            <a:r>
              <a:rPr sz="1500">
                <a:solidFill>
                  <a:srgbClr val="A6A2D5"/>
                </a:solidFill>
                <a:latin typeface="Open Sans"/>
              </a:rPr>
              <a:t>The plan, the cost and the approvals we need under Law 91/2025.</a:t>
            </a:r>
          </a:p>
        </p:txBody>
      </p:sp>
      <p:cxnSp>
        <p:nvCxnSpPr>
          <p:cNvPr id="8" name="Connector 7"/>
          <p:cNvCxnSpPr/>
          <p:nvPr/>
        </p:nvCxnSpPr>
        <p:spPr>
          <a:xfrm>
            <a:off x="4093143" y="3175000"/>
            <a:ext cx="1071128" cy="0"/>
          </a:xfrm>
          <a:prstGeom prst="line">
            <a:avLst/>
          </a:prstGeom>
          <a:ln w="9525">
            <a:solidFill>
              <a:srgbClr val="F3F3F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4318000"/>
            <a:ext cx="4318000" cy="254000"/>
          </a:xfrm>
          <a:prstGeom prst="rect">
            <a:avLst/>
          </a:prstGeom>
          <a:noFill/>
        </p:spPr>
        <p:txBody>
          <a:bodyPr wrap="square">
            <a:spAutoFit/>
          </a:bodyPr>
          <a:lstStyle/>
          <a:p>
            <a:pPr algn="l"/>
            <a:r>
              <a:rPr sz="1200">
                <a:solidFill>
                  <a:srgbClr val="F3F3F3"/>
                </a:solidFill>
                <a:latin typeface="Open Sans"/>
              </a:rPr>
              <a:t>Tran My Phuc, DPO / IT &amp; ISMS Manager</a:t>
            </a:r>
          </a:p>
        </p:txBody>
      </p:sp>
      <p:sp>
        <p:nvSpPr>
          <p:cNvPr id="10" name="TextBox 9"/>
          <p:cNvSpPr txBox="1"/>
          <p:nvPr/>
        </p:nvSpPr>
        <p:spPr>
          <a:xfrm>
            <a:off x="5334000" y="4318000"/>
            <a:ext cx="3302000" cy="254000"/>
          </a:xfrm>
          <a:prstGeom prst="rect">
            <a:avLst/>
          </a:prstGeom>
          <a:noFill/>
        </p:spPr>
        <p:txBody>
          <a:bodyPr wrap="square">
            <a:spAutoFit/>
          </a:bodyPr>
          <a:lstStyle/>
          <a:p>
            <a:pPr algn="r"/>
            <a:r>
              <a:rPr sz="1200">
                <a:solidFill>
                  <a:srgbClr val="F3F3F3"/>
                </a:solidFill>
                <a:latin typeface="Open Sans"/>
              </a:rPr>
              <a:t>October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Short Answer</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Approve Option A: start 05 October 2026, about $440 in cash.</a:t>
            </a:r>
          </a:p>
        </p:txBody>
      </p:sp>
      <p:sp>
        <p:nvSpPr>
          <p:cNvPr id="4" name="Number"/>
          <p:cNvSpPr/>
          <p:nvPr/>
        </p:nvSpPr>
        <p:spPr>
          <a:xfrm>
            <a:off x="621792" y="13716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1</a:t>
            </a:r>
          </a:p>
        </p:txBody>
      </p:sp>
      <p:sp>
        <p:nvSpPr>
          <p:cNvPr id="5" name="Column header"/>
          <p:cNvSpPr txBox="1"/>
          <p:nvPr/>
        </p:nvSpPr>
        <p:spPr>
          <a:xfrm>
            <a:off x="1124712" y="1371600"/>
            <a:ext cx="1828800" cy="384048"/>
          </a:xfrm>
          <a:prstGeom prst="rect">
            <a:avLst/>
          </a:prstGeom>
          <a:noFill/>
        </p:spPr>
        <p:txBody>
          <a:bodyPr wrap="square" lIns="0" rIns="0" tIns="0" bIns="0" anchor="ctr">
            <a:spAutoFit/>
          </a:bodyPr>
          <a:lstStyle/>
          <a:p>
            <a:pPr algn="l"/>
            <a:r>
              <a:rPr sz="1800" b="1" i="0">
                <a:solidFill>
                  <a:srgbClr val="3B3678"/>
                </a:solidFill>
                <a:latin typeface="Open Sans"/>
              </a:rPr>
              <a:t>Plan</a:t>
            </a:r>
          </a:p>
        </p:txBody>
      </p:sp>
      <p:sp>
        <p:nvSpPr>
          <p:cNvPr id="6" name="Column body"/>
          <p:cNvSpPr txBox="1"/>
          <p:nvPr/>
        </p:nvSpPr>
        <p:spPr>
          <a:xfrm>
            <a:off x="621792" y="2011680"/>
            <a:ext cx="2377440" cy="2377440"/>
          </a:xfrm>
          <a:prstGeom prst="rect">
            <a:avLst/>
          </a:prstGeom>
          <a:noFill/>
        </p:spPr>
        <p:txBody>
          <a:bodyPr wrap="square" lIns="0" rIns="0" tIns="0" bIns="0" anchor="t">
            <a:spAutoFit/>
          </a:bodyPr>
          <a:lstStyle/>
          <a:p>
            <a:pPr algn="l" marL="228600" indent="-228600">
              <a:spcAft>
                <a:spcPts val="1000"/>
              </a:spcAft>
              <a:buFont typeface="Arial"/>
              <a:buChar char="•"/>
            </a:pPr>
            <a:r>
              <a:rPr sz="1300" b="0" i="0">
                <a:solidFill>
                  <a:srgbClr val="3B3678"/>
                </a:solidFill>
                <a:latin typeface="Open Sans"/>
              </a:rPr>
              <a:t>27 tasks in 4 phases</a:t>
            </a:r>
          </a:p>
          <a:p>
            <a:pPr algn="l" marL="228600" indent="-228600">
              <a:spcAft>
                <a:spcPts val="1000"/>
              </a:spcAft>
              <a:buFont typeface="Arial"/>
              <a:buChar char="•"/>
            </a:pPr>
            <a:r>
              <a:rPr sz="1300" b="0" i="0">
                <a:solidFill>
                  <a:srgbClr val="3B3678"/>
                </a:solidFill>
                <a:latin typeface="Open Sans"/>
              </a:rPr>
              <a:t>05 Oct 2026 to 03 Feb 2027</a:t>
            </a:r>
          </a:p>
          <a:p>
            <a:pPr algn="l" marL="228600" indent="-228600">
              <a:spcAft>
                <a:spcPts val="1000"/>
              </a:spcAft>
              <a:buFont typeface="Arial"/>
              <a:buChar char="•"/>
            </a:pPr>
            <a:r>
              <a:rPr sz="1300" b="0" i="0">
                <a:solidFill>
                  <a:srgbClr val="3B3678"/>
                </a:solidFill>
                <a:latin typeface="Open Sans"/>
              </a:rPr>
              <a:t>Option A: full 34-day shift (recommended)</a:t>
            </a:r>
          </a:p>
        </p:txBody>
      </p:sp>
      <p:cxnSp>
        <p:nvCxnSpPr>
          <p:cNvPr id="7" name="Connector 6"/>
          <p:cNvCxnSpPr/>
          <p:nvPr/>
        </p:nvCxnSpPr>
        <p:spPr>
          <a:xfrm>
            <a:off x="3136392" y="1371600"/>
            <a:ext cx="0" cy="3017520"/>
          </a:xfrm>
          <a:prstGeom prst="line">
            <a:avLst/>
          </a:prstGeom>
          <a:ln w="9525">
            <a:solidFill>
              <a:srgbClr val="A7A7A7"/>
            </a:solidFill>
          </a:ln>
        </p:spPr>
        <p:style>
          <a:lnRef idx="2">
            <a:schemeClr val="accent1"/>
          </a:lnRef>
          <a:fillRef idx="0">
            <a:schemeClr val="accent1"/>
          </a:fillRef>
          <a:effectRef idx="1">
            <a:schemeClr val="accent1"/>
          </a:effectRef>
          <a:fontRef idx="minor">
            <a:schemeClr val="tx1"/>
          </a:fontRef>
        </p:style>
      </p:cxnSp>
      <p:sp>
        <p:nvSpPr>
          <p:cNvPr id="8" name="Number"/>
          <p:cNvSpPr/>
          <p:nvPr/>
        </p:nvSpPr>
        <p:spPr>
          <a:xfrm>
            <a:off x="3319272" y="13716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2</a:t>
            </a:r>
          </a:p>
        </p:txBody>
      </p:sp>
      <p:sp>
        <p:nvSpPr>
          <p:cNvPr id="9" name="Column header"/>
          <p:cNvSpPr txBox="1"/>
          <p:nvPr/>
        </p:nvSpPr>
        <p:spPr>
          <a:xfrm>
            <a:off x="3822192" y="1371600"/>
            <a:ext cx="1828800" cy="384048"/>
          </a:xfrm>
          <a:prstGeom prst="rect">
            <a:avLst/>
          </a:prstGeom>
          <a:noFill/>
        </p:spPr>
        <p:txBody>
          <a:bodyPr wrap="square" lIns="0" rIns="0" tIns="0" bIns="0" anchor="ctr">
            <a:spAutoFit/>
          </a:bodyPr>
          <a:lstStyle/>
          <a:p>
            <a:pPr algn="l"/>
            <a:r>
              <a:rPr sz="1800" b="1" i="0">
                <a:solidFill>
                  <a:srgbClr val="3B3678"/>
                </a:solidFill>
                <a:latin typeface="Open Sans"/>
              </a:rPr>
              <a:t>Cost</a:t>
            </a:r>
          </a:p>
        </p:txBody>
      </p:sp>
      <p:sp>
        <p:nvSpPr>
          <p:cNvPr id="10" name="Column body"/>
          <p:cNvSpPr txBox="1"/>
          <p:nvPr/>
        </p:nvSpPr>
        <p:spPr>
          <a:xfrm>
            <a:off x="3319272" y="2011680"/>
            <a:ext cx="2377440" cy="2377440"/>
          </a:xfrm>
          <a:prstGeom prst="rect">
            <a:avLst/>
          </a:prstGeom>
          <a:noFill/>
        </p:spPr>
        <p:txBody>
          <a:bodyPr wrap="square" lIns="0" rIns="0" tIns="0" bIns="0" anchor="t">
            <a:spAutoFit/>
          </a:bodyPr>
          <a:lstStyle/>
          <a:p>
            <a:pPr algn="l" marL="228600" indent="-228600">
              <a:spcAft>
                <a:spcPts val="1000"/>
              </a:spcAft>
              <a:buFont typeface="Arial"/>
              <a:buChar char="•"/>
            </a:pPr>
            <a:r>
              <a:rPr sz="1300" b="0" i="0">
                <a:solidFill>
                  <a:srgbClr val="3B3678"/>
                </a:solidFill>
                <a:latin typeface="Open Sans"/>
              </a:rPr>
              <a:t>About $440 cash: AI tool, 4 months, with tax</a:t>
            </a:r>
          </a:p>
          <a:p>
            <a:pPr algn="l" marL="228600" indent="-228600">
              <a:spcAft>
                <a:spcPts val="1000"/>
              </a:spcAft>
              <a:buFont typeface="Arial"/>
              <a:buChar char="•"/>
            </a:pPr>
            <a:r>
              <a:rPr sz="1300" b="0" i="0">
                <a:solidFill>
                  <a:srgbClr val="3B3678"/>
                </a:solidFill>
                <a:latin typeface="Open Sans"/>
              </a:rPr>
              <a:t>Could fall to $0 if shared with Einvoices</a:t>
            </a:r>
          </a:p>
          <a:p>
            <a:pPr algn="l" marL="228600" indent="-228600">
              <a:spcAft>
                <a:spcPts val="1000"/>
              </a:spcAft>
              <a:buFont typeface="Arial"/>
              <a:buChar char="•"/>
            </a:pPr>
            <a:r>
              <a:rPr sz="1300" b="0" i="0">
                <a:solidFill>
                  <a:srgbClr val="3B3678"/>
                </a:solidFill>
                <a:latin typeface="Open Sans"/>
              </a:rPr>
              <a:t>Legal review: quote still to come</a:t>
            </a:r>
          </a:p>
        </p:txBody>
      </p:sp>
      <p:cxnSp>
        <p:nvCxnSpPr>
          <p:cNvPr id="11" name="Connector 10"/>
          <p:cNvCxnSpPr/>
          <p:nvPr/>
        </p:nvCxnSpPr>
        <p:spPr>
          <a:xfrm>
            <a:off x="5833872" y="1371600"/>
            <a:ext cx="0" cy="3017520"/>
          </a:xfrm>
          <a:prstGeom prst="line">
            <a:avLst/>
          </a:prstGeom>
          <a:ln w="9525">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Number"/>
          <p:cNvSpPr/>
          <p:nvPr/>
        </p:nvSpPr>
        <p:spPr>
          <a:xfrm>
            <a:off x="6016752" y="13716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3</a:t>
            </a:r>
          </a:p>
        </p:txBody>
      </p:sp>
      <p:sp>
        <p:nvSpPr>
          <p:cNvPr id="13" name="Column header"/>
          <p:cNvSpPr txBox="1"/>
          <p:nvPr/>
        </p:nvSpPr>
        <p:spPr>
          <a:xfrm>
            <a:off x="6519672" y="1371600"/>
            <a:ext cx="1828800" cy="384048"/>
          </a:xfrm>
          <a:prstGeom prst="rect">
            <a:avLst/>
          </a:prstGeom>
          <a:noFill/>
        </p:spPr>
        <p:txBody>
          <a:bodyPr wrap="square" lIns="0" rIns="0" tIns="0" bIns="0" anchor="ctr">
            <a:spAutoFit/>
          </a:bodyPr>
          <a:lstStyle/>
          <a:p>
            <a:pPr algn="l"/>
            <a:r>
              <a:rPr sz="1800" b="1" i="0">
                <a:solidFill>
                  <a:srgbClr val="3B3678"/>
                </a:solidFill>
                <a:latin typeface="Open Sans"/>
              </a:rPr>
              <a:t>Decide</a:t>
            </a:r>
          </a:p>
        </p:txBody>
      </p:sp>
      <p:sp>
        <p:nvSpPr>
          <p:cNvPr id="14" name="Column body"/>
          <p:cNvSpPr txBox="1"/>
          <p:nvPr/>
        </p:nvSpPr>
        <p:spPr>
          <a:xfrm>
            <a:off x="6016752" y="2011680"/>
            <a:ext cx="2377440" cy="2377440"/>
          </a:xfrm>
          <a:prstGeom prst="rect">
            <a:avLst/>
          </a:prstGeom>
          <a:noFill/>
        </p:spPr>
        <p:txBody>
          <a:bodyPr wrap="square" lIns="0" rIns="0" tIns="0" bIns="0" anchor="t">
            <a:spAutoFit/>
          </a:bodyPr>
          <a:lstStyle/>
          <a:p>
            <a:pPr algn="l" marL="228600" indent="-228600">
              <a:spcAft>
                <a:spcPts val="1000"/>
              </a:spcAft>
              <a:buFont typeface="Arial"/>
              <a:buChar char="•"/>
            </a:pPr>
            <a:r>
              <a:rPr sz="1300" b="0" i="0">
                <a:solidFill>
                  <a:srgbClr val="3B3678"/>
                </a:solidFill>
                <a:latin typeface="Open Sans"/>
              </a:rPr>
              <a:t>Approve Option A and the budget</a:t>
            </a:r>
          </a:p>
          <a:p>
            <a:pPr algn="l" marL="228600" indent="-228600">
              <a:spcAft>
                <a:spcPts val="1000"/>
              </a:spcAft>
              <a:buFont typeface="Arial"/>
              <a:buChar char="•"/>
            </a:pPr>
            <a:r>
              <a:rPr sz="1300" b="0" i="0">
                <a:solidFill>
                  <a:srgbClr val="3B3678"/>
                </a:solidFill>
                <a:latin typeface="Open Sans"/>
              </a:rPr>
              <a:t>GM confirms the flagged task owners</a:t>
            </a:r>
          </a:p>
          <a:p>
            <a:pPr algn="l" marL="228600" indent="-228600">
              <a:spcAft>
                <a:spcPts val="1000"/>
              </a:spcAft>
              <a:buFont typeface="Arial"/>
              <a:buChar char="•"/>
            </a:pPr>
            <a:r>
              <a:rPr sz="1300" b="0" i="0">
                <a:solidFill>
                  <a:srgbClr val="3B3678"/>
                </a:solidFill>
                <a:latin typeface="Open Sans"/>
              </a:rPr>
              <a:t>Note the three open items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Now, and What Is in Scope</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Our own data first; client-side work is a separate workstream.</a:t>
            </a:r>
          </a:p>
        </p:txBody>
      </p:sp>
      <p:sp>
        <p:nvSpPr>
          <p:cNvPr id="4" name="Stat card"/>
          <p:cNvSpPr/>
          <p:nvPr/>
        </p:nvSpPr>
        <p:spPr>
          <a:xfrm>
            <a:off x="621792" y="1371600"/>
            <a:ext cx="2560320" cy="2743200"/>
          </a:xfrm>
          <a:prstGeom prst="roundRect">
            <a:avLst>
              <a:gd name="adj" fmla="val 5000"/>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5" name="Stat value"/>
          <p:cNvSpPr txBox="1"/>
          <p:nvPr/>
        </p:nvSpPr>
        <p:spPr>
          <a:xfrm>
            <a:off x="804672" y="1645920"/>
            <a:ext cx="2194560" cy="822960"/>
          </a:xfrm>
          <a:prstGeom prst="rect">
            <a:avLst/>
          </a:prstGeom>
          <a:noFill/>
        </p:spPr>
        <p:txBody>
          <a:bodyPr wrap="square" lIns="0" rIns="0" tIns="0" bIns="0" anchor="t">
            <a:spAutoFit/>
          </a:bodyPr>
          <a:lstStyle/>
          <a:p>
            <a:pPr algn="l"/>
            <a:r>
              <a:rPr sz="2600" b="1" i="0">
                <a:solidFill>
                  <a:srgbClr val="FFFFFF"/>
                </a:solidFill>
                <a:latin typeface="Open Sans"/>
              </a:rPr>
              <a:t>01 Jan 2026</a:t>
            </a:r>
          </a:p>
        </p:txBody>
      </p:sp>
      <p:sp>
        <p:nvSpPr>
          <p:cNvPr id="6" name="Stat label"/>
          <p:cNvSpPr txBox="1"/>
          <p:nvPr/>
        </p:nvSpPr>
        <p:spPr>
          <a:xfrm>
            <a:off x="804672" y="2423160"/>
            <a:ext cx="2194560" cy="822960"/>
          </a:xfrm>
          <a:prstGeom prst="rect">
            <a:avLst/>
          </a:prstGeom>
          <a:noFill/>
        </p:spPr>
        <p:txBody>
          <a:bodyPr wrap="square" lIns="0" rIns="0" tIns="0" bIns="0" anchor="t">
            <a:spAutoFit/>
          </a:bodyPr>
          <a:lstStyle/>
          <a:p>
            <a:pPr algn="l"/>
            <a:r>
              <a:rPr sz="1300" b="0" i="0">
                <a:solidFill>
                  <a:srgbClr val="FFFFFF"/>
                </a:solidFill>
                <a:latin typeface="Open Sans"/>
              </a:rPr>
              <a:t>Law 91/2025 is in force. Earlier filing reduces exposure under Decree 330/2026.</a:t>
            </a:r>
          </a:p>
        </p:txBody>
      </p:sp>
      <p:sp>
        <p:nvSpPr>
          <p:cNvPr id="7" name="Scope card"/>
          <p:cNvSpPr/>
          <p:nvPr/>
        </p:nvSpPr>
        <p:spPr>
          <a:xfrm>
            <a:off x="3456432" y="1371600"/>
            <a:ext cx="5029200" cy="12344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8" name="Pill"/>
          <p:cNvSpPr/>
          <p:nvPr/>
        </p:nvSpPr>
        <p:spPr>
          <a:xfrm>
            <a:off x="3639312" y="1554480"/>
            <a:ext cx="1097280" cy="274320"/>
          </a:xfrm>
          <a:prstGeom prst="roundRect">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In scope</a:t>
            </a:r>
          </a:p>
        </p:txBody>
      </p:sp>
      <p:sp>
        <p:nvSpPr>
          <p:cNvPr id="9" name="Card title"/>
          <p:cNvSpPr txBox="1"/>
          <p:nvPr/>
        </p:nvSpPr>
        <p:spPr>
          <a:xfrm>
            <a:off x="4873752" y="1554480"/>
            <a:ext cx="3429000" cy="274320"/>
          </a:xfrm>
          <a:prstGeom prst="rect">
            <a:avLst/>
          </a:prstGeom>
          <a:noFill/>
        </p:spPr>
        <p:txBody>
          <a:bodyPr wrap="square" lIns="0" rIns="0" tIns="0" bIns="0" anchor="ctr">
            <a:spAutoFit/>
          </a:bodyPr>
          <a:lstStyle/>
          <a:p>
            <a:pPr algn="l"/>
            <a:r>
              <a:rPr sz="1300" b="1" i="0">
                <a:solidFill>
                  <a:srgbClr val="3B3678"/>
                </a:solidFill>
                <a:latin typeface="Open Sans"/>
              </a:rPr>
              <a:t>SGH Asia's own data</a:t>
            </a:r>
          </a:p>
        </p:txBody>
      </p:sp>
      <p:sp>
        <p:nvSpPr>
          <p:cNvPr id="10" name="Card body"/>
          <p:cNvSpPr txBox="1"/>
          <p:nvPr/>
        </p:nvSpPr>
        <p:spPr>
          <a:xfrm>
            <a:off x="3639312" y="1965960"/>
            <a:ext cx="4663440" cy="548640"/>
          </a:xfrm>
          <a:prstGeom prst="rect">
            <a:avLst/>
          </a:prstGeom>
          <a:noFill/>
        </p:spPr>
        <p:txBody>
          <a:bodyPr wrap="square" lIns="0" rIns="0" tIns="0" bIns="0" anchor="t">
            <a:spAutoFit/>
          </a:bodyPr>
          <a:lstStyle/>
          <a:p>
            <a:pPr algn="l"/>
            <a:r>
              <a:rPr sz="1200" b="0" i="0">
                <a:solidFill>
                  <a:srgbClr val="3B3678"/>
                </a:solidFill>
                <a:latin typeface="Open Sans"/>
              </a:rPr>
              <a:t>Employees, candidates, vendor and client contacts: HR, payroll, CRM, marketing.</a:t>
            </a:r>
          </a:p>
        </p:txBody>
      </p:sp>
      <p:sp>
        <p:nvSpPr>
          <p:cNvPr id="11" name="Scope card"/>
          <p:cNvSpPr/>
          <p:nvPr/>
        </p:nvSpPr>
        <p:spPr>
          <a:xfrm>
            <a:off x="3456432" y="2743200"/>
            <a:ext cx="5029200" cy="12344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2" name="Pill"/>
          <p:cNvSpPr/>
          <p:nvPr/>
        </p:nvSpPr>
        <p:spPr>
          <a:xfrm>
            <a:off x="3639312" y="2926080"/>
            <a:ext cx="1097280" cy="274320"/>
          </a:xfrm>
          <a:prstGeom prst="roundRect">
            <a:avLst/>
          </a:prstGeom>
          <a:solidFill>
            <a:srgbClr val="D9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Out of scope</a:t>
            </a:r>
          </a:p>
        </p:txBody>
      </p:sp>
      <p:sp>
        <p:nvSpPr>
          <p:cNvPr id="13" name="Card title"/>
          <p:cNvSpPr txBox="1"/>
          <p:nvPr/>
        </p:nvSpPr>
        <p:spPr>
          <a:xfrm>
            <a:off x="4873752" y="2926080"/>
            <a:ext cx="3429000" cy="274320"/>
          </a:xfrm>
          <a:prstGeom prst="rect">
            <a:avLst/>
          </a:prstGeom>
          <a:noFill/>
        </p:spPr>
        <p:txBody>
          <a:bodyPr wrap="square" lIns="0" rIns="0" tIns="0" bIns="0" anchor="ctr">
            <a:spAutoFit/>
          </a:bodyPr>
          <a:lstStyle/>
          <a:p>
            <a:pPr algn="l"/>
            <a:r>
              <a:rPr sz="1300" b="1" i="0">
                <a:solidFill>
                  <a:srgbClr val="3B3678"/>
                </a:solidFill>
                <a:latin typeface="Open Sans"/>
              </a:rPr>
              <a:t>Data processed for clients</a:t>
            </a:r>
          </a:p>
        </p:txBody>
      </p:sp>
      <p:sp>
        <p:nvSpPr>
          <p:cNvPr id="14" name="Card body"/>
          <p:cNvSpPr txBox="1"/>
          <p:nvPr/>
        </p:nvSpPr>
        <p:spPr>
          <a:xfrm>
            <a:off x="3639312" y="3337560"/>
            <a:ext cx="4663440" cy="548640"/>
          </a:xfrm>
          <a:prstGeom prst="rect">
            <a:avLst/>
          </a:prstGeom>
          <a:noFill/>
        </p:spPr>
        <p:txBody>
          <a:bodyPr wrap="square" lIns="0" rIns="0" tIns="0" bIns="0" anchor="t">
            <a:spAutoFit/>
          </a:bodyPr>
          <a:lstStyle/>
          <a:p>
            <a:pPr algn="l"/>
            <a:r>
              <a:rPr sz="1200" b="0" i="0">
                <a:solidFill>
                  <a:srgbClr val="3B3678"/>
                </a:solidFill>
                <a:latin typeface="Open Sans"/>
              </a:rPr>
              <a:t>Client-side engagements such as Topicus. Client contracts are covered on a later slide.</a:t>
            </a:r>
          </a:p>
        </p:txBody>
      </p:sp>
      <p:sp>
        <p:nvSpPr>
          <p:cNvPr id="15" name="Footnote"/>
          <p:cNvSpPr txBox="1"/>
          <p:nvPr/>
        </p:nvSpPr>
        <p:spPr>
          <a:xfrm>
            <a:off x="621792" y="4343400"/>
            <a:ext cx="7863840" cy="274320"/>
          </a:xfrm>
          <a:prstGeom prst="rect">
            <a:avLst/>
          </a:prstGeom>
          <a:noFill/>
        </p:spPr>
        <p:txBody>
          <a:bodyPr wrap="square" lIns="0" rIns="0" tIns="0" bIns="0" anchor="t">
            <a:spAutoFit/>
          </a:bodyPr>
          <a:lstStyle/>
          <a:p>
            <a:pPr algn="l"/>
            <a:r>
              <a:rPr sz="1200" b="0" i="1">
                <a:solidFill>
                  <a:srgbClr val="3B3678"/>
                </a:solidFill>
                <a:latin typeface="Open Sans"/>
              </a:rPr>
              <a:t>Phase 0 settles SGH Asia's classification: advisory (Art. 15-16) or processor (Art. 20-27).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Roadmap: 4 Phases, 27 Tasks</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Option A, 05 Oct 2026 to 03 Feb 2027.</a:t>
            </a:r>
          </a:p>
        </p:txBody>
      </p:sp>
      <p:sp>
        <p:nvSpPr>
          <p:cNvPr id="4" name="Month"/>
          <p:cNvSpPr txBox="1"/>
          <p:nvPr/>
        </p:nvSpPr>
        <p:spPr>
          <a:xfrm>
            <a:off x="2871216" y="1371600"/>
            <a:ext cx="457200" cy="201168"/>
          </a:xfrm>
          <a:prstGeom prst="rect">
            <a:avLst/>
          </a:prstGeom>
          <a:noFill/>
        </p:spPr>
        <p:txBody>
          <a:bodyPr wrap="square" lIns="0" rIns="0" tIns="0" bIns="0" anchor="t">
            <a:spAutoFit/>
          </a:bodyPr>
          <a:lstStyle/>
          <a:p>
            <a:pPr algn="l"/>
            <a:r>
              <a:rPr sz="1100" b="1" i="0">
                <a:solidFill>
                  <a:srgbClr val="6B6B6B"/>
                </a:solidFill>
                <a:latin typeface="Open Sans"/>
              </a:rPr>
              <a:t>Oct</a:t>
            </a:r>
          </a:p>
        </p:txBody>
      </p:sp>
      <p:sp>
        <p:nvSpPr>
          <p:cNvPr id="5" name="Month"/>
          <p:cNvSpPr txBox="1"/>
          <p:nvPr/>
        </p:nvSpPr>
        <p:spPr>
          <a:xfrm>
            <a:off x="4136261" y="1371600"/>
            <a:ext cx="457200" cy="201168"/>
          </a:xfrm>
          <a:prstGeom prst="rect">
            <a:avLst/>
          </a:prstGeom>
          <a:noFill/>
        </p:spPr>
        <p:txBody>
          <a:bodyPr wrap="square" lIns="0" rIns="0" tIns="0" bIns="0" anchor="t">
            <a:spAutoFit/>
          </a:bodyPr>
          <a:lstStyle/>
          <a:p>
            <a:pPr algn="l"/>
            <a:r>
              <a:rPr sz="1100" b="1" i="0">
                <a:solidFill>
                  <a:srgbClr val="6B6B6B"/>
                </a:solidFill>
                <a:latin typeface="Open Sans"/>
              </a:rPr>
              <a:t>Nov</a:t>
            </a:r>
          </a:p>
        </p:txBody>
      </p:sp>
      <p:cxnSp>
        <p:nvCxnSpPr>
          <p:cNvPr id="6" name="Connector 5"/>
          <p:cNvCxnSpPr/>
          <p:nvPr/>
        </p:nvCxnSpPr>
        <p:spPr>
          <a:xfrm>
            <a:off x="4099685" y="1371600"/>
            <a:ext cx="0" cy="2788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Month"/>
          <p:cNvSpPr txBox="1"/>
          <p:nvPr/>
        </p:nvSpPr>
        <p:spPr>
          <a:xfrm>
            <a:off x="5541868" y="1371600"/>
            <a:ext cx="457200" cy="201168"/>
          </a:xfrm>
          <a:prstGeom prst="rect">
            <a:avLst/>
          </a:prstGeom>
          <a:noFill/>
        </p:spPr>
        <p:txBody>
          <a:bodyPr wrap="square" lIns="0" rIns="0" tIns="0" bIns="0" anchor="t">
            <a:spAutoFit/>
          </a:bodyPr>
          <a:lstStyle/>
          <a:p>
            <a:pPr algn="l"/>
            <a:r>
              <a:rPr sz="1100" b="1" i="0">
                <a:solidFill>
                  <a:srgbClr val="6B6B6B"/>
                </a:solidFill>
                <a:latin typeface="Open Sans"/>
              </a:rPr>
              <a:t>Dec</a:t>
            </a:r>
          </a:p>
        </p:txBody>
      </p:sp>
      <p:cxnSp>
        <p:nvCxnSpPr>
          <p:cNvPr id="8" name="Connector 7"/>
          <p:cNvCxnSpPr/>
          <p:nvPr/>
        </p:nvCxnSpPr>
        <p:spPr>
          <a:xfrm>
            <a:off x="5505292" y="1371600"/>
            <a:ext cx="0" cy="2788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Month"/>
          <p:cNvSpPr txBox="1"/>
          <p:nvPr/>
        </p:nvSpPr>
        <p:spPr>
          <a:xfrm>
            <a:off x="6994328" y="1371600"/>
            <a:ext cx="457200" cy="201168"/>
          </a:xfrm>
          <a:prstGeom prst="rect">
            <a:avLst/>
          </a:prstGeom>
          <a:noFill/>
        </p:spPr>
        <p:txBody>
          <a:bodyPr wrap="square" lIns="0" rIns="0" tIns="0" bIns="0" anchor="t">
            <a:spAutoFit/>
          </a:bodyPr>
          <a:lstStyle/>
          <a:p>
            <a:pPr algn="l"/>
            <a:r>
              <a:rPr sz="1100" b="1" i="0">
                <a:solidFill>
                  <a:srgbClr val="6B6B6B"/>
                </a:solidFill>
                <a:latin typeface="Open Sans"/>
              </a:rPr>
              <a:t>Jan</a:t>
            </a:r>
          </a:p>
        </p:txBody>
      </p:sp>
      <p:cxnSp>
        <p:nvCxnSpPr>
          <p:cNvPr id="10" name="Connector 9"/>
          <p:cNvCxnSpPr/>
          <p:nvPr/>
        </p:nvCxnSpPr>
        <p:spPr>
          <a:xfrm>
            <a:off x="6957752" y="1371600"/>
            <a:ext cx="0" cy="2788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1" name="Month"/>
          <p:cNvSpPr txBox="1"/>
          <p:nvPr/>
        </p:nvSpPr>
        <p:spPr>
          <a:xfrm>
            <a:off x="8446788" y="1371600"/>
            <a:ext cx="457200" cy="201168"/>
          </a:xfrm>
          <a:prstGeom prst="rect">
            <a:avLst/>
          </a:prstGeom>
          <a:noFill/>
        </p:spPr>
        <p:txBody>
          <a:bodyPr wrap="square" lIns="0" rIns="0" tIns="0" bIns="0" anchor="t">
            <a:spAutoFit/>
          </a:bodyPr>
          <a:lstStyle/>
          <a:p>
            <a:pPr algn="l"/>
            <a:r>
              <a:rPr sz="1100" b="1" i="0">
                <a:solidFill>
                  <a:srgbClr val="6B6B6B"/>
                </a:solidFill>
                <a:latin typeface="Open Sans"/>
              </a:rPr>
              <a:t>Feb</a:t>
            </a:r>
          </a:p>
        </p:txBody>
      </p:sp>
      <p:cxnSp>
        <p:nvCxnSpPr>
          <p:cNvPr id="12" name="Connector 11"/>
          <p:cNvCxnSpPr/>
          <p:nvPr/>
        </p:nvCxnSpPr>
        <p:spPr>
          <a:xfrm>
            <a:off x="8410212" y="1371600"/>
            <a:ext cx="0" cy="2788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Phase label"/>
          <p:cNvSpPr txBox="1"/>
          <p:nvPr/>
        </p:nvSpPr>
        <p:spPr>
          <a:xfrm>
            <a:off x="621792" y="1691640"/>
            <a:ext cx="2103120" cy="548640"/>
          </a:xfrm>
          <a:prstGeom prst="rect">
            <a:avLst/>
          </a:prstGeom>
          <a:noFill/>
        </p:spPr>
        <p:txBody>
          <a:bodyPr wrap="square" lIns="0" rIns="0" tIns="0" bIns="0" anchor="t">
            <a:spAutoFit/>
          </a:bodyPr>
          <a:lstStyle/>
          <a:p>
            <a:pPr algn="l"/>
            <a:r>
              <a:rPr sz="1000" b="1" i="0">
                <a:solidFill>
                  <a:srgbClr val="3B3678"/>
                </a:solidFill>
                <a:latin typeface="Open Sans"/>
              </a:rPr>
              <a:t>Phase 0</a:t>
            </a:r>
          </a:p>
          <a:p>
            <a:pPr algn="l"/>
            <a:r>
              <a:rPr sz="1000" b="0" i="0">
                <a:solidFill>
                  <a:srgbClr val="3B3678"/>
                </a:solidFill>
                <a:latin typeface="Open Sans"/>
              </a:rPr>
              <a:t>Governance &amp; Kickoff</a:t>
            </a:r>
          </a:p>
          <a:p>
            <a:pPr algn="l"/>
            <a:r>
              <a:rPr sz="1000" b="0" i="0">
                <a:solidFill>
                  <a:srgbClr val="3B3678"/>
                </a:solidFill>
                <a:latin typeface="Open Sans"/>
              </a:rPr>
              <a:t>05 Oct – 18 Oct · 6 tasks</a:t>
            </a:r>
          </a:p>
        </p:txBody>
      </p:sp>
      <p:sp>
        <p:nvSpPr>
          <p:cNvPr id="14" name="Phase bar"/>
          <p:cNvSpPr/>
          <p:nvPr/>
        </p:nvSpPr>
        <p:spPr>
          <a:xfrm>
            <a:off x="2834640" y="1783080"/>
            <a:ext cx="609096" cy="329184"/>
          </a:xfrm>
          <a:prstGeom prst="roundRect">
            <a:avLst>
              <a:gd name="adj" fmla="val 30000"/>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5" name="Phase label"/>
          <p:cNvSpPr txBox="1"/>
          <p:nvPr/>
        </p:nvSpPr>
        <p:spPr>
          <a:xfrm>
            <a:off x="621792" y="2313432"/>
            <a:ext cx="2103120" cy="548640"/>
          </a:xfrm>
          <a:prstGeom prst="rect">
            <a:avLst/>
          </a:prstGeom>
          <a:noFill/>
        </p:spPr>
        <p:txBody>
          <a:bodyPr wrap="square" lIns="0" rIns="0" tIns="0" bIns="0" anchor="t">
            <a:spAutoFit/>
          </a:bodyPr>
          <a:lstStyle/>
          <a:p>
            <a:pPr algn="l"/>
            <a:r>
              <a:rPr sz="1000" b="1" i="0">
                <a:solidFill>
                  <a:srgbClr val="3B3678"/>
                </a:solidFill>
                <a:latin typeface="Open Sans"/>
              </a:rPr>
              <a:t>Phase 1</a:t>
            </a:r>
          </a:p>
          <a:p>
            <a:pPr algn="l"/>
            <a:r>
              <a:rPr sz="1000" b="0" i="0">
                <a:solidFill>
                  <a:srgbClr val="3B3678"/>
                </a:solidFill>
                <a:latin typeface="Open Sans"/>
              </a:rPr>
              <a:t>Discovery &amp; Risk Assessment</a:t>
            </a:r>
          </a:p>
          <a:p>
            <a:pPr algn="l"/>
            <a:r>
              <a:rPr sz="1000" b="0" i="0">
                <a:solidFill>
                  <a:srgbClr val="3B3678"/>
                </a:solidFill>
                <a:latin typeface="Open Sans"/>
              </a:rPr>
              <a:t>05 Oct – 18 Nov · 6 tasks</a:t>
            </a:r>
          </a:p>
        </p:txBody>
      </p:sp>
      <p:sp>
        <p:nvSpPr>
          <p:cNvPr id="16" name="Phase bar"/>
          <p:cNvSpPr/>
          <p:nvPr/>
        </p:nvSpPr>
        <p:spPr>
          <a:xfrm>
            <a:off x="2834640" y="2404872"/>
            <a:ext cx="2061556" cy="329184"/>
          </a:xfrm>
          <a:prstGeom prst="roundRect">
            <a:avLst>
              <a:gd name="adj" fmla="val 3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7" name="Phase label"/>
          <p:cNvSpPr txBox="1"/>
          <p:nvPr/>
        </p:nvSpPr>
        <p:spPr>
          <a:xfrm>
            <a:off x="621792" y="2935224"/>
            <a:ext cx="2103120" cy="548640"/>
          </a:xfrm>
          <a:prstGeom prst="rect">
            <a:avLst/>
          </a:prstGeom>
          <a:noFill/>
        </p:spPr>
        <p:txBody>
          <a:bodyPr wrap="square" lIns="0" rIns="0" tIns="0" bIns="0" anchor="t">
            <a:spAutoFit/>
          </a:bodyPr>
          <a:lstStyle/>
          <a:p>
            <a:pPr algn="l"/>
            <a:r>
              <a:rPr sz="1000" b="1" i="0">
                <a:solidFill>
                  <a:srgbClr val="3B3678"/>
                </a:solidFill>
                <a:latin typeface="Open Sans"/>
              </a:rPr>
              <a:t>Phase 2</a:t>
            </a:r>
          </a:p>
          <a:p>
            <a:pPr algn="l"/>
            <a:r>
              <a:rPr sz="1000" b="0" i="0">
                <a:solidFill>
                  <a:srgbClr val="3B3678"/>
                </a:solidFill>
                <a:latin typeface="Open Sans"/>
              </a:rPr>
              <a:t>Documentation &amp; Contracts</a:t>
            </a:r>
          </a:p>
          <a:p>
            <a:pPr algn="l"/>
            <a:r>
              <a:rPr sz="1000" b="0" i="0">
                <a:solidFill>
                  <a:srgbClr val="3B3678"/>
                </a:solidFill>
                <a:latin typeface="Open Sans"/>
              </a:rPr>
              <a:t>18 Nov – 29 Dec · 5 tasks</a:t>
            </a:r>
          </a:p>
        </p:txBody>
      </p:sp>
      <p:sp>
        <p:nvSpPr>
          <p:cNvPr id="18" name="Phase bar"/>
          <p:cNvSpPr/>
          <p:nvPr/>
        </p:nvSpPr>
        <p:spPr>
          <a:xfrm>
            <a:off x="4896196" y="3026664"/>
            <a:ext cx="1920995" cy="329184"/>
          </a:xfrm>
          <a:prstGeom prst="roundRect">
            <a:avLst>
              <a:gd name="adj" fmla="val 30000"/>
            </a:avLst>
          </a:prstGeom>
          <a:solidFill>
            <a:srgbClr val="D9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9" name="Phase label"/>
          <p:cNvSpPr txBox="1"/>
          <p:nvPr/>
        </p:nvSpPr>
        <p:spPr>
          <a:xfrm>
            <a:off x="621792" y="3557016"/>
            <a:ext cx="2103120" cy="548640"/>
          </a:xfrm>
          <a:prstGeom prst="rect">
            <a:avLst/>
          </a:prstGeom>
          <a:noFill/>
        </p:spPr>
        <p:txBody>
          <a:bodyPr wrap="square" lIns="0" rIns="0" tIns="0" bIns="0" anchor="t">
            <a:spAutoFit/>
          </a:bodyPr>
          <a:lstStyle/>
          <a:p>
            <a:pPr algn="l"/>
            <a:r>
              <a:rPr sz="1000" b="1" i="0">
                <a:solidFill>
                  <a:srgbClr val="3B3678"/>
                </a:solidFill>
                <a:latin typeface="Open Sans"/>
              </a:rPr>
              <a:t>Phase 3</a:t>
            </a:r>
          </a:p>
          <a:p>
            <a:pPr algn="l"/>
            <a:r>
              <a:rPr sz="1000" b="0" i="0">
                <a:solidFill>
                  <a:srgbClr val="3B3678"/>
                </a:solidFill>
                <a:latin typeface="Open Sans"/>
              </a:rPr>
              <a:t>Technical Measures &amp; Filing</a:t>
            </a:r>
          </a:p>
          <a:p>
            <a:pPr algn="l"/>
            <a:r>
              <a:rPr sz="1000" b="0" i="0">
                <a:solidFill>
                  <a:srgbClr val="3B3678"/>
                </a:solidFill>
                <a:latin typeface="Open Sans"/>
              </a:rPr>
              <a:t>14 Dec – 03 Feb · 10 tasks</a:t>
            </a:r>
          </a:p>
        </p:txBody>
      </p:sp>
      <p:sp>
        <p:nvSpPr>
          <p:cNvPr id="20" name="Phase bar"/>
          <p:cNvSpPr/>
          <p:nvPr/>
        </p:nvSpPr>
        <p:spPr>
          <a:xfrm>
            <a:off x="6114388" y="3648456"/>
            <a:ext cx="2389531" cy="329184"/>
          </a:xfrm>
          <a:prstGeom prst="roundRect">
            <a:avLst>
              <a:gd name="adj" fmla="val 30000"/>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1" name="Milestone"/>
          <p:cNvSpPr/>
          <p:nvPr/>
        </p:nvSpPr>
        <p:spPr>
          <a:xfrm>
            <a:off x="7401123" y="3602736"/>
            <a:ext cx="237744" cy="237744"/>
          </a:xfrm>
          <a:prstGeom prst="diamond">
            <a:avLst/>
          </a:prstGeom>
          <a:solidFill>
            <a:srgbClr val="FFFFFF"/>
          </a:solidFill>
          <a:ln w="12700">
            <a:solidFill>
              <a:srgbClr val="3B367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2" name="Milestone"/>
          <p:cNvSpPr/>
          <p:nvPr/>
        </p:nvSpPr>
        <p:spPr>
          <a:xfrm>
            <a:off x="8385048" y="3602736"/>
            <a:ext cx="237744" cy="237744"/>
          </a:xfrm>
          <a:prstGeom prst="diamond">
            <a:avLst/>
          </a:prstGeom>
          <a:solidFill>
            <a:srgbClr val="FFFFFF"/>
          </a:solidFill>
          <a:ln w="12700">
            <a:solidFill>
              <a:srgbClr val="3B367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3" name="Legend mark"/>
          <p:cNvSpPr/>
          <p:nvPr/>
        </p:nvSpPr>
        <p:spPr>
          <a:xfrm>
            <a:off x="621792" y="4315968"/>
            <a:ext cx="201168" cy="201168"/>
          </a:xfrm>
          <a:prstGeom prst="diamond">
            <a:avLst/>
          </a:prstGeom>
          <a:solidFill>
            <a:srgbClr val="FFFFFF"/>
          </a:solidFill>
          <a:ln w="12700">
            <a:solidFill>
              <a:srgbClr val="3B367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4" name="Legend text"/>
          <p:cNvSpPr txBox="1"/>
          <p:nvPr/>
        </p:nvSpPr>
        <p:spPr>
          <a:xfrm>
            <a:off x="914400" y="4297680"/>
            <a:ext cx="7589520" cy="237744"/>
          </a:xfrm>
          <a:prstGeom prst="rect">
            <a:avLst/>
          </a:prstGeom>
          <a:noFill/>
        </p:spPr>
        <p:txBody>
          <a:bodyPr wrap="square" lIns="0" rIns="0" tIns="0" bIns="0" anchor="ctr">
            <a:spAutoFit/>
          </a:bodyPr>
          <a:lstStyle/>
          <a:p>
            <a:pPr algn="l"/>
            <a:r>
              <a:rPr sz="1100" b="0" i="0">
                <a:solidFill>
                  <a:srgbClr val="3B3678"/>
                </a:solidFill>
                <a:latin typeface="Open Sans"/>
              </a:rPr>
              <a:t>13 Jan 2027: DPO appointment filed with A05 Department.   03 Feb 2027: go-live sign-off.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Schedule Options</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Option A is recommended; Option B only if Dec 2026 becomes a hard deadline.</a:t>
            </a:r>
          </a:p>
        </p:txBody>
      </p:sp>
      <p:graphicFrame>
        <p:nvGraphicFramePr>
          <p:cNvPr id="4" name="Options table"/>
          <p:cNvGraphicFramePr>
            <a:graphicFrameLocks noGrp="1"/>
          </p:cNvGraphicFramePr>
          <p:nvPr/>
        </p:nvGraphicFramePr>
        <p:xfrm>
          <a:off x="621792" y="1371600"/>
          <a:ext cx="7863840" cy="2377440"/>
        </p:xfrm>
        <a:graphic>
          <a:graphicData uri="http://schemas.openxmlformats.org/drawingml/2006/table">
            <a:tbl>
              <a:tblPr firstRow="0" bandRow="0"/>
              <a:tblGrid>
                <a:gridCol w="3108960"/>
                <a:gridCol w="2377440"/>
                <a:gridCol w="2377440"/>
              </a:tblGrid>
              <a:tr h="475488">
                <a:tc>
                  <a:txBody>
                    <a:bodyPr/>
                    <a:lstStyle/>
                    <a:p>
                      <a:pPr algn="l"/>
                      <a:r>
                        <a:rPr sz="1300" b="1">
                          <a:solidFill>
                            <a:srgbClr val="FFFFFF"/>
                          </a:solidFill>
                          <a:latin typeface="Open Sans"/>
                        </a:rPr>
                        <a:t>Milestone</a:t>
                      </a:r>
                    </a:p>
                  </a:txBody>
                  <a:tcPr anchor="ctr" marL="137160" marR="137160">
                    <a:solidFill>
                      <a:srgbClr val="3B3678"/>
                    </a:solidFill>
                  </a:tcPr>
                </a:tc>
                <a:tc>
                  <a:txBody>
                    <a:bodyPr/>
                    <a:lstStyle/>
                    <a:p>
                      <a:pPr algn="l"/>
                      <a:r>
                        <a:rPr sz="1300" b="1">
                          <a:solidFill>
                            <a:srgbClr val="FFFFFF"/>
                          </a:solidFill>
                          <a:latin typeface="Open Sans"/>
                        </a:rPr>
                        <a:t>Option A: shift 34 days</a:t>
                      </a:r>
                    </a:p>
                  </a:txBody>
                  <a:tcPr anchor="ctr" marL="137160" marR="137160">
                    <a:solidFill>
                      <a:srgbClr val="3B3678"/>
                    </a:solidFill>
                  </a:tcPr>
                </a:tc>
                <a:tc>
                  <a:txBody>
                    <a:bodyPr/>
                    <a:lstStyle/>
                    <a:p>
                      <a:pPr algn="l"/>
                      <a:r>
                        <a:rPr sz="1300" b="1">
                          <a:solidFill>
                            <a:srgbClr val="FFFFFF"/>
                          </a:solidFill>
                          <a:latin typeface="Open Sans"/>
                        </a:rPr>
                        <a:t>Option B: contingency</a:t>
                      </a:r>
                    </a:p>
                  </a:txBody>
                  <a:tcPr anchor="ctr" marL="137160" marR="137160">
                    <a:solidFill>
                      <a:srgbClr val="3B3678"/>
                    </a:solidFill>
                  </a:tcPr>
                </a:tc>
              </a:tr>
              <a:tr h="475488">
                <a:tc>
                  <a:txBody>
                    <a:bodyPr/>
                    <a:lstStyle/>
                    <a:p>
                      <a:pPr algn="l"/>
                      <a:r>
                        <a:rPr sz="1300" b="1">
                          <a:solidFill>
                            <a:srgbClr val="3B3678"/>
                          </a:solidFill>
                          <a:latin typeface="Open Sans"/>
                        </a:rPr>
                        <a:t>DPO appointment filed with A05</a:t>
                      </a:r>
                    </a:p>
                  </a:txBody>
                  <a:tcPr anchor="ctr" marL="137160" marR="137160">
                    <a:solidFill>
                      <a:srgbClr val="FFFFFF"/>
                    </a:solidFill>
                  </a:tcPr>
                </a:tc>
                <a:tc>
                  <a:txBody>
                    <a:bodyPr/>
                    <a:lstStyle/>
                    <a:p>
                      <a:pPr algn="l"/>
                      <a:r>
                        <a:rPr sz="1300" b="0">
                          <a:solidFill>
                            <a:srgbClr val="3B3678"/>
                          </a:solidFill>
                          <a:latin typeface="Open Sans"/>
                        </a:rPr>
                        <a:t>13 Jan 2027</a:t>
                      </a:r>
                    </a:p>
                  </a:txBody>
                  <a:tcPr anchor="ctr" marL="137160" marR="137160">
                    <a:solidFill>
                      <a:srgbClr val="FFFFFF"/>
                    </a:solidFill>
                  </a:tcPr>
                </a:tc>
                <a:tc>
                  <a:txBody>
                    <a:bodyPr/>
                    <a:lstStyle/>
                    <a:p>
                      <a:pPr algn="l"/>
                      <a:r>
                        <a:rPr sz="1300" b="0">
                          <a:solidFill>
                            <a:srgbClr val="3B3678"/>
                          </a:solidFill>
                          <a:latin typeface="Open Sans"/>
                        </a:rPr>
                        <a:t>16 Dec 2026</a:t>
                      </a:r>
                    </a:p>
                  </a:txBody>
                  <a:tcPr anchor="ctr" marL="137160" marR="137160">
                    <a:solidFill>
                      <a:srgbClr val="FFFFFF"/>
                    </a:solidFill>
                  </a:tcPr>
                </a:tc>
              </a:tr>
              <a:tr h="475488">
                <a:tc>
                  <a:txBody>
                    <a:bodyPr/>
                    <a:lstStyle/>
                    <a:p>
                      <a:pPr algn="l"/>
                      <a:r>
                        <a:rPr sz="1300" b="1">
                          <a:solidFill>
                            <a:srgbClr val="3B3678"/>
                          </a:solidFill>
                          <a:latin typeface="Open Sans"/>
                        </a:rPr>
                        <a:t>Company-wide PDPL training</a:t>
                      </a:r>
                    </a:p>
                  </a:txBody>
                  <a:tcPr anchor="ctr" marL="137160" marR="137160">
                    <a:solidFill>
                      <a:srgbClr val="F3F3F3"/>
                    </a:solidFill>
                  </a:tcPr>
                </a:tc>
                <a:tc>
                  <a:txBody>
                    <a:bodyPr/>
                    <a:lstStyle/>
                    <a:p>
                      <a:pPr algn="l"/>
                      <a:r>
                        <a:rPr sz="1300" b="0">
                          <a:solidFill>
                            <a:srgbClr val="3B3678"/>
                          </a:solidFill>
                          <a:latin typeface="Open Sans"/>
                        </a:rPr>
                        <a:t>23 Jan 2027</a:t>
                      </a:r>
                    </a:p>
                  </a:txBody>
                  <a:tcPr anchor="ctr" marL="137160" marR="137160">
                    <a:solidFill>
                      <a:srgbClr val="F3F3F3"/>
                    </a:solidFill>
                  </a:tcPr>
                </a:tc>
                <a:tc>
                  <a:txBody>
                    <a:bodyPr/>
                    <a:lstStyle/>
                    <a:p>
                      <a:pPr algn="l"/>
                      <a:r>
                        <a:rPr sz="1300" b="0">
                          <a:solidFill>
                            <a:srgbClr val="3B3678"/>
                          </a:solidFill>
                          <a:latin typeface="Open Sans"/>
                        </a:rPr>
                        <a:t>23 Dec 2026</a:t>
                      </a:r>
                    </a:p>
                  </a:txBody>
                  <a:tcPr anchor="ctr" marL="137160" marR="137160">
                    <a:solidFill>
                      <a:srgbClr val="F3F3F3"/>
                    </a:solidFill>
                  </a:tcPr>
                </a:tc>
              </a:tr>
              <a:tr h="475488">
                <a:tc>
                  <a:txBody>
                    <a:bodyPr/>
                    <a:lstStyle/>
                    <a:p>
                      <a:pPr algn="l"/>
                      <a:r>
                        <a:rPr sz="1300" b="1">
                          <a:solidFill>
                            <a:srgbClr val="3B3678"/>
                          </a:solidFill>
                          <a:latin typeface="Open Sans"/>
                        </a:rPr>
                        <a:t>Go-live sign-off</a:t>
                      </a:r>
                    </a:p>
                  </a:txBody>
                  <a:tcPr anchor="ctr" marL="137160" marR="137160">
                    <a:solidFill>
                      <a:srgbClr val="FFFFFF"/>
                    </a:solidFill>
                  </a:tcPr>
                </a:tc>
                <a:tc>
                  <a:txBody>
                    <a:bodyPr/>
                    <a:lstStyle/>
                    <a:p>
                      <a:pPr algn="l"/>
                      <a:r>
                        <a:rPr sz="1300" b="0">
                          <a:solidFill>
                            <a:srgbClr val="3B3678"/>
                          </a:solidFill>
                          <a:latin typeface="Open Sans"/>
                        </a:rPr>
                        <a:t>03 Feb 2027</a:t>
                      </a:r>
                    </a:p>
                  </a:txBody>
                  <a:tcPr anchor="ctr" marL="137160" marR="137160">
                    <a:solidFill>
                      <a:srgbClr val="FFFFFF"/>
                    </a:solidFill>
                  </a:tcPr>
                </a:tc>
                <a:tc>
                  <a:txBody>
                    <a:bodyPr/>
                    <a:lstStyle/>
                    <a:p>
                      <a:pPr algn="l"/>
                      <a:r>
                        <a:rPr sz="1300" b="0">
                          <a:solidFill>
                            <a:srgbClr val="3B3678"/>
                          </a:solidFill>
                          <a:latin typeface="Open Sans"/>
                        </a:rPr>
                        <a:t>31 Dec 2026</a:t>
                      </a:r>
                    </a:p>
                  </a:txBody>
                  <a:tcPr anchor="ctr" marL="137160" marR="137160">
                    <a:solidFill>
                      <a:srgbClr val="FFFFFF"/>
                    </a:solidFill>
                  </a:tcPr>
                </a:tc>
              </a:tr>
              <a:tr h="475488">
                <a:tc>
                  <a:txBody>
                    <a:bodyPr/>
                    <a:lstStyle/>
                    <a:p>
                      <a:pPr algn="l"/>
                      <a:r>
                        <a:rPr sz="1300" b="1">
                          <a:solidFill>
                            <a:srgbClr val="3B3678"/>
                          </a:solidFill>
                          <a:latin typeface="Open Sans"/>
                        </a:rPr>
                        <a:t>Status</a:t>
                      </a:r>
                    </a:p>
                  </a:txBody>
                  <a:tcPr anchor="ctr" marL="137160" marR="137160">
                    <a:solidFill>
                      <a:srgbClr val="F3F3F3"/>
                    </a:solidFill>
                  </a:tcPr>
                </a:tc>
                <a:tc>
                  <a:txBody>
                    <a:bodyPr/>
                    <a:lstStyle/>
                    <a:p>
                      <a:pPr algn="l"/>
                      <a:r>
                        <a:rPr sz="1300" b="1">
                          <a:solidFill>
                            <a:srgbClr val="3FB1A0"/>
                          </a:solidFill>
                          <a:latin typeface="Open Sans"/>
                        </a:rPr>
                        <a:t>Recommended</a:t>
                      </a:r>
                    </a:p>
                  </a:txBody>
                  <a:tcPr anchor="ctr" marL="137160" marR="137160">
                    <a:solidFill>
                      <a:srgbClr val="F3F3F3"/>
                    </a:solidFill>
                  </a:tcPr>
                </a:tc>
                <a:tc>
                  <a:txBody>
                    <a:bodyPr/>
                    <a:lstStyle/>
                    <a:p>
                      <a:pPr algn="l"/>
                      <a:r>
                        <a:rPr sz="1300" b="0">
                          <a:solidFill>
                            <a:srgbClr val="3B3678"/>
                          </a:solidFill>
                          <a:latin typeface="Open Sans"/>
                        </a:rPr>
                        <a:t>Contingency only</a:t>
                      </a:r>
                    </a:p>
                  </a:txBody>
                  <a:tcPr anchor="ctr" marL="137160" marR="137160">
                    <a:solidFill>
                      <a:srgbClr val="F3F3F3"/>
                    </a:solidFill>
                  </a:tcPr>
                </a:tc>
              </a:tr>
            </a:tbl>
          </a:graphicData>
        </a:graphic>
      </p:graphicFrame>
      <p:sp>
        <p:nvSpPr>
          <p:cNvPr id="5" name="Footnote"/>
          <p:cNvSpPr txBox="1"/>
          <p:nvPr/>
        </p:nvSpPr>
        <p:spPr>
          <a:xfrm>
            <a:off x="621792" y="4023360"/>
            <a:ext cx="7863840" cy="457200"/>
          </a:xfrm>
          <a:prstGeom prst="rect">
            <a:avLst/>
          </a:prstGeom>
          <a:noFill/>
        </p:spPr>
        <p:txBody>
          <a:bodyPr wrap="square" lIns="0" rIns="0" tIns="0" bIns="0" anchor="t">
            <a:spAutoFit/>
          </a:bodyPr>
          <a:lstStyle/>
          <a:p>
            <a:pPr algn="l"/>
            <a:r>
              <a:rPr sz="1200" b="0" i="1">
                <a:solidFill>
                  <a:srgbClr val="3B3678"/>
                </a:solidFill>
                <a:latin typeface="Open Sans"/>
              </a:rPr>
              <a:t>External legal review (LTT &amp; Lawyers, Phase 2) runs on its own turnaround under either option.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Budget: About $440 in Cash</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One line has a figure. Everything else is no cash or waits for a quote.</a:t>
            </a:r>
          </a:p>
        </p:txBody>
      </p:sp>
      <p:sp>
        <p:nvSpPr>
          <p:cNvPr id="4" name="Stat card"/>
          <p:cNvSpPr/>
          <p:nvPr/>
        </p:nvSpPr>
        <p:spPr>
          <a:xfrm>
            <a:off x="621792" y="1371600"/>
            <a:ext cx="3017520" cy="2743200"/>
          </a:xfrm>
          <a:prstGeom prst="roundRect">
            <a:avLst>
              <a:gd name="adj" fmla="val 5000"/>
            </a:avLst>
          </a:prstGeom>
          <a:solidFill>
            <a:srgbClr val="3B367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5" name="Stat value"/>
          <p:cNvSpPr txBox="1"/>
          <p:nvPr/>
        </p:nvSpPr>
        <p:spPr>
          <a:xfrm>
            <a:off x="804672" y="1600200"/>
            <a:ext cx="2651760" cy="731520"/>
          </a:xfrm>
          <a:prstGeom prst="rect">
            <a:avLst/>
          </a:prstGeom>
          <a:noFill/>
        </p:spPr>
        <p:txBody>
          <a:bodyPr wrap="square" lIns="0" rIns="0" tIns="0" bIns="0" anchor="t">
            <a:spAutoFit/>
          </a:bodyPr>
          <a:lstStyle/>
          <a:p>
            <a:pPr algn="l"/>
            <a:r>
              <a:rPr sz="4400" b="1" i="0">
                <a:solidFill>
                  <a:srgbClr val="FFFFFF"/>
                </a:solidFill>
                <a:latin typeface="Open Sans"/>
              </a:rPr>
              <a:t>$440</a:t>
            </a:r>
          </a:p>
        </p:txBody>
      </p:sp>
      <p:sp>
        <p:nvSpPr>
          <p:cNvPr id="6" name="Stat label"/>
          <p:cNvSpPr txBox="1"/>
          <p:nvPr/>
        </p:nvSpPr>
        <p:spPr>
          <a:xfrm>
            <a:off x="804672" y="2423160"/>
            <a:ext cx="2651760" cy="822960"/>
          </a:xfrm>
          <a:prstGeom prst="rect">
            <a:avLst/>
          </a:prstGeom>
          <a:noFill/>
        </p:spPr>
        <p:txBody>
          <a:bodyPr wrap="square" lIns="0" rIns="0" tIns="0" bIns="0" anchor="t">
            <a:spAutoFit/>
          </a:bodyPr>
          <a:lstStyle/>
          <a:p>
            <a:pPr algn="l"/>
            <a:r>
              <a:rPr sz="1200" b="0" i="0">
                <a:solidFill>
                  <a:srgbClr val="FFFFFF"/>
                </a:solidFill>
                <a:latin typeface="Open Sans"/>
              </a:rPr>
              <a:t>Estimated cash cost: AI tool, 4 months, including ~10% foreign contractor tax.</a:t>
            </a:r>
          </a:p>
        </p:txBody>
      </p:sp>
      <p:sp>
        <p:nvSpPr>
          <p:cNvPr id="7" name="Stat note"/>
          <p:cNvSpPr txBox="1"/>
          <p:nvPr/>
        </p:nvSpPr>
        <p:spPr>
          <a:xfrm>
            <a:off x="804672" y="3337560"/>
            <a:ext cx="2651760" cy="640080"/>
          </a:xfrm>
          <a:prstGeom prst="rect">
            <a:avLst/>
          </a:prstGeom>
          <a:noFill/>
        </p:spPr>
        <p:txBody>
          <a:bodyPr wrap="square" lIns="0" rIns="0" tIns="0" bIns="0" anchor="t">
            <a:spAutoFit/>
          </a:bodyPr>
          <a:lstStyle/>
          <a:p>
            <a:pPr algn="l"/>
            <a:r>
              <a:rPr sz="1200" b="0" i="1">
                <a:solidFill>
                  <a:srgbClr val="A6A2D5"/>
                </a:solidFill>
                <a:latin typeface="Open Sans"/>
              </a:rPr>
              <a:t>Could be $0 if shared with the Einvoices subscription.</a:t>
            </a:r>
          </a:p>
        </p:txBody>
      </p:sp>
      <p:sp>
        <p:nvSpPr>
          <p:cNvPr id="8" name="Pill"/>
          <p:cNvSpPr/>
          <p:nvPr/>
        </p:nvSpPr>
        <p:spPr>
          <a:xfrm>
            <a:off x="3931920" y="1371600"/>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No cash</a:t>
            </a:r>
          </a:p>
        </p:txBody>
      </p:sp>
      <p:sp>
        <p:nvSpPr>
          <p:cNvPr id="9" name="Item text"/>
          <p:cNvSpPr txBox="1"/>
          <p:nvPr/>
        </p:nvSpPr>
        <p:spPr>
          <a:xfrm>
            <a:off x="5303520" y="1371600"/>
            <a:ext cx="3200400" cy="329184"/>
          </a:xfrm>
          <a:prstGeom prst="rect">
            <a:avLst/>
          </a:prstGeom>
          <a:noFill/>
        </p:spPr>
        <p:txBody>
          <a:bodyPr wrap="square" lIns="0" rIns="0" tIns="0" bIns="0" anchor="ctr">
            <a:spAutoFit/>
          </a:bodyPr>
          <a:lstStyle/>
          <a:p>
            <a:pPr algn="l"/>
            <a:r>
              <a:rPr sz="1200" b="0" i="0">
                <a:solidFill>
                  <a:srgbClr val="3B3678"/>
                </a:solidFill>
                <a:latin typeface="Open Sans"/>
              </a:rPr>
              <a:t>Internal effort: 32.75 man-days</a:t>
            </a:r>
          </a:p>
        </p:txBody>
      </p:sp>
      <p:sp>
        <p:nvSpPr>
          <p:cNvPr id="10" name="Pill"/>
          <p:cNvSpPr/>
          <p:nvPr/>
        </p:nvSpPr>
        <p:spPr>
          <a:xfrm>
            <a:off x="3931920" y="1847088"/>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No cash</a:t>
            </a:r>
          </a:p>
        </p:txBody>
      </p:sp>
      <p:sp>
        <p:nvSpPr>
          <p:cNvPr id="11" name="Item text"/>
          <p:cNvSpPr txBox="1"/>
          <p:nvPr/>
        </p:nvSpPr>
        <p:spPr>
          <a:xfrm>
            <a:off x="5303520" y="1847088"/>
            <a:ext cx="3200400" cy="329184"/>
          </a:xfrm>
          <a:prstGeom prst="rect">
            <a:avLst/>
          </a:prstGeom>
          <a:noFill/>
        </p:spPr>
        <p:txBody>
          <a:bodyPr wrap="square" lIns="0" rIns="0" tIns="0" bIns="0" anchor="ctr">
            <a:spAutoFit/>
          </a:bodyPr>
          <a:lstStyle/>
          <a:p>
            <a:pPr algn="l"/>
            <a:r>
              <a:rPr sz="1200" b="0" i="0">
                <a:solidFill>
                  <a:srgbClr val="3B3678"/>
                </a:solidFill>
                <a:latin typeface="Open Sans"/>
              </a:rPr>
              <a:t>Translation: drafted in-house</a:t>
            </a:r>
          </a:p>
        </p:txBody>
      </p:sp>
      <p:sp>
        <p:nvSpPr>
          <p:cNvPr id="12" name="Pill"/>
          <p:cNvSpPr/>
          <p:nvPr/>
        </p:nvSpPr>
        <p:spPr>
          <a:xfrm>
            <a:off x="3931920" y="2322576"/>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No cash</a:t>
            </a:r>
          </a:p>
        </p:txBody>
      </p:sp>
      <p:sp>
        <p:nvSpPr>
          <p:cNvPr id="13" name="Item text"/>
          <p:cNvSpPr txBox="1"/>
          <p:nvPr/>
        </p:nvSpPr>
        <p:spPr>
          <a:xfrm>
            <a:off x="5303520" y="2322576"/>
            <a:ext cx="3200400" cy="329184"/>
          </a:xfrm>
          <a:prstGeom prst="rect">
            <a:avLst/>
          </a:prstGeom>
          <a:noFill/>
        </p:spPr>
        <p:txBody>
          <a:bodyPr wrap="square" lIns="0" rIns="0" tIns="0" bIns="0" anchor="ctr">
            <a:spAutoFit/>
          </a:bodyPr>
          <a:lstStyle/>
          <a:p>
            <a:pPr algn="l"/>
            <a:r>
              <a:rPr sz="1200" b="0" i="0">
                <a:solidFill>
                  <a:srgbClr val="3B3678"/>
                </a:solidFill>
                <a:latin typeface="Open Sans"/>
              </a:rPr>
              <a:t>PDPL training: by the DPO team</a:t>
            </a:r>
          </a:p>
        </p:txBody>
      </p:sp>
      <p:sp>
        <p:nvSpPr>
          <p:cNvPr id="14" name="Pill"/>
          <p:cNvSpPr/>
          <p:nvPr/>
        </p:nvSpPr>
        <p:spPr>
          <a:xfrm>
            <a:off x="3931920" y="2798064"/>
            <a:ext cx="1188720" cy="329184"/>
          </a:xfrm>
          <a:prstGeom prst="roundRect">
            <a:avLst>
              <a:gd name="adj" fmla="val 20000"/>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No cash</a:t>
            </a:r>
          </a:p>
        </p:txBody>
      </p:sp>
      <p:sp>
        <p:nvSpPr>
          <p:cNvPr id="15" name="Item text"/>
          <p:cNvSpPr txBox="1"/>
          <p:nvPr/>
        </p:nvSpPr>
        <p:spPr>
          <a:xfrm>
            <a:off x="5303520" y="2798064"/>
            <a:ext cx="3200400" cy="329184"/>
          </a:xfrm>
          <a:prstGeom prst="rect">
            <a:avLst/>
          </a:prstGeom>
          <a:noFill/>
        </p:spPr>
        <p:txBody>
          <a:bodyPr wrap="square" lIns="0" rIns="0" tIns="0" bIns="0" anchor="ctr">
            <a:spAutoFit/>
          </a:bodyPr>
          <a:lstStyle/>
          <a:p>
            <a:pPr algn="l"/>
            <a:r>
              <a:rPr sz="1200" b="0" i="0">
                <a:solidFill>
                  <a:srgbClr val="3B3678"/>
                </a:solidFill>
                <a:latin typeface="Open Sans"/>
              </a:rPr>
              <a:t>Tooling: M365 already in use</a:t>
            </a:r>
          </a:p>
        </p:txBody>
      </p:sp>
      <p:sp>
        <p:nvSpPr>
          <p:cNvPr id="16" name="Pill"/>
          <p:cNvSpPr/>
          <p:nvPr/>
        </p:nvSpPr>
        <p:spPr>
          <a:xfrm>
            <a:off x="3931920" y="3273552"/>
            <a:ext cx="1188720" cy="329184"/>
          </a:xfrm>
          <a:prstGeom prst="roundRect">
            <a:avLst>
              <a:gd name="adj" fmla="val 20000"/>
            </a:avLst>
          </a:prstGeom>
          <a:solidFill>
            <a:srgbClr val="D9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Finance</a:t>
            </a:r>
          </a:p>
        </p:txBody>
      </p:sp>
      <p:sp>
        <p:nvSpPr>
          <p:cNvPr id="17" name="Item text"/>
          <p:cNvSpPr txBox="1"/>
          <p:nvPr/>
        </p:nvSpPr>
        <p:spPr>
          <a:xfrm>
            <a:off x="5303520" y="3273552"/>
            <a:ext cx="3200400" cy="329184"/>
          </a:xfrm>
          <a:prstGeom prst="rect">
            <a:avLst/>
          </a:prstGeom>
          <a:noFill/>
        </p:spPr>
        <p:txBody>
          <a:bodyPr wrap="square" lIns="0" rIns="0" tIns="0" bIns="0" anchor="ctr">
            <a:spAutoFit/>
          </a:bodyPr>
          <a:lstStyle/>
          <a:p>
            <a:pPr algn="l"/>
            <a:r>
              <a:rPr sz="1200" b="0" i="0">
                <a:solidFill>
                  <a:srgbClr val="3B3678"/>
                </a:solidFill>
                <a:latin typeface="Open Sans"/>
              </a:rPr>
              <a:t>AI tool: $400 + ~$40 tax</a:t>
            </a:r>
          </a:p>
        </p:txBody>
      </p:sp>
      <p:sp>
        <p:nvSpPr>
          <p:cNvPr id="18" name="Pill"/>
          <p:cNvSpPr/>
          <p:nvPr/>
        </p:nvSpPr>
        <p:spPr>
          <a:xfrm>
            <a:off x="3931920" y="3749039"/>
            <a:ext cx="1188720" cy="329184"/>
          </a:xfrm>
          <a:prstGeom prst="roundRect">
            <a:avLst>
              <a:gd name="adj" fmla="val 20000"/>
            </a:avLst>
          </a:prstGeom>
          <a:solidFill>
            <a:srgbClr val="D9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Needs quote</a:t>
            </a:r>
          </a:p>
        </p:txBody>
      </p:sp>
      <p:sp>
        <p:nvSpPr>
          <p:cNvPr id="19" name="Item text"/>
          <p:cNvSpPr txBox="1"/>
          <p:nvPr/>
        </p:nvSpPr>
        <p:spPr>
          <a:xfrm>
            <a:off x="5303520" y="3749039"/>
            <a:ext cx="3200400" cy="329184"/>
          </a:xfrm>
          <a:prstGeom prst="rect">
            <a:avLst/>
          </a:prstGeom>
          <a:noFill/>
        </p:spPr>
        <p:txBody>
          <a:bodyPr wrap="square" lIns="0" rIns="0" tIns="0" bIns="0" anchor="ctr">
            <a:spAutoFit/>
          </a:bodyPr>
          <a:lstStyle/>
          <a:p>
            <a:pPr algn="l"/>
            <a:r>
              <a:rPr sz="1200" b="0" i="0">
                <a:solidFill>
                  <a:srgbClr val="3B3678"/>
                </a:solidFill>
                <a:latin typeface="Open Sans"/>
              </a:rPr>
              <a:t>External legal review (LTT)</a:t>
            </a:r>
          </a:p>
        </p:txBody>
      </p:sp>
      <p:sp>
        <p:nvSpPr>
          <p:cNvPr id="20" name="Footnote"/>
          <p:cNvSpPr txBox="1"/>
          <p:nvPr/>
        </p:nvSpPr>
        <p:spPr>
          <a:xfrm>
            <a:off x="621792" y="4370832"/>
            <a:ext cx="7863840" cy="274320"/>
          </a:xfrm>
          <a:prstGeom prst="rect">
            <a:avLst/>
          </a:prstGeom>
          <a:noFill/>
        </p:spPr>
        <p:txBody>
          <a:bodyPr wrap="square" lIns="0" rIns="0" tIns="0" bIns="0" anchor="t">
            <a:spAutoFit/>
          </a:bodyPr>
          <a:lstStyle/>
          <a:p>
            <a:pPr algn="l"/>
            <a:r>
              <a:rPr sz="1200" b="0" i="1">
                <a:solidFill>
                  <a:srgbClr val="3B3678"/>
                </a:solidFill>
                <a:latin typeface="Open Sans"/>
              </a:rPr>
              <a:t>Finance (Man Thi Loc) confirms the tax treatment before the figure is final.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Internal Effort: 32.75 Man-Days</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Man-days by phase and department. No cash outlay.</a:t>
            </a:r>
          </a:p>
        </p:txBody>
      </p:sp>
      <p:graphicFrame>
        <p:nvGraphicFramePr>
          <p:cNvPr id="4" name="Effort chart"/>
          <p:cNvGraphicFramePr>
            <a:graphicFrameLocks noGrp="1"/>
          </p:cNvGraphicFramePr>
          <p:nvPr/>
        </p:nvGraphicFramePr>
        <p:xfrm>
          <a:off x="621792" y="1280160"/>
          <a:ext cx="4937760" cy="3200400"/>
        </p:xfrm>
        <a:graphic>
          <a:graphicData uri="http://schemas.openxmlformats.org/drawingml/2006/chart">
            <c:chart xmlns:c="http://schemas.openxmlformats.org/drawingml/2006/chart" r:id="rId3"/>
          </a:graphicData>
        </a:graphic>
      </p:graphicFrame>
      <p:sp>
        <p:nvSpPr>
          <p:cNvPr id="5" name="Stat value"/>
          <p:cNvSpPr txBox="1"/>
          <p:nvPr/>
        </p:nvSpPr>
        <p:spPr>
          <a:xfrm>
            <a:off x="5897880" y="1371600"/>
            <a:ext cx="2606040" cy="731520"/>
          </a:xfrm>
          <a:prstGeom prst="rect">
            <a:avLst/>
          </a:prstGeom>
          <a:noFill/>
        </p:spPr>
        <p:txBody>
          <a:bodyPr wrap="square" lIns="0" rIns="0" tIns="0" bIns="0" anchor="t">
            <a:spAutoFit/>
          </a:bodyPr>
          <a:lstStyle/>
          <a:p>
            <a:pPr algn="l"/>
            <a:r>
              <a:rPr sz="4000" b="1" i="0">
                <a:solidFill>
                  <a:srgbClr val="3FB1A0"/>
                </a:solidFill>
                <a:latin typeface="Open Sans"/>
              </a:rPr>
              <a:t>32.75</a:t>
            </a:r>
          </a:p>
        </p:txBody>
      </p:sp>
      <p:sp>
        <p:nvSpPr>
          <p:cNvPr id="6" name="Stat label"/>
          <p:cNvSpPr txBox="1"/>
          <p:nvPr/>
        </p:nvSpPr>
        <p:spPr>
          <a:xfrm>
            <a:off x="5897880" y="2103120"/>
            <a:ext cx="2606040" cy="274320"/>
          </a:xfrm>
          <a:prstGeom prst="rect">
            <a:avLst/>
          </a:prstGeom>
          <a:noFill/>
        </p:spPr>
        <p:txBody>
          <a:bodyPr wrap="square" lIns="0" rIns="0" tIns="0" bIns="0" anchor="t">
            <a:spAutoFit/>
          </a:bodyPr>
          <a:lstStyle/>
          <a:p>
            <a:pPr algn="l"/>
            <a:r>
              <a:rPr sz="1200" b="0" i="0">
                <a:solidFill>
                  <a:srgbClr val="3B3678"/>
                </a:solidFill>
                <a:latin typeface="Open Sans"/>
              </a:rPr>
              <a:t>man-days across 4 phases</a:t>
            </a:r>
          </a:p>
        </p:txBody>
      </p:sp>
      <p:sp>
        <p:nvSpPr>
          <p:cNvPr id="7" name="Callouts"/>
          <p:cNvSpPr txBox="1"/>
          <p:nvPr/>
        </p:nvSpPr>
        <p:spPr>
          <a:xfrm>
            <a:off x="5897880" y="2606040"/>
            <a:ext cx="2606040" cy="1828800"/>
          </a:xfrm>
          <a:prstGeom prst="rect">
            <a:avLst/>
          </a:prstGeom>
          <a:noFill/>
        </p:spPr>
        <p:txBody>
          <a:bodyPr wrap="square" lIns="0" rIns="0" tIns="0" bIns="0" anchor="t">
            <a:spAutoFit/>
          </a:bodyPr>
          <a:lstStyle/>
          <a:p>
            <a:pPr algn="l" marL="228600" indent="-228600">
              <a:spcAft>
                <a:spcPts val="800"/>
              </a:spcAft>
              <a:buFont typeface="Arial"/>
              <a:buChar char="•"/>
            </a:pPr>
            <a:r>
              <a:rPr sz="1200" b="0" i="0">
                <a:solidFill>
                  <a:srgbClr val="3B3678"/>
                </a:solidFill>
                <a:latin typeface="Open Sans"/>
              </a:rPr>
              <a:t>DPO Team carries 21 of 32.75.</a:t>
            </a:r>
          </a:p>
          <a:p>
            <a:pPr algn="l" marL="228600" indent="-228600">
              <a:spcAft>
                <a:spcPts val="800"/>
              </a:spcAft>
              <a:buFont typeface="Arial"/>
              <a:buChar char="•"/>
            </a:pPr>
            <a:r>
              <a:rPr sz="1200" b="0" i="0">
                <a:solidFill>
                  <a:srgbClr val="3B3678"/>
                </a:solidFill>
                <a:latin typeface="Open Sans"/>
              </a:rPr>
              <a:t>Peak load: Phase 1 and Phase 3, 10.5 each.</a:t>
            </a:r>
          </a:p>
          <a:p>
            <a:pPr algn="l" marL="228600" indent="-228600">
              <a:spcAft>
                <a:spcPts val="800"/>
              </a:spcAft>
              <a:buFont typeface="Arial"/>
              <a:buChar char="•"/>
            </a:pPr>
            <a:r>
              <a:rPr sz="1200" b="0" i="0">
                <a:solidFill>
                  <a:srgbClr val="3B3678"/>
                </a:solidFill>
                <a:latin typeface="Open Sans"/>
              </a:rPr>
              <a:t>Two staff hold DPO and IT roles: about 14.5 man-days each.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We Are Managing</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Each risk has one owner action.</a:t>
            </a:r>
          </a:p>
        </p:txBody>
      </p:sp>
      <p:sp>
        <p:nvSpPr>
          <p:cNvPr id="4" name="Column header"/>
          <p:cNvSpPr txBox="1"/>
          <p:nvPr/>
        </p:nvSpPr>
        <p:spPr>
          <a:xfrm>
            <a:off x="621792" y="1371600"/>
            <a:ext cx="2377440" cy="365760"/>
          </a:xfrm>
          <a:prstGeom prst="rect">
            <a:avLst/>
          </a:prstGeom>
          <a:noFill/>
        </p:spPr>
        <p:txBody>
          <a:bodyPr wrap="square" lIns="0" rIns="0" tIns="0" bIns="0" anchor="t">
            <a:spAutoFit/>
          </a:bodyPr>
          <a:lstStyle/>
          <a:p>
            <a:pPr algn="l"/>
            <a:r>
              <a:rPr sz="1800" b="1" i="0">
                <a:solidFill>
                  <a:srgbClr val="3B3678"/>
                </a:solidFill>
                <a:latin typeface="Open Sans"/>
              </a:rPr>
              <a:t>Legal turnaround</a:t>
            </a:r>
          </a:p>
        </p:txBody>
      </p:sp>
      <p:sp>
        <p:nvSpPr>
          <p:cNvPr id="5" name="Column body"/>
          <p:cNvSpPr txBox="1"/>
          <p:nvPr/>
        </p:nvSpPr>
        <p:spPr>
          <a:xfrm>
            <a:off x="621792" y="2011680"/>
            <a:ext cx="2377440" cy="2468880"/>
          </a:xfrm>
          <a:prstGeom prst="rect">
            <a:avLst/>
          </a:prstGeom>
          <a:noFill/>
        </p:spPr>
        <p:txBody>
          <a:bodyPr wrap="square" lIns="0" rIns="0" tIns="0" bIns="0" anchor="t">
            <a:spAutoFit/>
          </a:bodyPr>
          <a:lstStyle/>
          <a:p>
            <a:pPr algn="l" marL="228600" indent="-228600">
              <a:spcAft>
                <a:spcPts val="1000"/>
              </a:spcAft>
              <a:buFont typeface="Arial"/>
              <a:buChar char="•"/>
            </a:pPr>
            <a:r>
              <a:rPr sz="1300" b="0" i="0">
                <a:solidFill>
                  <a:srgbClr val="3B3678"/>
                </a:solidFill>
                <a:latin typeface="Open Sans"/>
              </a:rPr>
              <a:t>Items 15 and 17 depend on outside counsel (LTT &amp; Lawyers)</a:t>
            </a:r>
          </a:p>
          <a:p>
            <a:pPr algn="l" marL="228600" indent="-228600">
              <a:spcAft>
                <a:spcPts val="1000"/>
              </a:spcAft>
              <a:buFont typeface="Arial"/>
              <a:buChar char="•"/>
            </a:pPr>
            <a:r>
              <a:rPr sz="1300" b="0" i="0">
                <a:solidFill>
                  <a:srgbClr val="3B3678"/>
                </a:solidFill>
                <a:latin typeface="Open Sans"/>
              </a:rPr>
              <a:t>Signed agreement covers the Topicus dossier only</a:t>
            </a:r>
          </a:p>
          <a:p>
            <a:pPr algn="l" marL="228600" indent="-228600">
              <a:spcAft>
                <a:spcPts val="1000"/>
              </a:spcAft>
              <a:buFont typeface="Arial"/>
              <a:buChar char="•"/>
            </a:pPr>
            <a:r>
              <a:rPr sz="1300" b="1" i="0">
                <a:solidFill>
                  <a:srgbClr val="3B3678"/>
                </a:solidFill>
                <a:latin typeface="Open Sans"/>
              </a:rPr>
              <a:t>Needed: a new quote</a:t>
            </a:r>
          </a:p>
        </p:txBody>
      </p:sp>
      <p:cxnSp>
        <p:nvCxnSpPr>
          <p:cNvPr id="6" name="Connector 5"/>
          <p:cNvCxnSpPr/>
          <p:nvPr/>
        </p:nvCxnSpPr>
        <p:spPr>
          <a:xfrm>
            <a:off x="3136392" y="1371600"/>
            <a:ext cx="0" cy="3017520"/>
          </a:xfrm>
          <a:prstGeom prst="line">
            <a:avLst/>
          </a:prstGeom>
          <a:ln w="9525">
            <a:solidFill>
              <a:srgbClr val="A7A7A7"/>
            </a:solidFill>
          </a:ln>
        </p:spPr>
        <p:style>
          <a:lnRef idx="2">
            <a:schemeClr val="accent1"/>
          </a:lnRef>
          <a:fillRef idx="0">
            <a:schemeClr val="accent1"/>
          </a:fillRef>
          <a:effectRef idx="1">
            <a:schemeClr val="accent1"/>
          </a:effectRef>
          <a:fontRef idx="minor">
            <a:schemeClr val="tx1"/>
          </a:fontRef>
        </p:style>
      </p:cxnSp>
      <p:sp>
        <p:nvSpPr>
          <p:cNvPr id="7" name="Column header"/>
          <p:cNvSpPr txBox="1"/>
          <p:nvPr/>
        </p:nvSpPr>
        <p:spPr>
          <a:xfrm>
            <a:off x="3319272" y="1371600"/>
            <a:ext cx="2377440" cy="365760"/>
          </a:xfrm>
          <a:prstGeom prst="rect">
            <a:avLst/>
          </a:prstGeom>
          <a:noFill/>
        </p:spPr>
        <p:txBody>
          <a:bodyPr wrap="square" lIns="0" rIns="0" tIns="0" bIns="0" anchor="t">
            <a:spAutoFit/>
          </a:bodyPr>
          <a:lstStyle/>
          <a:p>
            <a:pPr algn="l"/>
            <a:r>
              <a:rPr sz="1800" b="1" i="0">
                <a:solidFill>
                  <a:srgbClr val="3B3678"/>
                </a:solidFill>
                <a:latin typeface="Open Sans"/>
              </a:rPr>
              <a:t>People</a:t>
            </a:r>
          </a:p>
        </p:txBody>
      </p:sp>
      <p:sp>
        <p:nvSpPr>
          <p:cNvPr id="8" name="Column body"/>
          <p:cNvSpPr txBox="1"/>
          <p:nvPr/>
        </p:nvSpPr>
        <p:spPr>
          <a:xfrm>
            <a:off x="3319272" y="2011680"/>
            <a:ext cx="2377440" cy="2468880"/>
          </a:xfrm>
          <a:prstGeom prst="rect">
            <a:avLst/>
          </a:prstGeom>
          <a:noFill/>
        </p:spPr>
        <p:txBody>
          <a:bodyPr wrap="square" lIns="0" rIns="0" tIns="0" bIns="0" anchor="t">
            <a:spAutoFit/>
          </a:bodyPr>
          <a:lstStyle/>
          <a:p>
            <a:pPr algn="l" marL="228600" indent="-228600">
              <a:spcAft>
                <a:spcPts val="1000"/>
              </a:spcAft>
              <a:buFont typeface="Arial"/>
              <a:buChar char="•"/>
            </a:pPr>
            <a:r>
              <a:rPr sz="1300" b="0" i="0">
                <a:solidFill>
                  <a:srgbClr val="3B3678"/>
                </a:solidFill>
                <a:latin typeface="Open Sans"/>
              </a:rPr>
              <a:t>Two staff hold both DPO and IT roles: about 14.5 man-days each</a:t>
            </a:r>
          </a:p>
          <a:p>
            <a:pPr algn="l" marL="228600" indent="-228600">
              <a:spcAft>
                <a:spcPts val="1000"/>
              </a:spcAft>
              <a:buFont typeface="Arial"/>
              <a:buChar char="•"/>
            </a:pPr>
            <a:r>
              <a:rPr sz="1300" b="0" i="0">
                <a:solidFill>
                  <a:srgbClr val="3B3678"/>
                </a:solidFill>
                <a:latin typeface="Open Sans"/>
              </a:rPr>
              <a:t>Some task owners still need GM confirmation</a:t>
            </a:r>
          </a:p>
          <a:p>
            <a:pPr algn="l" marL="228600" indent="-228600">
              <a:spcAft>
                <a:spcPts val="1000"/>
              </a:spcAft>
              <a:buFont typeface="Arial"/>
              <a:buChar char="•"/>
            </a:pPr>
            <a:r>
              <a:rPr sz="1300" b="1" i="0">
                <a:solidFill>
                  <a:srgbClr val="3B3678"/>
                </a:solidFill>
                <a:latin typeface="Open Sans"/>
              </a:rPr>
              <a:t>Needed: GM confirms owners</a:t>
            </a:r>
          </a:p>
        </p:txBody>
      </p:sp>
      <p:cxnSp>
        <p:nvCxnSpPr>
          <p:cNvPr id="9" name="Connector 8"/>
          <p:cNvCxnSpPr/>
          <p:nvPr/>
        </p:nvCxnSpPr>
        <p:spPr>
          <a:xfrm>
            <a:off x="5833872" y="1371600"/>
            <a:ext cx="0" cy="3017520"/>
          </a:xfrm>
          <a:prstGeom prst="line">
            <a:avLst/>
          </a:prstGeom>
          <a:ln w="9525">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olumn header"/>
          <p:cNvSpPr txBox="1"/>
          <p:nvPr/>
        </p:nvSpPr>
        <p:spPr>
          <a:xfrm>
            <a:off x="6016752" y="1371600"/>
            <a:ext cx="2377440" cy="365760"/>
          </a:xfrm>
          <a:prstGeom prst="rect">
            <a:avLst/>
          </a:prstGeom>
          <a:noFill/>
        </p:spPr>
        <p:txBody>
          <a:bodyPr wrap="square" lIns="0" rIns="0" tIns="0" bIns="0" anchor="t">
            <a:spAutoFit/>
          </a:bodyPr>
          <a:lstStyle/>
          <a:p>
            <a:pPr algn="l"/>
            <a:r>
              <a:rPr sz="1800" b="1" i="0">
                <a:solidFill>
                  <a:srgbClr val="3B3678"/>
                </a:solidFill>
                <a:latin typeface="Open Sans"/>
              </a:rPr>
              <a:t>Cost</a:t>
            </a:r>
          </a:p>
        </p:txBody>
      </p:sp>
      <p:sp>
        <p:nvSpPr>
          <p:cNvPr id="11" name="Column body"/>
          <p:cNvSpPr txBox="1"/>
          <p:nvPr/>
        </p:nvSpPr>
        <p:spPr>
          <a:xfrm>
            <a:off x="6016752" y="2011680"/>
            <a:ext cx="2377440" cy="2468880"/>
          </a:xfrm>
          <a:prstGeom prst="rect">
            <a:avLst/>
          </a:prstGeom>
          <a:noFill/>
        </p:spPr>
        <p:txBody>
          <a:bodyPr wrap="square" lIns="0" rIns="0" tIns="0" bIns="0" anchor="t">
            <a:spAutoFit/>
          </a:bodyPr>
          <a:lstStyle/>
          <a:p>
            <a:pPr algn="l" marL="228600" indent="-228600">
              <a:spcAft>
                <a:spcPts val="1000"/>
              </a:spcAft>
              <a:buFont typeface="Arial"/>
              <a:buChar char="•"/>
            </a:pPr>
            <a:r>
              <a:rPr sz="1300" b="0" i="0">
                <a:solidFill>
                  <a:srgbClr val="3B3678"/>
                </a:solidFill>
                <a:latin typeface="Open Sans"/>
              </a:rPr>
              <a:t>AI tool may be shared with the Einvoices project</a:t>
            </a:r>
          </a:p>
          <a:p>
            <a:pPr algn="l" marL="228600" indent="-228600">
              <a:spcAft>
                <a:spcPts val="1000"/>
              </a:spcAft>
              <a:buFont typeface="Arial"/>
              <a:buChar char="•"/>
            </a:pPr>
            <a:r>
              <a:rPr sz="1300" b="0" i="0">
                <a:solidFill>
                  <a:srgbClr val="3B3678"/>
                </a:solidFill>
                <a:latin typeface="Open Sans"/>
              </a:rPr>
              <a:t>Tax treatment is a planning assumption</a:t>
            </a:r>
          </a:p>
          <a:p>
            <a:pPr algn="l" marL="228600" indent="-228600">
              <a:spcAft>
                <a:spcPts val="1000"/>
              </a:spcAft>
              <a:buFont typeface="Arial"/>
              <a:buChar char="•"/>
            </a:pPr>
            <a:r>
              <a:rPr sz="1300" b="1" i="0">
                <a:solidFill>
                  <a:srgbClr val="3B3678"/>
                </a:solidFill>
                <a:latin typeface="Open Sans"/>
              </a:rPr>
              <a:t>Needed: Finance confirmation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Client Contracts: When a DPA Applies</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Scope: every client contract SGH Asia sells, where it acts as Data Processor (Law 91/2025/QH15).</a:t>
            </a:r>
          </a:p>
        </p:txBody>
      </p:sp>
      <p:sp>
        <p:nvSpPr>
          <p:cNvPr id="4" name="Card"/>
          <p:cNvSpPr/>
          <p:nvPr/>
        </p:nvSpPr>
        <p:spPr>
          <a:xfrm>
            <a:off x="621792" y="1371600"/>
            <a:ext cx="3703320" cy="1280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5" name="Pill"/>
          <p:cNvSpPr/>
          <p:nvPr/>
        </p:nvSpPr>
        <p:spPr>
          <a:xfrm>
            <a:off x="804672" y="1536192"/>
            <a:ext cx="1143000" cy="274320"/>
          </a:xfrm>
          <a:prstGeom prst="roundRect">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No DPA</a:t>
            </a:r>
          </a:p>
        </p:txBody>
      </p:sp>
      <p:sp>
        <p:nvSpPr>
          <p:cNvPr id="6" name="Card title"/>
          <p:cNvSpPr txBox="1"/>
          <p:nvPr/>
        </p:nvSpPr>
        <p:spPr>
          <a:xfrm>
            <a:off x="2029968" y="1536192"/>
            <a:ext cx="2240280" cy="274320"/>
          </a:xfrm>
          <a:prstGeom prst="rect">
            <a:avLst/>
          </a:prstGeom>
          <a:noFill/>
        </p:spPr>
        <p:txBody>
          <a:bodyPr wrap="square" lIns="0" rIns="0" tIns="0" bIns="0" anchor="ctr">
            <a:spAutoFit/>
          </a:bodyPr>
          <a:lstStyle/>
          <a:p>
            <a:pPr algn="l"/>
            <a:r>
              <a:rPr sz="1200" b="1" i="0">
                <a:solidFill>
                  <a:srgbClr val="3B3678"/>
                </a:solidFill>
                <a:latin typeface="Open Sans"/>
              </a:rPr>
              <a:t>Signatory &amp; team names</a:t>
            </a:r>
          </a:p>
        </p:txBody>
      </p:sp>
      <p:sp>
        <p:nvSpPr>
          <p:cNvPr id="7" name="Card body"/>
          <p:cNvSpPr txBox="1"/>
          <p:nvPr/>
        </p:nvSpPr>
        <p:spPr>
          <a:xfrm>
            <a:off x="804672" y="1938528"/>
            <a:ext cx="3337560" cy="640080"/>
          </a:xfrm>
          <a:prstGeom prst="rect">
            <a:avLst/>
          </a:prstGeom>
          <a:noFill/>
        </p:spPr>
        <p:txBody>
          <a:bodyPr wrap="square" lIns="0" rIns="0" tIns="0" bIns="0" anchor="t">
            <a:spAutoFit/>
          </a:bodyPr>
          <a:lstStyle/>
          <a:p>
            <a:pPr algn="l"/>
            <a:r>
              <a:rPr sz="1100" b="0" i="0">
                <a:solidFill>
                  <a:srgbClr val="3B3678"/>
                </a:solidFill>
                <a:latin typeface="Open Sans"/>
              </a:rPr>
              <a:t>Name, title, signature, email, phone: personal data, but used only to form the contract. </a:t>
            </a:r>
            <a:r>
              <a:rPr sz="1100" b="1" i="0">
                <a:solidFill>
                  <a:srgbClr val="3B3678"/>
                </a:solidFill>
                <a:latin typeface="Open Sans"/>
              </a:rPr>
              <a:t>Art. 19.1(d): no consent; Art. 37 not triggered.</a:t>
            </a:r>
          </a:p>
        </p:txBody>
      </p:sp>
      <p:sp>
        <p:nvSpPr>
          <p:cNvPr id="8" name="Card"/>
          <p:cNvSpPr/>
          <p:nvPr/>
        </p:nvSpPr>
        <p:spPr>
          <a:xfrm>
            <a:off x="621792" y="2788920"/>
            <a:ext cx="3703320" cy="13258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9" name="Pill"/>
          <p:cNvSpPr/>
          <p:nvPr/>
        </p:nvSpPr>
        <p:spPr>
          <a:xfrm>
            <a:off x="804672" y="2953512"/>
            <a:ext cx="1143000" cy="274320"/>
          </a:xfrm>
          <a:prstGeom prst="roundRect">
            <a:avLst/>
          </a:prstGeom>
          <a:solidFill>
            <a:srgbClr val="D9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DPA required</a:t>
            </a:r>
          </a:p>
        </p:txBody>
      </p:sp>
      <p:sp>
        <p:nvSpPr>
          <p:cNvPr id="10" name="Card title"/>
          <p:cNvSpPr txBox="1"/>
          <p:nvPr/>
        </p:nvSpPr>
        <p:spPr>
          <a:xfrm>
            <a:off x="2029968" y="2953512"/>
            <a:ext cx="2240280" cy="274320"/>
          </a:xfrm>
          <a:prstGeom prst="rect">
            <a:avLst/>
          </a:prstGeom>
          <a:noFill/>
        </p:spPr>
        <p:txBody>
          <a:bodyPr wrap="square" lIns="0" rIns="0" tIns="0" bIns="0" anchor="ctr">
            <a:spAutoFit/>
          </a:bodyPr>
          <a:lstStyle/>
          <a:p>
            <a:pPr algn="l"/>
            <a:r>
              <a:rPr sz="1200" b="1" i="0">
                <a:solidFill>
                  <a:srgbClr val="3B3678"/>
                </a:solidFill>
                <a:latin typeface="Open Sans"/>
              </a:rPr>
              <a:t>Data in client systems</a:t>
            </a:r>
          </a:p>
        </p:txBody>
      </p:sp>
      <p:sp>
        <p:nvSpPr>
          <p:cNvPr id="11" name="Card body"/>
          <p:cNvSpPr txBox="1"/>
          <p:nvPr/>
        </p:nvSpPr>
        <p:spPr>
          <a:xfrm>
            <a:off x="804672" y="3355848"/>
            <a:ext cx="3337560" cy="685800"/>
          </a:xfrm>
          <a:prstGeom prst="rect">
            <a:avLst/>
          </a:prstGeom>
          <a:noFill/>
        </p:spPr>
        <p:txBody>
          <a:bodyPr wrap="square" lIns="0" rIns="0" tIns="0" bIns="0" anchor="t">
            <a:spAutoFit/>
          </a:bodyPr>
          <a:lstStyle/>
          <a:p>
            <a:pPr algn="l"/>
            <a:r>
              <a:rPr sz="1100" b="0" i="0">
                <a:solidFill>
                  <a:srgbClr val="3B3678"/>
                </a:solidFill>
                <a:latin typeface="Open Sans"/>
              </a:rPr>
              <a:t>SGH Asia sees client data while delivering (HR, payroll, customers in Odoo). Agreement needed before access. </a:t>
            </a:r>
            <a:r>
              <a:rPr sz="1100" b="1" i="0">
                <a:solidFill>
                  <a:srgbClr val="3B3678"/>
                </a:solidFill>
                <a:latin typeface="Open Sans"/>
              </a:rPr>
              <a:t>Art. 2.8, 37.2(a).</a:t>
            </a:r>
          </a:p>
        </p:txBody>
      </p:sp>
      <p:sp>
        <p:nvSpPr>
          <p:cNvPr id="12" name="Checklist header"/>
          <p:cNvSpPr txBox="1"/>
          <p:nvPr/>
        </p:nvSpPr>
        <p:spPr>
          <a:xfrm>
            <a:off x="4572000" y="1371600"/>
            <a:ext cx="3931920" cy="274320"/>
          </a:xfrm>
          <a:prstGeom prst="rect">
            <a:avLst/>
          </a:prstGeom>
          <a:noFill/>
        </p:spPr>
        <p:txBody>
          <a:bodyPr wrap="square" lIns="0" rIns="0" tIns="0" bIns="0" anchor="t">
            <a:spAutoFit/>
          </a:bodyPr>
          <a:lstStyle/>
          <a:p>
            <a:pPr algn="l"/>
            <a:r>
              <a:rPr sz="1400" b="1" i="0">
                <a:solidFill>
                  <a:srgbClr val="3B3678"/>
                </a:solidFill>
                <a:latin typeface="Open Sans"/>
              </a:rPr>
              <a:t>DPA minimum content</a:t>
            </a:r>
          </a:p>
        </p:txBody>
      </p:sp>
      <p:sp>
        <p:nvSpPr>
          <p:cNvPr id="13" name="Checklist source"/>
          <p:cNvSpPr txBox="1"/>
          <p:nvPr/>
        </p:nvSpPr>
        <p:spPr>
          <a:xfrm>
            <a:off x="4572000" y="1645920"/>
            <a:ext cx="3931920" cy="201168"/>
          </a:xfrm>
          <a:prstGeom prst="rect">
            <a:avLst/>
          </a:prstGeom>
          <a:noFill/>
        </p:spPr>
        <p:txBody>
          <a:bodyPr wrap="square" lIns="0" rIns="0" tIns="0" bIns="0" anchor="t">
            <a:spAutoFit/>
          </a:bodyPr>
          <a:lstStyle/>
          <a:p>
            <a:pPr algn="l"/>
            <a:r>
              <a:rPr sz="1000" b="0" i="1">
                <a:solidFill>
                  <a:srgbClr val="3B3678"/>
                </a:solidFill>
                <a:latin typeface="Open Sans"/>
              </a:rPr>
              <a:t>Decree 356/2025/NĐ-CP, Art. 7</a:t>
            </a:r>
          </a:p>
        </p:txBody>
      </p:sp>
      <p:sp>
        <p:nvSpPr>
          <p:cNvPr id="14" name="Item mark"/>
          <p:cNvSpPr/>
          <p:nvPr/>
        </p:nvSpPr>
        <p:spPr>
          <a:xfrm>
            <a:off x="4572000" y="193852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1">
                <a:solidFill>
                  <a:srgbClr val="FFFFFF"/>
                </a:solidFill>
                <a:latin typeface="Open Sans"/>
              </a:rPr>
              <a:t>a</a:t>
            </a:r>
          </a:p>
        </p:txBody>
      </p:sp>
      <p:sp>
        <p:nvSpPr>
          <p:cNvPr id="15" name="Item text"/>
          <p:cNvSpPr txBox="1"/>
          <p:nvPr/>
        </p:nvSpPr>
        <p:spPr>
          <a:xfrm>
            <a:off x="4937760" y="193852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Purpose of access</a:t>
            </a:r>
          </a:p>
        </p:txBody>
      </p:sp>
      <p:sp>
        <p:nvSpPr>
          <p:cNvPr id="16" name="Item mark"/>
          <p:cNvSpPr/>
          <p:nvPr/>
        </p:nvSpPr>
        <p:spPr>
          <a:xfrm>
            <a:off x="4572000" y="225856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1">
                <a:solidFill>
                  <a:srgbClr val="FFFFFF"/>
                </a:solidFill>
                <a:latin typeface="Open Sans"/>
              </a:rPr>
              <a:t>b</a:t>
            </a:r>
          </a:p>
        </p:txBody>
      </p:sp>
      <p:sp>
        <p:nvSpPr>
          <p:cNvPr id="17" name="Item text"/>
          <p:cNvSpPr txBox="1"/>
          <p:nvPr/>
        </p:nvSpPr>
        <p:spPr>
          <a:xfrm>
            <a:off x="4937760" y="225856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Data types and data subjects</a:t>
            </a:r>
          </a:p>
        </p:txBody>
      </p:sp>
      <p:sp>
        <p:nvSpPr>
          <p:cNvPr id="18" name="Item mark"/>
          <p:cNvSpPr/>
          <p:nvPr/>
        </p:nvSpPr>
        <p:spPr>
          <a:xfrm>
            <a:off x="4572000" y="257860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1">
                <a:solidFill>
                  <a:srgbClr val="FFFFFF"/>
                </a:solidFill>
                <a:latin typeface="Open Sans"/>
              </a:rPr>
              <a:t>c</a:t>
            </a:r>
          </a:p>
        </p:txBody>
      </p:sp>
      <p:sp>
        <p:nvSpPr>
          <p:cNvPr id="19" name="Item text"/>
          <p:cNvSpPr txBox="1"/>
          <p:nvPr/>
        </p:nvSpPr>
        <p:spPr>
          <a:xfrm>
            <a:off x="4937760" y="257860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Processing period; delete after project</a:t>
            </a:r>
          </a:p>
        </p:txBody>
      </p:sp>
      <p:sp>
        <p:nvSpPr>
          <p:cNvPr id="20" name="Item mark"/>
          <p:cNvSpPr/>
          <p:nvPr/>
        </p:nvSpPr>
        <p:spPr>
          <a:xfrm>
            <a:off x="4572000" y="289864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1">
                <a:solidFill>
                  <a:srgbClr val="FFFFFF"/>
                </a:solidFill>
                <a:latin typeface="Open Sans"/>
              </a:rPr>
              <a:t>d</a:t>
            </a:r>
          </a:p>
        </p:txBody>
      </p:sp>
      <p:sp>
        <p:nvSpPr>
          <p:cNvPr id="21" name="Item text"/>
          <p:cNvSpPr txBox="1"/>
          <p:nvPr/>
        </p:nvSpPr>
        <p:spPr>
          <a:xfrm>
            <a:off x="4937760" y="289864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Legal basis</a:t>
            </a:r>
          </a:p>
        </p:txBody>
      </p:sp>
      <p:sp>
        <p:nvSpPr>
          <p:cNvPr id="22" name="Item mark"/>
          <p:cNvSpPr/>
          <p:nvPr/>
        </p:nvSpPr>
        <p:spPr>
          <a:xfrm>
            <a:off x="4572000" y="321868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1">
                <a:solidFill>
                  <a:srgbClr val="FFFFFF"/>
                </a:solidFill>
                <a:latin typeface="Open Sans"/>
              </a:rPr>
              <a:t>đ</a:t>
            </a:r>
          </a:p>
        </p:txBody>
      </p:sp>
      <p:sp>
        <p:nvSpPr>
          <p:cNvPr id="23" name="Item text"/>
          <p:cNvSpPr txBox="1"/>
          <p:nvPr/>
        </p:nvSpPr>
        <p:spPr>
          <a:xfrm>
            <a:off x="4937760" y="321868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Data protection duties</a:t>
            </a:r>
          </a:p>
        </p:txBody>
      </p:sp>
      <p:sp>
        <p:nvSpPr>
          <p:cNvPr id="24" name="Item mark"/>
          <p:cNvSpPr/>
          <p:nvPr/>
        </p:nvSpPr>
        <p:spPr>
          <a:xfrm>
            <a:off x="4572000" y="353872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1">
                <a:solidFill>
                  <a:srgbClr val="FFFFFF"/>
                </a:solidFill>
                <a:latin typeface="Open Sans"/>
              </a:rPr>
              <a:t>e</a:t>
            </a:r>
          </a:p>
        </p:txBody>
      </p:sp>
      <p:sp>
        <p:nvSpPr>
          <p:cNvPr id="25" name="Item text"/>
          <p:cNvSpPr txBox="1"/>
          <p:nvPr/>
        </p:nvSpPr>
        <p:spPr>
          <a:xfrm>
            <a:off x="4937760" y="353872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Data subject rights handling</a:t>
            </a:r>
          </a:p>
        </p:txBody>
      </p:sp>
      <p:sp>
        <p:nvSpPr>
          <p:cNvPr id="26" name="Item mark"/>
          <p:cNvSpPr/>
          <p:nvPr/>
        </p:nvSpPr>
        <p:spPr>
          <a:xfrm>
            <a:off x="4572000" y="385876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1">
                <a:solidFill>
                  <a:srgbClr val="FFFFFF"/>
                </a:solidFill>
                <a:latin typeface="Open Sans"/>
              </a:rPr>
              <a:t>g</a:t>
            </a:r>
          </a:p>
        </p:txBody>
      </p:sp>
      <p:sp>
        <p:nvSpPr>
          <p:cNvPr id="27" name="Item text"/>
          <p:cNvSpPr txBox="1"/>
          <p:nvPr/>
        </p:nvSpPr>
        <p:spPr>
          <a:xfrm>
            <a:off x="4937760" y="385876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Breach cooperation (72 h, Art. 23)</a:t>
            </a:r>
          </a:p>
        </p:txBody>
      </p:sp>
      <p:sp>
        <p:nvSpPr>
          <p:cNvPr id="28" name="Needs header"/>
          <p:cNvSpPr txBox="1"/>
          <p:nvPr/>
        </p:nvSpPr>
        <p:spPr>
          <a:xfrm>
            <a:off x="621792" y="4315968"/>
            <a:ext cx="1645920" cy="365760"/>
          </a:xfrm>
          <a:prstGeom prst="rect">
            <a:avLst/>
          </a:prstGeom>
          <a:noFill/>
        </p:spPr>
        <p:txBody>
          <a:bodyPr wrap="square" lIns="0" rIns="0" tIns="0" bIns="0" anchor="ctr">
            <a:spAutoFit/>
          </a:bodyPr>
          <a:lstStyle/>
          <a:p>
            <a:pPr algn="l"/>
            <a:r>
              <a:rPr sz="1300" b="1" i="0">
                <a:solidFill>
                  <a:srgbClr val="3B3678"/>
                </a:solidFill>
                <a:latin typeface="Open Sans"/>
              </a:rPr>
              <a:t>Next steps</a:t>
            </a:r>
          </a:p>
        </p:txBody>
      </p:sp>
      <p:sp>
        <p:nvSpPr>
          <p:cNvPr id="29" name="Need mark"/>
          <p:cNvSpPr/>
          <p:nvPr/>
        </p:nvSpPr>
        <p:spPr>
          <a:xfrm>
            <a:off x="2331720" y="4361688"/>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1</a:t>
            </a:r>
          </a:p>
        </p:txBody>
      </p:sp>
      <p:sp>
        <p:nvSpPr>
          <p:cNvPr id="30" name="Need text"/>
          <p:cNvSpPr txBox="1"/>
          <p:nvPr/>
        </p:nvSpPr>
        <p:spPr>
          <a:xfrm>
            <a:off x="2697479" y="4315968"/>
            <a:ext cx="1691640" cy="365760"/>
          </a:xfrm>
          <a:prstGeom prst="rect">
            <a:avLst/>
          </a:prstGeom>
          <a:noFill/>
        </p:spPr>
        <p:txBody>
          <a:bodyPr wrap="square" lIns="0" rIns="0" tIns="0" bIns="0" anchor="ctr">
            <a:spAutoFit/>
          </a:bodyPr>
          <a:lstStyle/>
          <a:p>
            <a:pPr algn="l"/>
            <a:r>
              <a:rPr sz="1100" b="0" i="0">
                <a:solidFill>
                  <a:srgbClr val="3B3678"/>
                </a:solidFill>
                <a:latin typeface="Open Sans"/>
              </a:rPr>
              <a:t>Review Odoo contract template</a:t>
            </a:r>
          </a:p>
        </p:txBody>
      </p:sp>
      <p:sp>
        <p:nvSpPr>
          <p:cNvPr id="31" name="Need mark"/>
          <p:cNvSpPr/>
          <p:nvPr/>
        </p:nvSpPr>
        <p:spPr>
          <a:xfrm>
            <a:off x="4434840" y="4361688"/>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2</a:t>
            </a:r>
          </a:p>
        </p:txBody>
      </p:sp>
      <p:sp>
        <p:nvSpPr>
          <p:cNvPr id="32" name="Need text"/>
          <p:cNvSpPr txBox="1"/>
          <p:nvPr/>
        </p:nvSpPr>
        <p:spPr>
          <a:xfrm>
            <a:off x="4800600" y="4315968"/>
            <a:ext cx="1691640" cy="365760"/>
          </a:xfrm>
          <a:prstGeom prst="rect">
            <a:avLst/>
          </a:prstGeom>
          <a:noFill/>
        </p:spPr>
        <p:txBody>
          <a:bodyPr wrap="square" lIns="0" rIns="0" tIns="0" bIns="0" anchor="ctr">
            <a:spAutoFit/>
          </a:bodyPr>
          <a:lstStyle/>
          <a:p>
            <a:pPr algn="l"/>
            <a:r>
              <a:rPr sz="1100" b="0" i="0">
                <a:solidFill>
                  <a:srgbClr val="3B3678"/>
                </a:solidFill>
                <a:latin typeface="Open Sans"/>
              </a:rPr>
              <a:t>Review ISO / AI advisory template</a:t>
            </a:r>
          </a:p>
        </p:txBody>
      </p:sp>
      <p:sp>
        <p:nvSpPr>
          <p:cNvPr id="33" name="Need mark"/>
          <p:cNvSpPr/>
          <p:nvPr/>
        </p:nvSpPr>
        <p:spPr>
          <a:xfrm>
            <a:off x="6537959" y="4361688"/>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Open Sans"/>
              </a:rPr>
              <a:t>3</a:t>
            </a:r>
          </a:p>
        </p:txBody>
      </p:sp>
      <p:sp>
        <p:nvSpPr>
          <p:cNvPr id="34" name="Need text"/>
          <p:cNvSpPr txBox="1"/>
          <p:nvPr/>
        </p:nvSpPr>
        <p:spPr>
          <a:xfrm>
            <a:off x="6903720" y="4315968"/>
            <a:ext cx="1691640" cy="365760"/>
          </a:xfrm>
          <a:prstGeom prst="rect">
            <a:avLst/>
          </a:prstGeom>
          <a:noFill/>
        </p:spPr>
        <p:txBody>
          <a:bodyPr wrap="square" lIns="0" rIns="0" tIns="0" bIns="0" anchor="ctr">
            <a:spAutoFit/>
          </a:bodyPr>
          <a:lstStyle/>
          <a:p>
            <a:pPr algn="l"/>
            <a:r>
              <a:rPr sz="1100" b="0" i="0">
                <a:solidFill>
                  <a:srgbClr val="3B3678"/>
                </a:solidFill>
                <a:latin typeface="Open Sans"/>
              </a:rPr>
              <a:t>Confirm live or test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Decisions Requested</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Three asks, then sign-off.</a:t>
            </a:r>
          </a:p>
        </p:txBody>
      </p:sp>
      <p:sp>
        <p:nvSpPr>
          <p:cNvPr id="4" name="Number"/>
          <p:cNvSpPr/>
          <p:nvPr/>
        </p:nvSpPr>
        <p:spPr>
          <a:xfrm>
            <a:off x="621792" y="1371600"/>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1</a:t>
            </a:r>
          </a:p>
        </p:txBody>
      </p:sp>
      <p:sp>
        <p:nvSpPr>
          <p:cNvPr id="5" name="Ask"/>
          <p:cNvSpPr txBox="1"/>
          <p:nvPr/>
        </p:nvSpPr>
        <p:spPr>
          <a:xfrm>
            <a:off x="1188720" y="1371600"/>
            <a:ext cx="7315200" cy="384048"/>
          </a:xfrm>
          <a:prstGeom prst="rect">
            <a:avLst/>
          </a:prstGeom>
          <a:noFill/>
        </p:spPr>
        <p:txBody>
          <a:bodyPr wrap="square" lIns="0" rIns="0" tIns="0" bIns="0" anchor="ctr">
            <a:spAutoFit/>
          </a:bodyPr>
          <a:lstStyle/>
          <a:p>
            <a:pPr algn="l"/>
            <a:r>
              <a:rPr sz="1500" b="0" i="0">
                <a:solidFill>
                  <a:srgbClr val="3B3678"/>
                </a:solidFill>
                <a:latin typeface="Open Sans"/>
              </a:rPr>
              <a:t>Approve Option A: start 05 Oct 2026, finish 03 Feb 2027</a:t>
            </a:r>
          </a:p>
        </p:txBody>
      </p:sp>
      <p:sp>
        <p:nvSpPr>
          <p:cNvPr id="6" name="Number"/>
          <p:cNvSpPr/>
          <p:nvPr/>
        </p:nvSpPr>
        <p:spPr>
          <a:xfrm>
            <a:off x="621792" y="1938528"/>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2</a:t>
            </a:r>
          </a:p>
        </p:txBody>
      </p:sp>
      <p:sp>
        <p:nvSpPr>
          <p:cNvPr id="7" name="Ask"/>
          <p:cNvSpPr txBox="1"/>
          <p:nvPr/>
        </p:nvSpPr>
        <p:spPr>
          <a:xfrm>
            <a:off x="1188720" y="1938528"/>
            <a:ext cx="7315200" cy="384048"/>
          </a:xfrm>
          <a:prstGeom prst="rect">
            <a:avLst/>
          </a:prstGeom>
          <a:noFill/>
        </p:spPr>
        <p:txBody>
          <a:bodyPr wrap="square" lIns="0" rIns="0" tIns="0" bIns="0" anchor="ctr">
            <a:spAutoFit/>
          </a:bodyPr>
          <a:lstStyle/>
          <a:p>
            <a:pPr algn="l"/>
            <a:r>
              <a:rPr sz="1500" b="0" i="0">
                <a:solidFill>
                  <a:srgbClr val="3B3678"/>
                </a:solidFill>
                <a:latin typeface="Open Sans"/>
              </a:rPr>
              <a:t>Approve the budget: about $440 cash for the AI tool</a:t>
            </a:r>
          </a:p>
        </p:txBody>
      </p:sp>
      <p:sp>
        <p:nvSpPr>
          <p:cNvPr id="8" name="Number"/>
          <p:cNvSpPr/>
          <p:nvPr/>
        </p:nvSpPr>
        <p:spPr>
          <a:xfrm>
            <a:off x="621792" y="2505456"/>
            <a:ext cx="384048" cy="384048"/>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Open Sans"/>
              </a:rPr>
              <a:t>3</a:t>
            </a:r>
          </a:p>
        </p:txBody>
      </p:sp>
      <p:sp>
        <p:nvSpPr>
          <p:cNvPr id="9" name="Ask"/>
          <p:cNvSpPr txBox="1"/>
          <p:nvPr/>
        </p:nvSpPr>
        <p:spPr>
          <a:xfrm>
            <a:off x="1188720" y="2505456"/>
            <a:ext cx="7315200" cy="384048"/>
          </a:xfrm>
          <a:prstGeom prst="rect">
            <a:avLst/>
          </a:prstGeom>
          <a:noFill/>
        </p:spPr>
        <p:txBody>
          <a:bodyPr wrap="square" lIns="0" rIns="0" tIns="0" bIns="0" anchor="ctr">
            <a:spAutoFit/>
          </a:bodyPr>
          <a:lstStyle/>
          <a:p>
            <a:pPr algn="l"/>
            <a:r>
              <a:rPr sz="1500" b="0" i="0">
                <a:solidFill>
                  <a:srgbClr val="3B3678"/>
                </a:solidFill>
                <a:latin typeface="Open Sans"/>
              </a:rPr>
              <a:t>Confirm the task owners flagged for GM confirmation</a:t>
            </a:r>
          </a:p>
        </p:txBody>
      </p:sp>
      <p:sp>
        <p:nvSpPr>
          <p:cNvPr id="10" name="Open items"/>
          <p:cNvSpPr txBox="1"/>
          <p:nvPr/>
        </p:nvSpPr>
        <p:spPr>
          <a:xfrm>
            <a:off x="621792" y="3154680"/>
            <a:ext cx="7863840" cy="274320"/>
          </a:xfrm>
          <a:prstGeom prst="rect">
            <a:avLst/>
          </a:prstGeom>
          <a:noFill/>
        </p:spPr>
        <p:txBody>
          <a:bodyPr wrap="square" lIns="0" rIns="0" tIns="0" bIns="0" anchor="t">
            <a:spAutoFit/>
          </a:bodyPr>
          <a:lstStyle/>
          <a:p>
            <a:pPr algn="l"/>
            <a:r>
              <a:rPr sz="1200" b="0" i="1">
                <a:solidFill>
                  <a:srgbClr val="3B3678"/>
                </a:solidFill>
                <a:latin typeface="Open Sans"/>
              </a:rPr>
              <a:t>Open items to track: LTT legal quote, Finance tax confirmation, Einvoices cost sharing.</a:t>
            </a:r>
          </a:p>
        </p:txBody>
      </p:sp>
      <p:sp>
        <p:nvSpPr>
          <p:cNvPr id="11" name="Sign card"/>
          <p:cNvSpPr/>
          <p:nvPr/>
        </p:nvSpPr>
        <p:spPr>
          <a:xfrm>
            <a:off x="621792" y="3611880"/>
            <a:ext cx="2514600" cy="10972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2" name="Sign role"/>
          <p:cNvSpPr txBox="1"/>
          <p:nvPr/>
        </p:nvSpPr>
        <p:spPr>
          <a:xfrm>
            <a:off x="804672" y="3721608"/>
            <a:ext cx="2148840" cy="201168"/>
          </a:xfrm>
          <a:prstGeom prst="rect">
            <a:avLst/>
          </a:prstGeom>
          <a:noFill/>
        </p:spPr>
        <p:txBody>
          <a:bodyPr wrap="square" lIns="0" rIns="0" tIns="0" bIns="0" anchor="t">
            <a:spAutoFit/>
          </a:bodyPr>
          <a:lstStyle/>
          <a:p>
            <a:pPr algn="l"/>
            <a:r>
              <a:rPr sz="1000" b="0" i="1">
                <a:solidFill>
                  <a:srgbClr val="6B6B6B"/>
                </a:solidFill>
                <a:latin typeface="Open Sans"/>
              </a:rPr>
              <a:t>Prepared by</a:t>
            </a:r>
          </a:p>
        </p:txBody>
      </p:sp>
      <p:sp>
        <p:nvSpPr>
          <p:cNvPr id="13" name="Sign name"/>
          <p:cNvSpPr txBox="1"/>
          <p:nvPr/>
        </p:nvSpPr>
        <p:spPr>
          <a:xfrm>
            <a:off x="804672" y="3950208"/>
            <a:ext cx="2148840" cy="256032"/>
          </a:xfrm>
          <a:prstGeom prst="rect">
            <a:avLst/>
          </a:prstGeom>
          <a:noFill/>
        </p:spPr>
        <p:txBody>
          <a:bodyPr wrap="square" lIns="0" rIns="0" tIns="0" bIns="0" anchor="t">
            <a:spAutoFit/>
          </a:bodyPr>
          <a:lstStyle/>
          <a:p>
            <a:pPr algn="l"/>
            <a:r>
              <a:rPr sz="1300" b="1" i="0">
                <a:solidFill>
                  <a:srgbClr val="3B3678"/>
                </a:solidFill>
                <a:latin typeface="Open Sans"/>
              </a:rPr>
              <a:t>Tran My Phuc</a:t>
            </a:r>
          </a:p>
        </p:txBody>
      </p:sp>
      <p:sp>
        <p:nvSpPr>
          <p:cNvPr id="14" name="Sign title"/>
          <p:cNvSpPr txBox="1"/>
          <p:nvPr/>
        </p:nvSpPr>
        <p:spPr>
          <a:xfrm>
            <a:off x="804672" y="4224528"/>
            <a:ext cx="2148840" cy="201168"/>
          </a:xfrm>
          <a:prstGeom prst="rect">
            <a:avLst/>
          </a:prstGeom>
          <a:noFill/>
        </p:spPr>
        <p:txBody>
          <a:bodyPr wrap="square" lIns="0" rIns="0" tIns="0" bIns="0" anchor="t">
            <a:spAutoFit/>
          </a:bodyPr>
          <a:lstStyle/>
          <a:p>
            <a:pPr algn="l"/>
            <a:r>
              <a:rPr sz="1000" b="0" i="0">
                <a:solidFill>
                  <a:srgbClr val="3B3678"/>
                </a:solidFill>
                <a:latin typeface="Open Sans"/>
              </a:rPr>
              <a:t>DPO / IT &amp; ISMS Manager</a:t>
            </a:r>
          </a:p>
        </p:txBody>
      </p:sp>
      <p:sp>
        <p:nvSpPr>
          <p:cNvPr id="15" name="Sign line"/>
          <p:cNvSpPr txBox="1"/>
          <p:nvPr/>
        </p:nvSpPr>
        <p:spPr>
          <a:xfrm>
            <a:off x="804672" y="4480560"/>
            <a:ext cx="2148840" cy="164592"/>
          </a:xfrm>
          <a:prstGeom prst="rect">
            <a:avLst/>
          </a:prstGeom>
          <a:noFill/>
        </p:spPr>
        <p:txBody>
          <a:bodyPr wrap="square" lIns="0" rIns="0" tIns="0" bIns="0" anchor="t">
            <a:spAutoFit/>
          </a:bodyPr>
          <a:lstStyle/>
          <a:p>
            <a:pPr algn="l"/>
            <a:r>
              <a:rPr sz="900" b="0" i="1">
                <a:solidFill>
                  <a:srgbClr val="6B6B6B"/>
                </a:solidFill>
                <a:latin typeface="Open Sans"/>
              </a:rPr>
              <a:t>Signature / date</a:t>
            </a:r>
          </a:p>
        </p:txBody>
      </p:sp>
      <p:sp>
        <p:nvSpPr>
          <p:cNvPr id="16" name="Sign card"/>
          <p:cNvSpPr/>
          <p:nvPr/>
        </p:nvSpPr>
        <p:spPr>
          <a:xfrm>
            <a:off x="3296412" y="3611880"/>
            <a:ext cx="2514600" cy="10972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17" name="Sign role"/>
          <p:cNvSpPr txBox="1"/>
          <p:nvPr/>
        </p:nvSpPr>
        <p:spPr>
          <a:xfrm>
            <a:off x="3479292" y="3721608"/>
            <a:ext cx="2148840" cy="201168"/>
          </a:xfrm>
          <a:prstGeom prst="rect">
            <a:avLst/>
          </a:prstGeom>
          <a:noFill/>
        </p:spPr>
        <p:txBody>
          <a:bodyPr wrap="square" lIns="0" rIns="0" tIns="0" bIns="0" anchor="t">
            <a:spAutoFit/>
          </a:bodyPr>
          <a:lstStyle/>
          <a:p>
            <a:pPr algn="l"/>
            <a:r>
              <a:rPr sz="1000" b="0" i="1">
                <a:solidFill>
                  <a:srgbClr val="6B6B6B"/>
                </a:solidFill>
                <a:latin typeface="Open Sans"/>
              </a:rPr>
              <a:t>Reviewed by</a:t>
            </a:r>
          </a:p>
        </p:txBody>
      </p:sp>
      <p:sp>
        <p:nvSpPr>
          <p:cNvPr id="18" name="Sign name"/>
          <p:cNvSpPr txBox="1"/>
          <p:nvPr/>
        </p:nvSpPr>
        <p:spPr>
          <a:xfrm>
            <a:off x="3479292" y="3950208"/>
            <a:ext cx="2148840" cy="256032"/>
          </a:xfrm>
          <a:prstGeom prst="rect">
            <a:avLst/>
          </a:prstGeom>
          <a:noFill/>
        </p:spPr>
        <p:txBody>
          <a:bodyPr wrap="square" lIns="0" rIns="0" tIns="0" bIns="0" anchor="t">
            <a:spAutoFit/>
          </a:bodyPr>
          <a:lstStyle/>
          <a:p>
            <a:pPr algn="l"/>
            <a:r>
              <a:rPr sz="1300" b="1" i="0">
                <a:solidFill>
                  <a:srgbClr val="3B3678"/>
                </a:solidFill>
                <a:latin typeface="Open Sans"/>
              </a:rPr>
              <a:t> </a:t>
            </a:r>
          </a:p>
        </p:txBody>
      </p:sp>
      <p:sp>
        <p:nvSpPr>
          <p:cNvPr id="19" name="Sign title"/>
          <p:cNvSpPr txBox="1"/>
          <p:nvPr/>
        </p:nvSpPr>
        <p:spPr>
          <a:xfrm>
            <a:off x="3479292" y="4224528"/>
            <a:ext cx="2148840" cy="201168"/>
          </a:xfrm>
          <a:prstGeom prst="rect">
            <a:avLst/>
          </a:prstGeom>
          <a:noFill/>
        </p:spPr>
        <p:txBody>
          <a:bodyPr wrap="square" lIns="0" rIns="0" tIns="0" bIns="0" anchor="t">
            <a:spAutoFit/>
          </a:bodyPr>
          <a:lstStyle/>
          <a:p>
            <a:pPr algn="l"/>
            <a:r>
              <a:rPr sz="1000" b="0" i="0">
                <a:solidFill>
                  <a:srgbClr val="3B3678"/>
                </a:solidFill>
                <a:latin typeface="Open Sans"/>
              </a:rPr>
              <a:t>To be completed</a:t>
            </a:r>
          </a:p>
        </p:txBody>
      </p:sp>
      <p:sp>
        <p:nvSpPr>
          <p:cNvPr id="20" name="Sign line"/>
          <p:cNvSpPr txBox="1"/>
          <p:nvPr/>
        </p:nvSpPr>
        <p:spPr>
          <a:xfrm>
            <a:off x="3479292" y="4480560"/>
            <a:ext cx="2148840" cy="164592"/>
          </a:xfrm>
          <a:prstGeom prst="rect">
            <a:avLst/>
          </a:prstGeom>
          <a:noFill/>
        </p:spPr>
        <p:txBody>
          <a:bodyPr wrap="square" lIns="0" rIns="0" tIns="0" bIns="0" anchor="t">
            <a:spAutoFit/>
          </a:bodyPr>
          <a:lstStyle/>
          <a:p>
            <a:pPr algn="l"/>
            <a:r>
              <a:rPr sz="900" b="0" i="1">
                <a:solidFill>
                  <a:srgbClr val="6B6B6B"/>
                </a:solidFill>
                <a:latin typeface="Open Sans"/>
              </a:rPr>
              <a:t>Signature / date</a:t>
            </a:r>
          </a:p>
        </p:txBody>
      </p:sp>
      <p:sp>
        <p:nvSpPr>
          <p:cNvPr id="21" name="Sign card"/>
          <p:cNvSpPr/>
          <p:nvPr/>
        </p:nvSpPr>
        <p:spPr>
          <a:xfrm>
            <a:off x="5971031" y="3611880"/>
            <a:ext cx="2514600" cy="10972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p>
        </p:txBody>
      </p:sp>
      <p:sp>
        <p:nvSpPr>
          <p:cNvPr id="22" name="Sign role"/>
          <p:cNvSpPr txBox="1"/>
          <p:nvPr/>
        </p:nvSpPr>
        <p:spPr>
          <a:xfrm>
            <a:off x="6153912" y="3721608"/>
            <a:ext cx="2148840" cy="201168"/>
          </a:xfrm>
          <a:prstGeom prst="rect">
            <a:avLst/>
          </a:prstGeom>
          <a:noFill/>
        </p:spPr>
        <p:txBody>
          <a:bodyPr wrap="square" lIns="0" rIns="0" tIns="0" bIns="0" anchor="t">
            <a:spAutoFit/>
          </a:bodyPr>
          <a:lstStyle/>
          <a:p>
            <a:pPr algn="l"/>
            <a:r>
              <a:rPr sz="1000" b="0" i="1">
                <a:solidFill>
                  <a:srgbClr val="6B6B6B"/>
                </a:solidFill>
                <a:latin typeface="Open Sans"/>
              </a:rPr>
              <a:t>Approved by</a:t>
            </a:r>
          </a:p>
        </p:txBody>
      </p:sp>
      <p:sp>
        <p:nvSpPr>
          <p:cNvPr id="23" name="Sign name"/>
          <p:cNvSpPr txBox="1"/>
          <p:nvPr/>
        </p:nvSpPr>
        <p:spPr>
          <a:xfrm>
            <a:off x="6153912" y="3950208"/>
            <a:ext cx="2148840" cy="256032"/>
          </a:xfrm>
          <a:prstGeom prst="rect">
            <a:avLst/>
          </a:prstGeom>
          <a:noFill/>
        </p:spPr>
        <p:txBody>
          <a:bodyPr wrap="square" lIns="0" rIns="0" tIns="0" bIns="0" anchor="t">
            <a:spAutoFit/>
          </a:bodyPr>
          <a:lstStyle/>
          <a:p>
            <a:pPr algn="l"/>
            <a:r>
              <a:rPr sz="1300" b="1" i="0">
                <a:solidFill>
                  <a:srgbClr val="3B3678"/>
                </a:solidFill>
                <a:latin typeface="Open Sans"/>
              </a:rPr>
              <a:t>Pavel Poskakukhin</a:t>
            </a:r>
          </a:p>
        </p:txBody>
      </p:sp>
      <p:sp>
        <p:nvSpPr>
          <p:cNvPr id="24" name="Sign title"/>
          <p:cNvSpPr txBox="1"/>
          <p:nvPr/>
        </p:nvSpPr>
        <p:spPr>
          <a:xfrm>
            <a:off x="6153912" y="4224528"/>
            <a:ext cx="2148840" cy="201168"/>
          </a:xfrm>
          <a:prstGeom prst="rect">
            <a:avLst/>
          </a:prstGeom>
          <a:noFill/>
        </p:spPr>
        <p:txBody>
          <a:bodyPr wrap="square" lIns="0" rIns="0" tIns="0" bIns="0" anchor="t">
            <a:spAutoFit/>
          </a:bodyPr>
          <a:lstStyle/>
          <a:p>
            <a:pPr algn="l"/>
            <a:r>
              <a:rPr sz="1000" b="0" i="0">
                <a:solidFill>
                  <a:srgbClr val="3B3678"/>
                </a:solidFill>
                <a:latin typeface="Open Sans"/>
              </a:rPr>
              <a:t>General Manager</a:t>
            </a:r>
          </a:p>
        </p:txBody>
      </p:sp>
      <p:sp>
        <p:nvSpPr>
          <p:cNvPr id="25" name="Sign line"/>
          <p:cNvSpPr txBox="1"/>
          <p:nvPr/>
        </p:nvSpPr>
        <p:spPr>
          <a:xfrm>
            <a:off x="6153912" y="4480560"/>
            <a:ext cx="2148840" cy="164592"/>
          </a:xfrm>
          <a:prstGeom prst="rect">
            <a:avLst/>
          </a:prstGeom>
          <a:noFill/>
        </p:spPr>
        <p:txBody>
          <a:bodyPr wrap="square" lIns="0" rIns="0" tIns="0" bIns="0" anchor="t">
            <a:spAutoFit/>
          </a:bodyPr>
          <a:lstStyle/>
          <a:p>
            <a:pPr algn="l"/>
            <a:r>
              <a:rPr sz="900" b="0" i="1">
                <a:solidFill>
                  <a:srgbClr val="6B6B6B"/>
                </a:solidFill>
                <a:latin typeface="Open Sans"/>
              </a:rPr>
              <a:t>Signature / date</a:t>
            </a:r>
          </a:p>
        </p:txBody>
      </p:sp>
    </p:spTree>
  </p:cSld>
  <p:clrMapOvr>
    <a:masterClrMapping/>
  </p:clrMapOvr>
</p:sld>
</file>

<file path=ppt/theme/theme1.xml><?xml version="1.0" encoding="utf-8"?>
<a:theme xmlns:a="http://schemas.openxmlformats.org/drawingml/2006/main" name="Office-Design [1785474042749]">
  <a:themeElements>
    <a:clrScheme name="Office-Design">
      <a:dk1>
        <a:srgbClr val="1D1E23"/>
      </a:dk1>
      <a:lt1>
        <a:srgbClr val="F3F3F3"/>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Design">
  <a:themeElements>
    <a:clrScheme name="Office-Design">
      <a:dk1>
        <a:srgbClr val="1D1E23"/>
      </a:dk1>
      <a:lt1>
        <a:srgbClr val="F3F3F3"/>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Design">
  <a:themeElements>
    <a:clrScheme name="Office-Design">
      <a:dk1>
        <a:srgbClr val="000000"/>
      </a:dk1>
      <a:lt1>
        <a:srgbClr val="FFFFFF"/>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4D64FE-7E0F-4DA4-BE29-48850A53A6A5}">
  <we:reference id="WA200010001" version="1.0.0.1" store="Omex" storeType="OMEX"/>
  <we:alternateReferences>
    <we:reference id="WA200010001" version="1.0.0.1" store="WA200010001" storeType="OMEX"/>
  </we:alternateReferences>
  <we:properties>
    <we:property name="claude.fileId" value="&quot;ee4aa688-273b-47ea-8fa0-72448550ebf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63139cc-e737-45a1-a6fa-7f795a019ca8" xsi:nil="true"/>
    <PersonorGroup xmlns="9c04146f-2111-426b-898f-cd95fe9ba01a">
      <UserInfo>
        <DisplayName/>
        <AccountId xsi:nil="true"/>
        <AccountType/>
      </UserInfo>
    </PersonorGroup>
    <lcf76f155ced4ddcb4097134ff3c332f xmlns="9c04146f-2111-426b-898f-cd95fe9ba0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ài liệu" ma:contentTypeID="0x0101007BBE3561B3C54741B60DE2B33D507E08" ma:contentTypeVersion="19" ma:contentTypeDescription="Tạo tài liệu mới." ma:contentTypeScope="" ma:versionID="795a078cf0f620a2a16b285326b79686">
  <xsd:schema xmlns:xsd="http://www.w3.org/2001/XMLSchema" xmlns:xs="http://www.w3.org/2001/XMLSchema" xmlns:p="http://schemas.microsoft.com/office/2006/metadata/properties" xmlns:ns2="663139cc-e737-45a1-a6fa-7f795a019ca8" xmlns:ns3="9c04146f-2111-426b-898f-cd95fe9ba01a" targetNamespace="http://schemas.microsoft.com/office/2006/metadata/properties" ma:root="true" ma:fieldsID="59601f184b926582e016404db0e52049" ns2:_="" ns3:_="">
    <xsd:import namespace="663139cc-e737-45a1-a6fa-7f795a019ca8"/>
    <xsd:import namespace="9c04146f-2111-426b-898f-cd95fe9ba01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3:PersonorGroup"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3139cc-e737-45a1-a6fa-7f795a019ca8" elementFormDefault="qualified">
    <xsd:import namespace="http://schemas.microsoft.com/office/2006/documentManagement/types"/>
    <xsd:import namespace="http://schemas.microsoft.com/office/infopath/2007/PartnerControls"/>
    <xsd:element name="SharedWithUsers" ma:index="8"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hia sẻ Có Chi tiết" ma:internalName="SharedWithDetails" ma:readOnly="true">
      <xsd:simpleType>
        <xsd:restriction base="dms:Note">
          <xsd:maxLength value="255"/>
        </xsd:restriction>
      </xsd:simpleType>
    </xsd:element>
    <xsd:element name="TaxCatchAll" ma:index="24" nillable="true" ma:displayName="Taxonomy Catch All Column" ma:hidden="true" ma:list="{5c7e9638-eed0-482f-9330-13bba9644b76}" ma:internalName="TaxCatchAll" ma:showField="CatchAllData" ma:web="663139cc-e737-45a1-a6fa-7f795a019ca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c04146f-2111-426b-898f-cd95fe9ba01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PersonorGroup" ma:index="20" nillable="true" ma:displayName="Person or Group" ma:format="Dropdown" ma:list="UserInfo" ma:SharePointGroup="0" ma:internalName="PersonorGroup">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Thẻ Hình ảnh" ma:readOnly="false" ma:fieldId="{5cf76f15-5ced-4ddc-b409-7134ff3c332f}" ma:taxonomyMulti="true" ma:sspId="e021e5a0-84a4-4b81-bf0e-ab9933ea469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713963-8E69-49D5-A9F6-179FAAC0DEC5}">
  <ds:schemaRefs>
    <ds:schemaRef ds:uri="663139cc-e737-45a1-a6fa-7f795a019ca8"/>
    <ds:schemaRef ds:uri="9c04146f-2111-426b-898f-cd95fe9ba0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8DF7108-AC4E-43E5-85F3-8FDCD959D4CD}">
  <ds:schemaRefs>
    <ds:schemaRef ds:uri="http://schemas.microsoft.com/sharepoint/v3/contenttype/forms"/>
  </ds:schemaRefs>
</ds:datastoreItem>
</file>

<file path=customXml/itemProps3.xml><?xml version="1.0" encoding="utf-8"?>
<ds:datastoreItem xmlns:ds="http://schemas.openxmlformats.org/officeDocument/2006/customXml" ds:itemID="{742DC39A-247C-40C3-AF46-76B4784CFA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3139cc-e737-45a1-a6fa-7f795a019ca8"/>
    <ds:schemaRef ds:uri="9c04146f-2111-426b-898f-cd95fe9ba0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1451</TotalTime>
  <Words>839</Words>
  <Application>Microsoft Office PowerPoint</Application>
  <PresentationFormat>On-screen Show (16:9)</PresentationFormat>
  <Paragraphs>130</Paragraphs>
  <Slides>14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Calibri</vt:lpstr>
      <vt:lpstr>Century Gothic</vt:lpstr>
      <vt:lpstr>CooperHewitt-Light</vt:lpstr>
      <vt:lpstr>Montserrat Thin Regular</vt:lpstr>
      <vt:lpstr>Open Sans</vt:lpstr>
      <vt:lpstr>PT Sans</vt:lpstr>
      <vt:lpstr>Office-Design [1785474042749]</vt:lpstr>
      <vt:lpstr>Office-Design</vt:lpstr>
      <vt:lpstr>PowerPoint Presentation</vt:lpstr>
      <vt:lpstr>PowerPoint Presentation</vt:lpstr>
      <vt:lpstr>PowerPoint Presentation</vt:lpstr>
      <vt:lpstr>How It Came to Be</vt:lpstr>
      <vt:lpstr>The Numbers Behind the Speed</vt:lpstr>
      <vt:lpstr>PowerPoint Presentation</vt:lpstr>
      <vt:lpstr>AI as a Digital Partner — the Working Rhythm</vt:lpstr>
      <vt:lpstr>Same Discipline, Smaller Team</vt:lpstr>
      <vt:lpstr>Case Example: 26-29 July</vt:lpstr>
      <vt:lpstr>PowerPoint Presentation</vt:lpstr>
      <vt:lpstr>Where to Look, How to Read It</vt:lpstr>
      <vt:lpstr>How This Aligns With the Three Pillars</vt:lpstr>
      <vt:lpstr>PowerPoint Presentation</vt:lpstr>
      <vt:lpstr>Status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Tỉnh Xỉn</dc:creator>
  <cp:lastModifiedBy>Phuc Tran</cp:lastModifiedBy>
  <cp:revision>26</cp:revision>
  <dcterms:modified xsi:type="dcterms:W3CDTF">2026-07-31T07:20:48Z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0x0101007BBE3561B3C54741B60DE2B33D507E08</vt:lpwstr>
  </property>
  <property fmtid="{D5CDD505-2E9C-101B-9397-08002B2CF9AE}" pid="3" name="MediaServiceImageTags">
    <vt:lpwstr/>
  </property>
</Properties>
</file>